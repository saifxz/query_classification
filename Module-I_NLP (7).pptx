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72" r:id="rId4"/>
    <p:sldId id="329" r:id="rId5"/>
    <p:sldId id="330" r:id="rId6"/>
    <p:sldId id="296" r:id="rId7"/>
    <p:sldId id="294" r:id="rId8"/>
    <p:sldId id="273" r:id="rId9"/>
    <p:sldId id="297" r:id="rId10"/>
    <p:sldId id="298" r:id="rId11"/>
    <p:sldId id="299" r:id="rId12"/>
    <p:sldId id="300" r:id="rId13"/>
    <p:sldId id="301" r:id="rId14"/>
    <p:sldId id="278" r:id="rId15"/>
    <p:sldId id="277" r:id="rId16"/>
    <p:sldId id="270" r:id="rId17"/>
    <p:sldId id="257" r:id="rId18"/>
    <p:sldId id="302" r:id="rId19"/>
    <p:sldId id="303" r:id="rId20"/>
    <p:sldId id="271" r:id="rId21"/>
    <p:sldId id="304" r:id="rId22"/>
    <p:sldId id="305" r:id="rId23"/>
    <p:sldId id="306" r:id="rId24"/>
    <p:sldId id="307" r:id="rId25"/>
    <p:sldId id="308" r:id="rId26"/>
    <p:sldId id="309" r:id="rId27"/>
    <p:sldId id="310" r:id="rId28"/>
    <p:sldId id="265" r:id="rId29"/>
    <p:sldId id="311" r:id="rId30"/>
    <p:sldId id="312" r:id="rId31"/>
    <p:sldId id="313" r:id="rId32"/>
    <p:sldId id="266" r:id="rId33"/>
    <p:sldId id="314" r:id="rId34"/>
    <p:sldId id="284" r:id="rId35"/>
    <p:sldId id="316" r:id="rId36"/>
    <p:sldId id="317" r:id="rId37"/>
    <p:sldId id="318" r:id="rId38"/>
    <p:sldId id="319" r:id="rId39"/>
    <p:sldId id="320" r:id="rId40"/>
    <p:sldId id="321" r:id="rId41"/>
    <p:sldId id="322" r:id="rId42"/>
    <p:sldId id="323" r:id="rId43"/>
    <p:sldId id="325" r:id="rId44"/>
    <p:sldId id="324" r:id="rId45"/>
    <p:sldId id="326" r:id="rId46"/>
    <p:sldId id="327" r:id="rId47"/>
    <p:sldId id="328" r:id="rId48"/>
    <p:sldId id="331" r:id="rId49"/>
    <p:sldId id="332" r:id="rId50"/>
    <p:sldId id="333" r:id="rId51"/>
    <p:sldId id="334" r:id="rId52"/>
    <p:sldId id="335" r:id="rId53"/>
    <p:sldId id="336" r:id="rId54"/>
    <p:sldId id="337" r:id="rId55"/>
    <p:sldId id="338" r:id="rId56"/>
    <p:sldId id="339" r:id="rId57"/>
    <p:sldId id="341" r:id="rId58"/>
    <p:sldId id="340" r:id="rId59"/>
    <p:sldId id="356" r:id="rId60"/>
    <p:sldId id="347" r:id="rId61"/>
    <p:sldId id="345" r:id="rId62"/>
    <p:sldId id="346" r:id="rId63"/>
    <p:sldId id="348" r:id="rId64"/>
    <p:sldId id="357" r:id="rId65"/>
    <p:sldId id="349" r:id="rId66"/>
    <p:sldId id="350" r:id="rId67"/>
    <p:sldId id="358" r:id="rId68"/>
    <p:sldId id="351" r:id="rId69"/>
    <p:sldId id="359" r:id="rId70"/>
    <p:sldId id="352" r:id="rId71"/>
    <p:sldId id="354" r:id="rId72"/>
    <p:sldId id="353" r:id="rId73"/>
    <p:sldId id="355"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61C13-A377-90A3-2320-89F7C8D713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60DF62-6CB4-4597-4E9F-221DE662F3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6DFFFC-1750-42E8-00FA-52A6288F1058}"/>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5" name="Footer Placeholder 4">
            <a:extLst>
              <a:ext uri="{FF2B5EF4-FFF2-40B4-BE49-F238E27FC236}">
                <a16:creationId xmlns:a16="http://schemas.microsoft.com/office/drawing/2014/main" id="{C1176720-F6CF-2572-6CD0-300C46D9AA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DF0A3D-FB93-647B-075A-A4C1A78DFC92}"/>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728607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AB703-F1D4-A8E4-FDF4-37D555D6CB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F38F12-43C3-9BA5-D2C6-6F1EC63079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2F34A1-88BE-1E99-B455-D52275DA66D4}"/>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5" name="Footer Placeholder 4">
            <a:extLst>
              <a:ext uri="{FF2B5EF4-FFF2-40B4-BE49-F238E27FC236}">
                <a16:creationId xmlns:a16="http://schemas.microsoft.com/office/drawing/2014/main" id="{F1AE74CC-A04F-FC7C-D397-112AB6D48C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E7F712-5563-E09C-86D7-04FE5F25951B}"/>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4114939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E5595-D2A9-2D7E-6C7E-B21DDCB0F6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5ECD6E-49A9-FA05-C980-B287EF6F08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A0A6F5-3C21-E368-DD72-BD750AA9883E}"/>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5" name="Footer Placeholder 4">
            <a:extLst>
              <a:ext uri="{FF2B5EF4-FFF2-40B4-BE49-F238E27FC236}">
                <a16:creationId xmlns:a16="http://schemas.microsoft.com/office/drawing/2014/main" id="{6EFB8511-3560-AE5B-9566-74A177826C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110B44-CA15-FAC5-45E7-B77A944BE402}"/>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4074229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68916-EAE6-3162-79D9-702CC7B27D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06562D-865E-07B2-A0EC-289ECADFB0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E87C1C-F42A-F851-BC6E-CC3125F1E8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B46CCDC-4EBD-AEF0-CD5F-E8EEC2106861}"/>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6" name="Footer Placeholder 5">
            <a:extLst>
              <a:ext uri="{FF2B5EF4-FFF2-40B4-BE49-F238E27FC236}">
                <a16:creationId xmlns:a16="http://schemas.microsoft.com/office/drawing/2014/main" id="{65E4FF33-559E-9BD7-D6CA-71ACA8A43E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3F0B83-1EB0-179A-AC82-BF8DE5C7E353}"/>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119547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04546-10AD-1EF4-4211-59CF6CA381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135495-E359-C657-1F42-80B34D15EC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95DBF4-5FE8-7794-F855-6D9BED101C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1BCC986-F371-FC72-3867-09D19B4858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3034DD-B961-4BDA-9D2A-AA8485C065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7D9BEA-5DEB-F8C9-4F24-2F10E1A1099C}"/>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8" name="Footer Placeholder 7">
            <a:extLst>
              <a:ext uri="{FF2B5EF4-FFF2-40B4-BE49-F238E27FC236}">
                <a16:creationId xmlns:a16="http://schemas.microsoft.com/office/drawing/2014/main" id="{6D6A89F1-D900-94E7-4A95-070DCD8322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212CFF-251E-64A5-E494-07F7FAA7AFDE}"/>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3426501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B672-4947-E6CB-771F-87D43F4E02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7727E6-9CEF-074A-8F70-08BBA05FEA4C}"/>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4" name="Footer Placeholder 3">
            <a:extLst>
              <a:ext uri="{FF2B5EF4-FFF2-40B4-BE49-F238E27FC236}">
                <a16:creationId xmlns:a16="http://schemas.microsoft.com/office/drawing/2014/main" id="{CA0F9EAC-8FCA-CD60-9915-006393013C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7746DC-88C0-C311-1C30-9754D4CBEF04}"/>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402279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58DF2D-4965-A5BD-8157-6D76020A7B78}"/>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3" name="Footer Placeholder 2">
            <a:extLst>
              <a:ext uri="{FF2B5EF4-FFF2-40B4-BE49-F238E27FC236}">
                <a16:creationId xmlns:a16="http://schemas.microsoft.com/office/drawing/2014/main" id="{B8F170E6-D37C-9454-95BD-8B0535B9F6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8523D4-02F6-FD06-19F1-45A6CF6DD60A}"/>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73099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94CDD-0E58-B2EA-F668-59B9D6D8B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391441-2027-2E9E-7B8B-E7D46E6374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2834F1-B22C-EDF9-2DC6-9B033A168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625A7A-B1D2-193F-8672-992E6BBE16F5}"/>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6" name="Footer Placeholder 5">
            <a:extLst>
              <a:ext uri="{FF2B5EF4-FFF2-40B4-BE49-F238E27FC236}">
                <a16:creationId xmlns:a16="http://schemas.microsoft.com/office/drawing/2014/main" id="{3E7CE40D-4817-CC1E-CFAB-4C40DD4F5C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9C6CAE-9365-6569-93C8-C51F09A3C7C9}"/>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3602905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14BC1-4B65-7557-125F-6EB7DF112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7FB169-699C-6C6C-4B77-E2E0345C87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F08F7C-7A61-24F9-DC15-D924D47DAE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C56458-5489-D750-C4DD-3CA2D25818DC}"/>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6" name="Footer Placeholder 5">
            <a:extLst>
              <a:ext uri="{FF2B5EF4-FFF2-40B4-BE49-F238E27FC236}">
                <a16:creationId xmlns:a16="http://schemas.microsoft.com/office/drawing/2014/main" id="{2059B430-4ED2-6815-618A-EAF8F573F9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25B04A-B936-A2C1-88FD-3FC6730111F9}"/>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218910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F52F-34F7-1F1C-C41E-4737461752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DE473B-AB97-35A8-C0FF-92FE522D0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F46299-6196-0005-85BD-3B68908DDDFA}"/>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5" name="Footer Placeholder 4">
            <a:extLst>
              <a:ext uri="{FF2B5EF4-FFF2-40B4-BE49-F238E27FC236}">
                <a16:creationId xmlns:a16="http://schemas.microsoft.com/office/drawing/2014/main" id="{53187DDF-87E6-435A-1ED8-D32A1C254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F85A8-FFE8-40A4-318F-1DDA0ACC6984}"/>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3315958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898490-DDA0-7E9E-9B9C-4DCAF51728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035E27-FAD3-CD61-4FDA-BF783AA1BD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5BB6CA-5FEF-05EF-C31C-7DE05A2732E1}"/>
              </a:ext>
            </a:extLst>
          </p:cNvPr>
          <p:cNvSpPr>
            <a:spLocks noGrp="1"/>
          </p:cNvSpPr>
          <p:nvPr>
            <p:ph type="dt" sz="half" idx="10"/>
          </p:nvPr>
        </p:nvSpPr>
        <p:spPr/>
        <p:txBody>
          <a:bodyPr/>
          <a:lstStyle/>
          <a:p>
            <a:fld id="{A0340BFE-B4C4-458C-A7C6-031E64A1B324}" type="datetimeFigureOut">
              <a:rPr lang="en-IN" smtClean="0"/>
              <a:t>10-01-2025</a:t>
            </a:fld>
            <a:endParaRPr lang="en-IN"/>
          </a:p>
        </p:txBody>
      </p:sp>
      <p:sp>
        <p:nvSpPr>
          <p:cNvPr id="5" name="Footer Placeholder 4">
            <a:extLst>
              <a:ext uri="{FF2B5EF4-FFF2-40B4-BE49-F238E27FC236}">
                <a16:creationId xmlns:a16="http://schemas.microsoft.com/office/drawing/2014/main" id="{1A1F9093-DB82-E983-BF02-6D17C2BF71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391139-25AF-BD87-437D-2AF5B5F21404}"/>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304778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EC3384-FE94-CD32-A8BE-FCBFE740C1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9DF1FC-3122-6281-3DBB-AE92722FF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F1A4F3-E196-EC18-C160-8276845E7D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340BFE-B4C4-458C-A7C6-031E64A1B324}" type="datetimeFigureOut">
              <a:rPr lang="en-IN" smtClean="0"/>
              <a:t>10-01-2025</a:t>
            </a:fld>
            <a:endParaRPr lang="en-IN"/>
          </a:p>
        </p:txBody>
      </p:sp>
      <p:sp>
        <p:nvSpPr>
          <p:cNvPr id="5" name="Footer Placeholder 4">
            <a:extLst>
              <a:ext uri="{FF2B5EF4-FFF2-40B4-BE49-F238E27FC236}">
                <a16:creationId xmlns:a16="http://schemas.microsoft.com/office/drawing/2014/main" id="{D8D51301-DC83-8F81-D599-BA47BD627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23CC46-B7C6-8A0A-6DD6-0750756021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CE6355-6259-49ED-BF33-CC1693BD3D6D}" type="slidenum">
              <a:rPr lang="en-IN" smtClean="0"/>
              <a:t>‹#›</a:t>
            </a:fld>
            <a:endParaRPr lang="en-IN"/>
          </a:p>
        </p:txBody>
      </p:sp>
    </p:spTree>
    <p:extLst>
      <p:ext uri="{BB962C8B-B14F-4D97-AF65-F5344CB8AC3E}">
        <p14:creationId xmlns:p14="http://schemas.microsoft.com/office/powerpoint/2010/main" val="1249532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jfif"/><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5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6088-E049-0AA3-7185-56A40D98D105}"/>
              </a:ext>
            </a:extLst>
          </p:cNvPr>
          <p:cNvSpPr>
            <a:spLocks noGrp="1"/>
          </p:cNvSpPr>
          <p:nvPr>
            <p:ph type="ctrTitle"/>
          </p:nvPr>
        </p:nvSpPr>
        <p:spPr>
          <a:xfrm>
            <a:off x="1524000" y="680720"/>
            <a:ext cx="9144000" cy="2829243"/>
          </a:xfrm>
        </p:spPr>
        <p:txBody>
          <a:bodyPr>
            <a:normAutofit fontScale="90000"/>
          </a:bodyPr>
          <a:lstStyle/>
          <a:p>
            <a:r>
              <a:rPr lang="en-IN" sz="4400" b="1" dirty="0">
                <a:solidFill>
                  <a:srgbClr val="000000"/>
                </a:solidFill>
                <a:effectLst/>
                <a:latin typeface="Times New Roman" panose="02020603050405020304" pitchFamily="18" charset="0"/>
                <a:ea typeface="Calibri" panose="020F0502020204030204" pitchFamily="34" charset="0"/>
              </a:rPr>
              <a:t>Natural Language Processing</a:t>
            </a:r>
            <a:br>
              <a:rPr lang="en-IN" sz="4400" b="1" dirty="0">
                <a:solidFill>
                  <a:srgbClr val="000000"/>
                </a:solidFill>
                <a:effectLst/>
                <a:latin typeface="Times New Roman" panose="02020603050405020304" pitchFamily="18" charset="0"/>
                <a:ea typeface="Calibri" panose="020F0502020204030204" pitchFamily="34" charset="0"/>
              </a:rPr>
            </a:br>
            <a:r>
              <a:rPr lang="en-IN" sz="4400" b="1" dirty="0">
                <a:solidFill>
                  <a:srgbClr val="000000"/>
                </a:solidFill>
                <a:effectLst/>
                <a:latin typeface="Times New Roman" panose="02020603050405020304" pitchFamily="18" charset="0"/>
                <a:ea typeface="Calibri" panose="020F0502020204030204" pitchFamily="34" charset="0"/>
              </a:rPr>
              <a:t>Course code: CSE3015</a:t>
            </a:r>
            <a:br>
              <a:rPr lang="en-IN" sz="4400" b="1" dirty="0">
                <a:solidFill>
                  <a:srgbClr val="000000"/>
                </a:solidFill>
                <a:effectLst/>
                <a:latin typeface="Times New Roman" panose="02020603050405020304" pitchFamily="18" charset="0"/>
                <a:ea typeface="Calibri" panose="020F0502020204030204" pitchFamily="34" charset="0"/>
              </a:rPr>
            </a:br>
            <a:br>
              <a:rPr lang="en-IN" sz="4400" b="1" dirty="0">
                <a:solidFill>
                  <a:srgbClr val="000000"/>
                </a:solidFill>
                <a:effectLst/>
                <a:latin typeface="Times New Roman" panose="02020603050405020304" pitchFamily="18" charset="0"/>
                <a:ea typeface="Calibri" panose="020F0502020204030204" pitchFamily="34" charset="0"/>
              </a:rPr>
            </a:br>
            <a:r>
              <a:rPr lang="en-IN" sz="4400" b="1" dirty="0">
                <a:solidFill>
                  <a:srgbClr val="000000"/>
                </a:solidFill>
                <a:effectLst/>
                <a:latin typeface="Times New Roman" panose="02020603050405020304" pitchFamily="18" charset="0"/>
                <a:ea typeface="Calibri" panose="020F0502020204030204" pitchFamily="34" charset="0"/>
              </a:rPr>
              <a:t>Module 1</a:t>
            </a:r>
            <a:br>
              <a:rPr lang="en-IN" sz="4400" b="1" dirty="0">
                <a:solidFill>
                  <a:srgbClr val="000000"/>
                </a:solidFill>
                <a:effectLst/>
                <a:latin typeface="Times New Roman" panose="02020603050405020304" pitchFamily="18" charset="0"/>
                <a:ea typeface="Calibri" panose="020F0502020204030204" pitchFamily="34" charset="0"/>
              </a:rPr>
            </a:br>
            <a:r>
              <a:rPr lang="en-IN" sz="4400" b="1" dirty="0">
                <a:effectLst/>
                <a:latin typeface="Times New Roman" panose="02020603050405020304" pitchFamily="18" charset="0"/>
                <a:ea typeface="Calibri" panose="020F0502020204030204" pitchFamily="34" charset="0"/>
              </a:rPr>
              <a:t>Introduction to NLP </a:t>
            </a:r>
            <a:endParaRPr lang="en-IN" sz="4400" dirty="0"/>
          </a:p>
        </p:txBody>
      </p:sp>
      <p:sp>
        <p:nvSpPr>
          <p:cNvPr id="3" name="Subtitle 2">
            <a:extLst>
              <a:ext uri="{FF2B5EF4-FFF2-40B4-BE49-F238E27FC236}">
                <a16:creationId xmlns:a16="http://schemas.microsoft.com/office/drawing/2014/main" id="{F9155CBB-E2D6-145E-4CAB-EDA263B81B3C}"/>
              </a:ext>
            </a:extLst>
          </p:cNvPr>
          <p:cNvSpPr>
            <a:spLocks noGrp="1"/>
          </p:cNvSpPr>
          <p:nvPr>
            <p:ph type="subTitle" idx="1"/>
          </p:nvPr>
        </p:nvSpPr>
        <p:spPr>
          <a:xfrm>
            <a:off x="5577840" y="4521518"/>
            <a:ext cx="6492240" cy="1655762"/>
          </a:xfrm>
        </p:spPr>
        <p:txBody>
          <a:bodyPr>
            <a:normAutofit/>
          </a:bodyPr>
          <a:lstStyle/>
          <a:p>
            <a:r>
              <a:rPr lang="en-IN" b="1" dirty="0"/>
              <a:t>Prepared by</a:t>
            </a:r>
          </a:p>
          <a:p>
            <a:r>
              <a:rPr lang="en-IN" b="1" dirty="0"/>
              <a:t>Dr.  Venkata Rami Reddy Ch</a:t>
            </a:r>
          </a:p>
          <a:p>
            <a:r>
              <a:rPr lang="en-IN" b="1" dirty="0"/>
              <a:t>SCOPE</a:t>
            </a:r>
          </a:p>
        </p:txBody>
      </p:sp>
    </p:spTree>
    <p:extLst>
      <p:ext uri="{BB962C8B-B14F-4D97-AF65-F5344CB8AC3E}">
        <p14:creationId xmlns:p14="http://schemas.microsoft.com/office/powerpoint/2010/main" val="3253524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28243-2929-F3A7-ED86-669632DF1932}"/>
              </a:ext>
            </a:extLst>
          </p:cNvPr>
          <p:cNvSpPr>
            <a:spLocks noGrp="1"/>
          </p:cNvSpPr>
          <p:nvPr>
            <p:ph type="title"/>
          </p:nvPr>
        </p:nvSpPr>
        <p:spPr/>
        <p:txBody>
          <a:bodyPr/>
          <a:lstStyle/>
          <a:p>
            <a:r>
              <a:rPr lang="en-IN" b="1" dirty="0"/>
              <a:t>Syllabus</a:t>
            </a:r>
          </a:p>
        </p:txBody>
      </p:sp>
      <p:sp>
        <p:nvSpPr>
          <p:cNvPr id="3" name="Content Placeholder 2">
            <a:extLst>
              <a:ext uri="{FF2B5EF4-FFF2-40B4-BE49-F238E27FC236}">
                <a16:creationId xmlns:a16="http://schemas.microsoft.com/office/drawing/2014/main" id="{3E797254-9563-06C9-4870-D09489130C32}"/>
              </a:ext>
            </a:extLst>
          </p:cNvPr>
          <p:cNvSpPr>
            <a:spLocks noGrp="1"/>
          </p:cNvSpPr>
          <p:nvPr>
            <p:ph idx="1"/>
          </p:nvPr>
        </p:nvSpPr>
        <p:spPr>
          <a:xfrm>
            <a:off x="452120" y="1659572"/>
            <a:ext cx="11475720" cy="4365308"/>
          </a:xfrm>
        </p:spPr>
        <p:txBody>
          <a:bodyPr>
            <a:noAutofit/>
          </a:bodyPr>
          <a:lstStyle/>
          <a:p>
            <a:pPr algn="just">
              <a:lnSpc>
                <a:spcPct val="115000"/>
              </a:lnSpc>
              <a:spcBef>
                <a:spcPts val="0"/>
              </a:spcBef>
            </a:pPr>
            <a:r>
              <a:rPr lang="en-US" sz="2600" kern="1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Overview: </a:t>
            </a:r>
          </a:p>
          <a:p>
            <a:pPr lvl="1" algn="just">
              <a:lnSpc>
                <a:spcPct val="115000"/>
              </a:lnSpc>
              <a:spcBef>
                <a:spcPts val="0"/>
              </a:spcBef>
            </a:pPr>
            <a:r>
              <a:rPr lang="en-US" sz="2200" kern="1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Origins and challenges of NLP</a:t>
            </a:r>
          </a:p>
          <a:p>
            <a:pPr lvl="1" algn="just">
              <a:lnSpc>
                <a:spcPct val="115000"/>
              </a:lnSpc>
              <a:spcBef>
                <a:spcPts val="0"/>
              </a:spcBef>
            </a:pPr>
            <a:r>
              <a:rPr lang="en-US" sz="2200" kern="1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Need of NLP</a:t>
            </a:r>
          </a:p>
          <a:p>
            <a:pPr algn="just">
              <a:lnSpc>
                <a:spcPct val="115000"/>
              </a:lnSpc>
              <a:spcBef>
                <a:spcPts val="0"/>
              </a:spcBef>
            </a:pPr>
            <a:r>
              <a:rPr lang="en-US" sz="2600" kern="1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Preprocessing techniques- </a:t>
            </a:r>
          </a:p>
          <a:p>
            <a:pPr lvl="1" algn="just">
              <a:lnSpc>
                <a:spcPct val="115000"/>
              </a:lnSpc>
              <a:spcBef>
                <a:spcPts val="0"/>
              </a:spcBef>
            </a:pPr>
            <a:r>
              <a:rPr lang="en-US" sz="2200" kern="1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Text Wrangling, Text cleansing, sentence splitter, tokenization, stemming, lemmatization, stop word removal, rare word removal, spell correction.</a:t>
            </a:r>
          </a:p>
          <a:p>
            <a:pPr algn="just">
              <a:lnSpc>
                <a:spcPct val="115000"/>
              </a:lnSpc>
              <a:spcBef>
                <a:spcPts val="0"/>
              </a:spcBef>
            </a:pPr>
            <a:r>
              <a:rPr lang="en-US" sz="2600" kern="1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Word Embeddings, Different Types : </a:t>
            </a:r>
          </a:p>
          <a:p>
            <a:pPr marL="457200" lvl="1" indent="0" algn="just">
              <a:lnSpc>
                <a:spcPct val="115000"/>
              </a:lnSpc>
              <a:spcBef>
                <a:spcPts val="0"/>
              </a:spcBef>
              <a:buNone/>
            </a:pPr>
            <a:r>
              <a:rPr lang="en-US" sz="2200" kern="1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One Hot Encoding, Bag of Words (</a:t>
            </a:r>
            <a:r>
              <a:rPr lang="en-US" sz="2200" kern="15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BoW</a:t>
            </a:r>
            <a:r>
              <a:rPr lang="en-US" sz="2200" kern="1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TF-IDF  </a:t>
            </a:r>
            <a:endParaRPr lang="en-IN" sz="2200" kern="15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0"/>
              </a:spcBef>
            </a:pPr>
            <a:r>
              <a:rPr lang="en-US" sz="2600" dirty="0">
                <a:solidFill>
                  <a:srgbClr val="000000"/>
                </a:solidFill>
                <a:effectLst/>
                <a:latin typeface="Times New Roman" panose="02020603050405020304" pitchFamily="18" charset="0"/>
                <a:ea typeface="Calibri" panose="020F0502020204030204" pitchFamily="34" charset="0"/>
              </a:rPr>
              <a:t>Static word embeddings:  </a:t>
            </a:r>
          </a:p>
          <a:p>
            <a:pPr marL="457200" lvl="1" indent="0">
              <a:spcBef>
                <a:spcPts val="0"/>
              </a:spcBef>
              <a:buNone/>
            </a:pPr>
            <a:r>
              <a:rPr lang="en-US" sz="2200" dirty="0">
                <a:solidFill>
                  <a:srgbClr val="000000"/>
                </a:solidFill>
                <a:effectLst/>
                <a:latin typeface="Times New Roman" panose="02020603050405020304" pitchFamily="18" charset="0"/>
                <a:ea typeface="Calibri" panose="020F0502020204030204" pitchFamily="34" charset="0"/>
              </a:rPr>
              <a:t>Word2vec, </a:t>
            </a:r>
            <a:r>
              <a:rPr lang="en-US" sz="2200" dirty="0" err="1">
                <a:solidFill>
                  <a:srgbClr val="000000"/>
                </a:solidFill>
                <a:effectLst/>
                <a:latin typeface="Times New Roman" panose="02020603050405020304" pitchFamily="18" charset="0"/>
                <a:ea typeface="Calibri" panose="020F0502020204030204" pitchFamily="34" charset="0"/>
              </a:rPr>
              <a:t>GloVe</a:t>
            </a:r>
            <a:r>
              <a:rPr lang="en-US" sz="2200" dirty="0">
                <a:solidFill>
                  <a:srgbClr val="000000"/>
                </a:solidFill>
                <a:effectLst/>
                <a:latin typeface="Times New Roman" panose="02020603050405020304" pitchFamily="18" charset="0"/>
                <a:ea typeface="Calibri" panose="020F0502020204030204" pitchFamily="34" charset="0"/>
              </a:rPr>
              <a:t>, </a:t>
            </a:r>
            <a:r>
              <a:rPr lang="en-US" sz="2200" dirty="0" err="1">
                <a:solidFill>
                  <a:srgbClr val="000000"/>
                </a:solidFill>
                <a:effectLst/>
                <a:latin typeface="Times New Roman" panose="02020603050405020304" pitchFamily="18" charset="0"/>
                <a:ea typeface="Calibri" panose="020F0502020204030204" pitchFamily="34" charset="0"/>
              </a:rPr>
              <a:t>FastText</a:t>
            </a:r>
            <a:endParaRPr lang="en-IN" sz="2200" dirty="0"/>
          </a:p>
        </p:txBody>
      </p:sp>
    </p:spTree>
    <p:extLst>
      <p:ext uri="{BB962C8B-B14F-4D97-AF65-F5344CB8AC3E}">
        <p14:creationId xmlns:p14="http://schemas.microsoft.com/office/powerpoint/2010/main" val="1499637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6D470-59EB-4790-E02B-B9AB0125804B}"/>
              </a:ext>
            </a:extLst>
          </p:cNvPr>
          <p:cNvSpPr>
            <a:spLocks noGrp="1"/>
          </p:cNvSpPr>
          <p:nvPr>
            <p:ph type="title"/>
          </p:nvPr>
        </p:nvSpPr>
        <p:spPr>
          <a:xfrm>
            <a:off x="838200" y="265611"/>
            <a:ext cx="10515600" cy="810532"/>
          </a:xfrm>
        </p:spPr>
        <p:txBody>
          <a:bodyPr/>
          <a:lstStyle/>
          <a:p>
            <a:pPr algn="ctr"/>
            <a:r>
              <a:rPr lang="en-IN" b="1" dirty="0"/>
              <a:t>Introduction</a:t>
            </a:r>
          </a:p>
        </p:txBody>
      </p:sp>
      <p:sp>
        <p:nvSpPr>
          <p:cNvPr id="3" name="Content Placeholder 2">
            <a:extLst>
              <a:ext uri="{FF2B5EF4-FFF2-40B4-BE49-F238E27FC236}">
                <a16:creationId xmlns:a16="http://schemas.microsoft.com/office/drawing/2014/main" id="{2EA45D69-F8F7-5A3E-DAC8-E9EBD6CB88B4}"/>
              </a:ext>
            </a:extLst>
          </p:cNvPr>
          <p:cNvSpPr>
            <a:spLocks noGrp="1"/>
          </p:cNvSpPr>
          <p:nvPr>
            <p:ph idx="1"/>
          </p:nvPr>
        </p:nvSpPr>
        <p:spPr>
          <a:xfrm>
            <a:off x="309880" y="1194318"/>
            <a:ext cx="11882120" cy="4992805"/>
          </a:xfrm>
        </p:spPr>
        <p:txBody>
          <a:bodyPr>
            <a:normAutofit fontScale="92500" lnSpcReduction="10000"/>
          </a:bodyPr>
          <a:lstStyle/>
          <a:p>
            <a:pPr algn="just">
              <a:lnSpc>
                <a:spcPct val="150000"/>
              </a:lnSpc>
            </a:pPr>
            <a:r>
              <a:rPr lang="en-IN" b="0" i="0" dirty="0">
                <a:solidFill>
                  <a:srgbClr val="333333"/>
                </a:solidFill>
                <a:effectLst/>
                <a:latin typeface="inter-regular"/>
              </a:rPr>
              <a:t>NLP stands for </a:t>
            </a:r>
            <a:r>
              <a:rPr lang="en-IN" b="1" i="0" dirty="0">
                <a:solidFill>
                  <a:srgbClr val="333333"/>
                </a:solidFill>
                <a:effectLst/>
                <a:latin typeface="inter-bold"/>
              </a:rPr>
              <a:t>Natural Language Processing</a:t>
            </a:r>
            <a:r>
              <a:rPr lang="en-IN" b="0" i="0" dirty="0">
                <a:solidFill>
                  <a:srgbClr val="333333"/>
                </a:solidFill>
                <a:effectLst/>
                <a:latin typeface="inter-regular"/>
              </a:rPr>
              <a:t>, which is a part of </a:t>
            </a:r>
            <a:r>
              <a:rPr lang="en-IN" b="1" i="0" dirty="0">
                <a:solidFill>
                  <a:srgbClr val="333333"/>
                </a:solidFill>
                <a:effectLst/>
                <a:latin typeface="inter-bold"/>
              </a:rPr>
              <a:t>Computer Science, Human language,</a:t>
            </a:r>
            <a:r>
              <a:rPr lang="en-IN" b="0" i="0" dirty="0">
                <a:solidFill>
                  <a:srgbClr val="333333"/>
                </a:solidFill>
                <a:effectLst/>
                <a:latin typeface="inter-regular"/>
              </a:rPr>
              <a:t> and </a:t>
            </a:r>
            <a:r>
              <a:rPr lang="en-IN" b="1" i="0" dirty="0">
                <a:solidFill>
                  <a:srgbClr val="333333"/>
                </a:solidFill>
                <a:effectLst/>
                <a:latin typeface="inter-bold"/>
              </a:rPr>
              <a:t>Artificial Intelligence</a:t>
            </a:r>
            <a:r>
              <a:rPr lang="en-IN" b="0" i="0" dirty="0">
                <a:solidFill>
                  <a:srgbClr val="333333"/>
                </a:solidFill>
                <a:effectLst/>
                <a:latin typeface="inter-regular"/>
              </a:rPr>
              <a:t>.</a:t>
            </a:r>
          </a:p>
          <a:p>
            <a:pPr algn="just">
              <a:lnSpc>
                <a:spcPct val="150000"/>
              </a:lnSpc>
            </a:pPr>
            <a:r>
              <a:rPr lang="en-IN" b="0" i="0" dirty="0">
                <a:solidFill>
                  <a:srgbClr val="333333"/>
                </a:solidFill>
                <a:effectLst/>
                <a:latin typeface="inter-regular"/>
              </a:rPr>
              <a:t> It is the technology that is used by machines to </a:t>
            </a:r>
            <a:r>
              <a:rPr lang="en-IN" b="0" i="0" dirty="0">
                <a:solidFill>
                  <a:srgbClr val="7030A0"/>
                </a:solidFill>
                <a:effectLst/>
                <a:latin typeface="inter-regular"/>
              </a:rPr>
              <a:t>understand, analyse, manipulate, and interpret human's languages.</a:t>
            </a:r>
            <a:endParaRPr lang="en-IN" b="0" i="0" dirty="0">
              <a:solidFill>
                <a:srgbClr val="333333"/>
              </a:solidFill>
              <a:effectLst/>
              <a:latin typeface="inter-regular"/>
            </a:endParaRPr>
          </a:p>
          <a:p>
            <a:pPr algn="just">
              <a:lnSpc>
                <a:spcPct val="150000"/>
              </a:lnSpc>
            </a:pPr>
            <a:r>
              <a:rPr lang="en-US" dirty="0"/>
              <a:t>The goal is to enable machines to </a:t>
            </a:r>
            <a:r>
              <a:rPr lang="en-US" dirty="0">
                <a:solidFill>
                  <a:srgbClr val="7030A0"/>
                </a:solidFill>
              </a:rPr>
              <a:t>understand, interpret, generate, and respond </a:t>
            </a:r>
            <a:r>
              <a:rPr lang="en-US" dirty="0"/>
              <a:t>to human language in a way that is both meaningful and useful. </a:t>
            </a:r>
          </a:p>
          <a:p>
            <a:pPr algn="just">
              <a:lnSpc>
                <a:spcPct val="150000"/>
              </a:lnSpc>
            </a:pPr>
            <a:r>
              <a:rPr lang="en-US" dirty="0"/>
              <a:t>NLP combines concepts from linguistics, computer science, and machine learning to bridge the gap between human communication and machine understanding</a:t>
            </a:r>
            <a:endParaRPr lang="en-IN" dirty="0"/>
          </a:p>
        </p:txBody>
      </p:sp>
      <p:pic>
        <p:nvPicPr>
          <p:cNvPr id="4098" name="Picture 2" descr="What is NLP">
            <a:extLst>
              <a:ext uri="{FF2B5EF4-FFF2-40B4-BE49-F238E27FC236}">
                <a16:creationId xmlns:a16="http://schemas.microsoft.com/office/drawing/2014/main" id="{4C20E4F3-F65F-C3C9-84A4-3ABBF355D0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5121" y="5639178"/>
            <a:ext cx="1295358" cy="1147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337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DCAB-A8E1-70F2-33C7-0E78FC26E3F0}"/>
            </a:ext>
          </a:extLst>
        </p:cNvPr>
        <p:cNvGrpSpPr/>
        <p:nvPr/>
      </p:nvGrpSpPr>
      <p:grpSpPr>
        <a:xfrm>
          <a:off x="0" y="0"/>
          <a:ext cx="0" cy="0"/>
          <a:chOff x="0" y="0"/>
          <a:chExt cx="0" cy="0"/>
        </a:xfrm>
      </p:grpSpPr>
      <p:pic>
        <p:nvPicPr>
          <p:cNvPr id="4098" name="Picture 2" descr="What is NLP">
            <a:extLst>
              <a:ext uri="{FF2B5EF4-FFF2-40B4-BE49-F238E27FC236}">
                <a16:creationId xmlns:a16="http://schemas.microsoft.com/office/drawing/2014/main" id="{966C243B-4158-9215-B386-FEA633EC0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5121" y="5639178"/>
            <a:ext cx="1295358" cy="1147701"/>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841D5E50-4DA3-0068-DB10-EA87BEFAF27C}"/>
              </a:ext>
            </a:extLst>
          </p:cNvPr>
          <p:cNvSpPr>
            <a:spLocks noGrp="1"/>
          </p:cNvSpPr>
          <p:nvPr>
            <p:ph idx="1"/>
          </p:nvPr>
        </p:nvSpPr>
        <p:spPr/>
        <p:txBody>
          <a:bodyPr/>
          <a:lstStyle/>
          <a:p>
            <a:endParaRPr lang="en-IN"/>
          </a:p>
        </p:txBody>
      </p:sp>
      <p:pic>
        <p:nvPicPr>
          <p:cNvPr id="1026" name="Picture 2" descr="history of NLP timeline">
            <a:extLst>
              <a:ext uri="{FF2B5EF4-FFF2-40B4-BE49-F238E27FC236}">
                <a16:creationId xmlns:a16="http://schemas.microsoft.com/office/drawing/2014/main" id="{3D3F7F7E-0E45-FF0A-7457-EEB26CA7CC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8653"/>
            <a:ext cx="12192000" cy="547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630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111B7-1516-104F-E1C6-20BB63358069}"/>
            </a:ext>
          </a:extLst>
        </p:cNvPr>
        <p:cNvGrpSpPr/>
        <p:nvPr/>
      </p:nvGrpSpPr>
      <p:grpSpPr>
        <a:xfrm>
          <a:off x="0" y="0"/>
          <a:ext cx="0" cy="0"/>
          <a:chOff x="0" y="0"/>
          <a:chExt cx="0" cy="0"/>
        </a:xfrm>
      </p:grpSpPr>
      <p:pic>
        <p:nvPicPr>
          <p:cNvPr id="4098" name="Picture 2" descr="What is NLP">
            <a:extLst>
              <a:ext uri="{FF2B5EF4-FFF2-40B4-BE49-F238E27FC236}">
                <a16:creationId xmlns:a16="http://schemas.microsoft.com/office/drawing/2014/main" id="{329E1101-A866-DF00-34E9-6930B68BE6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5121" y="5639178"/>
            <a:ext cx="1295358" cy="1147701"/>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159D5925-7677-6002-5A15-CBBCF4CB05D7}"/>
              </a:ext>
            </a:extLst>
          </p:cNvPr>
          <p:cNvSpPr>
            <a:spLocks noGrp="1"/>
          </p:cNvSpPr>
          <p:nvPr>
            <p:ph idx="1"/>
          </p:nvPr>
        </p:nvSpPr>
        <p:spPr>
          <a:xfrm>
            <a:off x="0" y="27304"/>
            <a:ext cx="6360160" cy="6901815"/>
          </a:xfrm>
        </p:spPr>
        <p:txBody>
          <a:bodyPr>
            <a:normAutofit fontScale="62500" lnSpcReduction="20000"/>
          </a:bodyPr>
          <a:lstStyle/>
          <a:p>
            <a:pPr marL="0" indent="0">
              <a:lnSpc>
                <a:spcPct val="107000"/>
              </a:lnSpc>
              <a:spcBef>
                <a:spcPts val="600"/>
              </a:spcBef>
              <a:buNone/>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1950s: Beginnings of NLP</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1950</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Alan Turing publishes </a:t>
            </a:r>
            <a:r>
              <a:rPr lang="en-IN" sz="2000" i="1" kern="100" dirty="0">
                <a:effectLst/>
                <a:latin typeface="Calibri" panose="020F0502020204030204" pitchFamily="34" charset="0"/>
                <a:ea typeface="Calibri" panose="020F0502020204030204" pitchFamily="34" charset="0"/>
                <a:cs typeface="Times New Roman" panose="02020603050405020304" pitchFamily="18" charset="0"/>
              </a:rPr>
              <a:t>"Computing Machinery and Intelligence"</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introducing the Turing Test to evaluate a machine's ability to exhibit intelligent </a:t>
            </a:r>
            <a:r>
              <a:rPr lang="en-IN" sz="2000" kern="100" dirty="0" err="1">
                <a:effectLst/>
                <a:latin typeface="Calibri" panose="020F0502020204030204" pitchFamily="34" charset="0"/>
                <a:ea typeface="Calibri" panose="020F0502020204030204" pitchFamily="34" charset="0"/>
                <a:cs typeface="Times New Roman" panose="02020603050405020304" pitchFamily="18" charset="0"/>
              </a:rPr>
              <a:t>behavior</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equivalent to or indistinguishable from that of a human.</a:t>
            </a: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1954</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The Georgetown-IBM experiment demonstrates machine translation, translating 60 Russian sentences into English. This is one of the earliest NLP experiments.</a:t>
            </a: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1957</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Noam Chomsky introduces transformational grammar in </a:t>
            </a:r>
            <a:r>
              <a:rPr lang="en-IN" sz="2000" i="1" kern="100" dirty="0">
                <a:effectLst/>
                <a:latin typeface="Calibri" panose="020F0502020204030204" pitchFamily="34" charset="0"/>
                <a:ea typeface="Calibri" panose="020F0502020204030204" pitchFamily="34" charset="0"/>
                <a:cs typeface="Times New Roman" panose="02020603050405020304" pitchFamily="18" charset="0"/>
              </a:rPr>
              <a:t>"Syntactic Structures"</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laying the theoretical foundation for many linguistic models.</a:t>
            </a:r>
          </a:p>
          <a:p>
            <a:pPr marL="0" indent="0">
              <a:lnSpc>
                <a:spcPct val="107000"/>
              </a:lnSpc>
              <a:spcBef>
                <a:spcPts val="600"/>
              </a:spcBef>
              <a:buNone/>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1960s: Rule-Based Systems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1964-1966</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ELIZA, one of the first chatbots, is developed by Joseph </a:t>
            </a:r>
            <a:r>
              <a:rPr lang="en-IN" sz="2000" kern="100" dirty="0" err="1">
                <a:effectLst/>
                <a:latin typeface="Calibri" panose="020F0502020204030204" pitchFamily="34" charset="0"/>
                <a:ea typeface="Calibri" panose="020F0502020204030204" pitchFamily="34" charset="0"/>
                <a:cs typeface="Times New Roman" panose="02020603050405020304" pitchFamily="18" charset="0"/>
              </a:rPr>
              <a:t>Weizenbaum</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demonstrating simple natural language understanding through pattern matching.</a:t>
            </a: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1966</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The ALPAC Report criticizes machine translation efforts, leading to reduced funding for NLP in the U.S.</a:t>
            </a:r>
          </a:p>
          <a:p>
            <a:pPr marL="0" indent="0">
              <a:lnSpc>
                <a:spcPct val="107000"/>
              </a:lnSpc>
              <a:spcBef>
                <a:spcPts val="600"/>
              </a:spcBef>
              <a:buNone/>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1970s: Emergence of Parsing and Semantics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1970</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William A. Woods develops the Augmented Transition Network (ATN) for parsing natural language.</a:t>
            </a: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1972</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SHRDLU, developed by Terry Winograd, showcases NLP capabilities in a virtual blocks world, integrating syntax, semantics, and reasoning.</a:t>
            </a:r>
          </a:p>
          <a:p>
            <a:pPr>
              <a:lnSpc>
                <a:spcPct val="107000"/>
              </a:lnSpc>
              <a:spcBef>
                <a:spcPts val="600"/>
              </a:spcBef>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1980s: Statistical Methods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1980</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Introduction of the concept of probabilistic language models, moving beyond purely rule-based systems.</a:t>
            </a: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1983</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The development of WordNet by George Miller begins, creating a semantic network for English.</a:t>
            </a:r>
          </a:p>
          <a:p>
            <a:pPr>
              <a:lnSpc>
                <a:spcPct val="107000"/>
              </a:lnSpc>
              <a:spcBef>
                <a:spcPts val="600"/>
              </a:spcBef>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1990s: Statistical and Machine Learning Approaches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1990s</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Hidden Markov Models (HMMs) and n-gram models become widely used for tasks like speech recognition and part-of-speech tagging.</a:t>
            </a: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1996</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IBM develops BLEU, a metric for evaluating machine translation quality.</a:t>
            </a:r>
          </a:p>
          <a:p>
            <a:pPr marL="342900" lvl="0" indent="-342900">
              <a:lnSpc>
                <a:spcPct val="107000"/>
              </a:lnSpc>
              <a:spcBef>
                <a:spcPts val="600"/>
              </a:spcBef>
              <a:buSzPts val="1000"/>
              <a:buFont typeface="Symbol" panose="05050102010706020507" pitchFamily="18" charset="2"/>
              <a:buChar char=""/>
              <a:tabLst>
                <a:tab pos="457200" algn="l"/>
              </a:tabLs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1999</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Latent Semantic Analysis (LSA) emerges for information retrieval and document similarity.</a:t>
            </a:r>
          </a:p>
          <a:p>
            <a:pPr marL="0" indent="0">
              <a:buNone/>
            </a:pPr>
            <a:endParaRPr lang="en-IN" dirty="0"/>
          </a:p>
        </p:txBody>
      </p:sp>
      <p:sp>
        <p:nvSpPr>
          <p:cNvPr id="6" name="TextBox 5">
            <a:extLst>
              <a:ext uri="{FF2B5EF4-FFF2-40B4-BE49-F238E27FC236}">
                <a16:creationId xmlns:a16="http://schemas.microsoft.com/office/drawing/2014/main" id="{45D74505-A361-0CA3-723D-38FE83FEBF9E}"/>
              </a:ext>
            </a:extLst>
          </p:cNvPr>
          <p:cNvSpPr txBox="1"/>
          <p:nvPr/>
        </p:nvSpPr>
        <p:spPr>
          <a:xfrm>
            <a:off x="6441440" y="0"/>
            <a:ext cx="5809039" cy="6211444"/>
          </a:xfrm>
          <a:prstGeom prst="rect">
            <a:avLst/>
          </a:prstGeom>
          <a:noFill/>
        </p:spPr>
        <p:txBody>
          <a:bodyPr wrap="square">
            <a:spAutoFit/>
          </a:bodyPr>
          <a:lstStyle/>
          <a:p>
            <a:pPr>
              <a:lnSpc>
                <a:spcPct val="107000"/>
              </a:lnSpc>
              <a:spcBef>
                <a:spcPts val="600"/>
              </a:spcBef>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2000s: Rise of Probabilistic Models and Tools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2001</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Conditional Random Fields (CRFs) are introduced for sequence </a:t>
            </a:r>
            <a:r>
              <a:rPr lang="en-IN" sz="1200" kern="100" dirty="0" err="1">
                <a:effectLst/>
                <a:latin typeface="Calibri" panose="020F0502020204030204" pitchFamily="34" charset="0"/>
                <a:ea typeface="Calibri" panose="020F0502020204030204" pitchFamily="34" charset="0"/>
                <a:cs typeface="Times New Roman" panose="02020603050405020304" pitchFamily="18" charset="0"/>
              </a:rPr>
              <a:t>labeling</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tasks.</a:t>
            </a: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2003</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Stanford Parser is released, providing tools for syntactic analysis.</a:t>
            </a:r>
          </a:p>
          <a:p>
            <a:pPr>
              <a:lnSpc>
                <a:spcPct val="107000"/>
              </a:lnSpc>
              <a:spcBef>
                <a:spcPts val="600"/>
              </a:spcBef>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2010s: Deep Learning Revolution</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2013</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Word2Vec, introduced by Google, revolutionizes word embeddings using neural networks.</a:t>
            </a: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2014</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Bef>
                <a:spcPts val="600"/>
              </a:spcBef>
              <a:buSzPts val="1000"/>
              <a:buFont typeface="Courier New" panose="02070309020205020404" pitchFamily="49" charset="0"/>
              <a:buChar char="o"/>
              <a:tabLst>
                <a:tab pos="914400" algn="l"/>
              </a:tabLst>
            </a:pPr>
            <a:r>
              <a:rPr lang="en-IN" sz="1200" kern="100" dirty="0" err="1">
                <a:effectLst/>
                <a:latin typeface="Calibri" panose="020F0502020204030204" pitchFamily="34" charset="0"/>
                <a:ea typeface="Calibri" panose="020F0502020204030204" pitchFamily="34" charset="0"/>
                <a:cs typeface="Times New Roman" panose="02020603050405020304" pitchFamily="18" charset="0"/>
              </a:rPr>
              <a:t>GloVe</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(Global Vectors for Word Representation) is introduced by Stanford.</a:t>
            </a:r>
          </a:p>
          <a:p>
            <a:pPr marL="742950" lvl="1" indent="-285750">
              <a:lnSpc>
                <a:spcPct val="107000"/>
              </a:lnSpc>
              <a:spcBef>
                <a:spcPts val="600"/>
              </a:spcBef>
              <a:buSzPts val="1000"/>
              <a:buFont typeface="Courier New" panose="02070309020205020404" pitchFamily="49" charset="0"/>
              <a:buChar char="o"/>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Seq2Seq models, a foundation for machine translation, gain popularity.</a:t>
            </a: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2017</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lvl="1" indent="-285750">
              <a:lnSpc>
                <a:spcPct val="107000"/>
              </a:lnSpc>
              <a:spcBef>
                <a:spcPts val="600"/>
              </a:spcBef>
              <a:buSzPts val="1000"/>
              <a:buFont typeface="Courier New" panose="02070309020205020404" pitchFamily="49" charset="0"/>
              <a:buChar char="o"/>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The Transformer architecture is introduced in the paper </a:t>
            </a:r>
            <a:r>
              <a:rPr lang="en-IN" sz="1200" i="1" kern="100" dirty="0">
                <a:effectLst/>
                <a:latin typeface="Calibri" panose="020F0502020204030204" pitchFamily="34" charset="0"/>
                <a:ea typeface="Calibri" panose="020F0502020204030204" pitchFamily="34" charset="0"/>
                <a:cs typeface="Times New Roman" panose="02020603050405020304" pitchFamily="18" charset="0"/>
              </a:rPr>
              <a:t>"Attention is All You Need"</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laying the foundation for modern NLP models.</a:t>
            </a:r>
          </a:p>
          <a:p>
            <a:pPr marL="742950" lvl="1" indent="-285750">
              <a:lnSpc>
                <a:spcPct val="107000"/>
              </a:lnSpc>
              <a:spcBef>
                <a:spcPts val="600"/>
              </a:spcBef>
              <a:buSzPts val="1000"/>
              <a:buFont typeface="Courier New" panose="02070309020205020404" pitchFamily="49" charset="0"/>
              <a:buChar char="o"/>
              <a:tabLst>
                <a:tab pos="914400" algn="l"/>
              </a:tabLst>
            </a:pPr>
            <a:r>
              <a:rPr lang="en-IN" sz="1200" kern="100" dirty="0" err="1">
                <a:effectLst/>
                <a:latin typeface="Calibri" panose="020F0502020204030204" pitchFamily="34" charset="0"/>
                <a:ea typeface="Calibri" panose="020F0502020204030204" pitchFamily="34" charset="0"/>
                <a:cs typeface="Times New Roman" panose="02020603050405020304" pitchFamily="18" charset="0"/>
              </a:rPr>
              <a:t>ELMo</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(Embeddings from Language Models) demonstrates contextualized embeddings.</a:t>
            </a: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2018</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a:t>
            </a:r>
          </a:p>
          <a:p>
            <a:pPr marL="742950" lvl="1" indent="-285750">
              <a:lnSpc>
                <a:spcPct val="107000"/>
              </a:lnSpc>
              <a:spcBef>
                <a:spcPts val="600"/>
              </a:spcBef>
              <a:buSzPts val="1000"/>
              <a:buFont typeface="Courier New" panose="02070309020205020404" pitchFamily="49" charset="0"/>
              <a:buChar char="o"/>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OpenAI introduces GPT (Generative Pre-trained Transformer).</a:t>
            </a:r>
          </a:p>
          <a:p>
            <a:pPr marL="742950" lvl="1" indent="-285750">
              <a:lnSpc>
                <a:spcPct val="107000"/>
              </a:lnSpc>
              <a:spcBef>
                <a:spcPts val="600"/>
              </a:spcBef>
              <a:buSzPts val="1000"/>
              <a:buFont typeface="Courier New" panose="02070309020205020404" pitchFamily="49" charset="0"/>
              <a:buChar char="o"/>
              <a:tabLst>
                <a:tab pos="914400" algn="l"/>
              </a:tabLs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BERT (Bidirectional Encoder Representations from Transformers) is introduced by Google, setting new state-of-the-art results for many NLP tasks.</a:t>
            </a:r>
          </a:p>
          <a:p>
            <a:pPr>
              <a:lnSpc>
                <a:spcPct val="107000"/>
              </a:lnSpc>
              <a:spcBef>
                <a:spcPts val="600"/>
              </a:spcBef>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2020s: Large Language Models and Multimodal Systems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2020</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GPT-3, a 175-billion parameter model by OpenAI, demonstrates unprecedented language generation capabilities.</a:t>
            </a: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2021</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Multimodal models like CLIP and DALL-E combine text and images.</a:t>
            </a: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2022</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ChatGPT, based on GPT-3.5, provides a conversational AI experience.</a:t>
            </a:r>
          </a:p>
          <a:p>
            <a:pPr marL="342900" lvl="0" indent="-342900">
              <a:lnSpc>
                <a:spcPct val="107000"/>
              </a:lnSpc>
              <a:spcBef>
                <a:spcPts val="600"/>
              </a:spcBef>
              <a:buSzPts val="1000"/>
              <a:buFont typeface="Symbol" panose="05050102010706020507" pitchFamily="18" charset="2"/>
              <a:buChar char=""/>
              <a:tabLst>
                <a:tab pos="457200" algn="l"/>
              </a:tabLst>
            </a:pPr>
            <a:r>
              <a:rPr lang="en-IN" sz="1200" b="1" kern="100" dirty="0">
                <a:effectLst/>
                <a:latin typeface="Calibri" panose="020F0502020204030204" pitchFamily="34" charset="0"/>
                <a:ea typeface="Calibri" panose="020F0502020204030204" pitchFamily="34" charset="0"/>
                <a:cs typeface="Times New Roman" panose="02020603050405020304" pitchFamily="18" charset="0"/>
              </a:rPr>
              <a:t>2023</a:t>
            </a: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Models like GPT-4 improve multi-modality, reasoning, and understanding.</a:t>
            </a:r>
          </a:p>
        </p:txBody>
      </p:sp>
    </p:spTree>
    <p:extLst>
      <p:ext uri="{BB962C8B-B14F-4D97-AF65-F5344CB8AC3E}">
        <p14:creationId xmlns:p14="http://schemas.microsoft.com/office/powerpoint/2010/main" val="817514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A220-D66F-4DEB-CED4-55679950C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BCAA7-F4CC-CEE1-A8D4-67FD709EC251}"/>
              </a:ext>
            </a:extLst>
          </p:cNvPr>
          <p:cNvSpPr>
            <a:spLocks noGrp="1"/>
          </p:cNvSpPr>
          <p:nvPr>
            <p:ph type="title"/>
          </p:nvPr>
        </p:nvSpPr>
        <p:spPr>
          <a:xfrm>
            <a:off x="838200" y="265611"/>
            <a:ext cx="10515600" cy="810532"/>
          </a:xfrm>
        </p:spPr>
        <p:txBody>
          <a:bodyPr>
            <a:normAutofit/>
          </a:bodyPr>
          <a:lstStyle/>
          <a:p>
            <a:pPr algn="ctr"/>
            <a:r>
              <a:rPr lang="en-IN" b="1" dirty="0">
                <a:solidFill>
                  <a:srgbClr val="000000"/>
                </a:solidFill>
                <a:effectLst/>
                <a:ea typeface="Calibri" panose="020F0502020204030204" pitchFamily="34" charset="0"/>
              </a:rPr>
              <a:t>Need of NLP</a:t>
            </a:r>
            <a:endParaRPr lang="en-IN" b="1" dirty="0"/>
          </a:p>
        </p:txBody>
      </p:sp>
      <p:sp>
        <p:nvSpPr>
          <p:cNvPr id="3" name="Content Placeholder 2">
            <a:extLst>
              <a:ext uri="{FF2B5EF4-FFF2-40B4-BE49-F238E27FC236}">
                <a16:creationId xmlns:a16="http://schemas.microsoft.com/office/drawing/2014/main" id="{501260E9-DCFE-268B-D53C-40F289A1AE39}"/>
              </a:ext>
            </a:extLst>
          </p:cNvPr>
          <p:cNvSpPr>
            <a:spLocks noGrp="1"/>
          </p:cNvSpPr>
          <p:nvPr>
            <p:ph idx="1"/>
          </p:nvPr>
        </p:nvSpPr>
        <p:spPr>
          <a:xfrm>
            <a:off x="309880" y="1194318"/>
            <a:ext cx="11940599" cy="4992805"/>
          </a:xfrm>
        </p:spPr>
        <p:txBody>
          <a:bodyPr>
            <a:normAutofit/>
          </a:bodyPr>
          <a:lstStyle/>
          <a:p>
            <a:pPr algn="just">
              <a:lnSpc>
                <a:spcPct val="150000"/>
              </a:lnSpc>
            </a:pPr>
            <a:r>
              <a:rPr lang="en-US" sz="2400" dirty="0"/>
              <a:t>Bridging the Gap Between Humans and Machines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NLP enables interaction between these two entities by allowing machines to process, understand, and respond to human language.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Examples: Virtual assistants like Siri and Alexa, customer service chatbots. </a:t>
            </a:r>
          </a:p>
          <a:p>
            <a:pPr marL="0" indent="0" algn="just">
              <a:lnSpc>
                <a:spcPct val="150000"/>
              </a:lnSpc>
              <a:buNone/>
            </a:pPr>
            <a:endParaRPr lang="en-IN" dirty="0"/>
          </a:p>
        </p:txBody>
      </p:sp>
      <p:pic>
        <p:nvPicPr>
          <p:cNvPr id="4098" name="Picture 2" descr="What is NLP">
            <a:extLst>
              <a:ext uri="{FF2B5EF4-FFF2-40B4-BE49-F238E27FC236}">
                <a16:creationId xmlns:a16="http://schemas.microsoft.com/office/drawing/2014/main" id="{2DC0C1CC-2FCA-DB66-CA70-2AE5E447E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5121" y="5639178"/>
            <a:ext cx="1295358" cy="1147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8283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3F474-D8FE-EBEC-4714-54596A077F3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FA18BC-2873-E444-6384-940E98830989}"/>
              </a:ext>
            </a:extLst>
          </p:cNvPr>
          <p:cNvSpPr>
            <a:spLocks noGrp="1"/>
          </p:cNvSpPr>
          <p:nvPr>
            <p:ph type="title"/>
          </p:nvPr>
        </p:nvSpPr>
        <p:spPr>
          <a:xfrm>
            <a:off x="838200" y="90805"/>
            <a:ext cx="10515600" cy="858203"/>
          </a:xfrm>
        </p:spPr>
        <p:txBody>
          <a:bodyPr/>
          <a:lstStyle/>
          <a:p>
            <a:r>
              <a:rPr lang="en-IN" b="1" dirty="0">
                <a:solidFill>
                  <a:srgbClr val="000000"/>
                </a:solidFill>
                <a:effectLst/>
                <a:ea typeface="Calibri" panose="020F0502020204030204" pitchFamily="34" charset="0"/>
              </a:rPr>
              <a:t>Need of NLP/</a:t>
            </a:r>
            <a:r>
              <a:rPr lang="en-IN" b="1" dirty="0"/>
              <a:t>Application of NLP</a:t>
            </a:r>
            <a:endParaRPr lang="en-IN" dirty="0"/>
          </a:p>
        </p:txBody>
      </p:sp>
      <p:sp>
        <p:nvSpPr>
          <p:cNvPr id="8" name="TextBox 7">
            <a:extLst>
              <a:ext uri="{FF2B5EF4-FFF2-40B4-BE49-F238E27FC236}">
                <a16:creationId xmlns:a16="http://schemas.microsoft.com/office/drawing/2014/main" id="{CDE50C9D-7133-C234-6B07-B028A8ADF4FE}"/>
              </a:ext>
            </a:extLst>
          </p:cNvPr>
          <p:cNvSpPr txBox="1"/>
          <p:nvPr/>
        </p:nvSpPr>
        <p:spPr>
          <a:xfrm>
            <a:off x="441960" y="1294448"/>
            <a:ext cx="11475720" cy="4893647"/>
          </a:xfrm>
          <a:prstGeom prst="rect">
            <a:avLst/>
          </a:prstGeom>
          <a:noFill/>
        </p:spPr>
        <p:txBody>
          <a:bodyPr wrap="square">
            <a:spAutoFit/>
          </a:bodyPr>
          <a:lstStyle/>
          <a:p>
            <a:pPr algn="just"/>
            <a:r>
              <a:rPr lang="en-US" sz="2400" dirty="0"/>
              <a:t>• Email platforms, such as Gmail, Outlook, etc., use NLP extensively to provide a range of product features, such as </a:t>
            </a:r>
            <a:r>
              <a:rPr lang="en-US" sz="2400" dirty="0">
                <a:solidFill>
                  <a:srgbClr val="7030A0"/>
                </a:solidFill>
              </a:rPr>
              <a:t>spam </a:t>
            </a:r>
            <a:r>
              <a:rPr lang="en-US" sz="2400" dirty="0" err="1">
                <a:solidFill>
                  <a:srgbClr val="7030A0"/>
                </a:solidFill>
              </a:rPr>
              <a:t>classification,calendar</a:t>
            </a:r>
            <a:r>
              <a:rPr lang="en-US" sz="2400" dirty="0">
                <a:solidFill>
                  <a:srgbClr val="7030A0"/>
                </a:solidFill>
              </a:rPr>
              <a:t> event extraction, auto-complete</a:t>
            </a:r>
            <a:r>
              <a:rPr lang="en-US" sz="2400" dirty="0"/>
              <a:t>, etc. </a:t>
            </a:r>
          </a:p>
          <a:p>
            <a:pPr marL="342900" indent="-342900" algn="just">
              <a:buFont typeface="Arial" panose="020B0604020202020204" pitchFamily="34" charset="0"/>
              <a:buChar char="•"/>
            </a:pPr>
            <a:r>
              <a:rPr lang="en-US" sz="2400" dirty="0"/>
              <a:t>Voice-based assistants, such as </a:t>
            </a:r>
            <a:r>
              <a:rPr lang="en-US" sz="2400" dirty="0">
                <a:solidFill>
                  <a:srgbClr val="7030A0"/>
                </a:solidFill>
              </a:rPr>
              <a:t>Apple Siri, Google Assistant, Microsoft Cortana, and Amazon Alexa</a:t>
            </a:r>
            <a:r>
              <a:rPr lang="en-US" sz="2400" dirty="0"/>
              <a:t> rely on a range of NLP techniques to interact with the user, understand user commands, and respond accordingly.</a:t>
            </a:r>
          </a:p>
          <a:p>
            <a:pPr algn="just"/>
            <a:r>
              <a:rPr lang="en-US" sz="2400" dirty="0"/>
              <a:t> • Modern search engines, such as </a:t>
            </a:r>
            <a:r>
              <a:rPr lang="en-US" sz="2400" dirty="0">
                <a:solidFill>
                  <a:srgbClr val="7030A0"/>
                </a:solidFill>
              </a:rPr>
              <a:t>Google and Bing</a:t>
            </a:r>
            <a:r>
              <a:rPr lang="en-US" sz="2400" dirty="0"/>
              <a:t>, use NLP heavily for various subtasks, such as </a:t>
            </a:r>
            <a:r>
              <a:rPr lang="en-US" sz="2400" dirty="0">
                <a:solidFill>
                  <a:srgbClr val="7030A0"/>
                </a:solidFill>
              </a:rPr>
              <a:t>query understanding, query expansion, question answering, information retrieval, and grouping of the results</a:t>
            </a:r>
            <a:r>
              <a:rPr lang="en-US" sz="2400" dirty="0"/>
              <a:t>, etc. </a:t>
            </a:r>
          </a:p>
          <a:p>
            <a:pPr algn="just"/>
            <a:r>
              <a:rPr lang="en-US" sz="2400" dirty="0"/>
              <a:t>• Machine translation services, such as </a:t>
            </a:r>
            <a:r>
              <a:rPr lang="en-US" sz="2400" dirty="0">
                <a:solidFill>
                  <a:srgbClr val="7030A0"/>
                </a:solidFill>
              </a:rPr>
              <a:t>Google Translate, Bing Microsoft Translator, and Amazon Translate</a:t>
            </a:r>
            <a:r>
              <a:rPr lang="en-US" sz="2400" dirty="0"/>
              <a:t> are used in to solve a wide range of scenarios and business use cases. </a:t>
            </a:r>
          </a:p>
          <a:p>
            <a:pPr marL="342900" indent="-342900" algn="just">
              <a:buFont typeface="Arial" panose="020B0604020202020204" pitchFamily="34" charset="0"/>
              <a:buChar char="•"/>
            </a:pPr>
            <a:r>
              <a:rPr lang="en-US" sz="2400" dirty="0"/>
              <a:t>NLP forms the backbone of </a:t>
            </a:r>
            <a:r>
              <a:rPr lang="en-US" sz="2400" dirty="0">
                <a:solidFill>
                  <a:srgbClr val="7030A0"/>
                </a:solidFill>
              </a:rPr>
              <a:t>spelling- and grammar-correction tools</a:t>
            </a:r>
            <a:r>
              <a:rPr lang="en-US" sz="2400" dirty="0"/>
              <a:t>, such as </a:t>
            </a:r>
            <a:r>
              <a:rPr lang="en-US" sz="2400" dirty="0">
                <a:solidFill>
                  <a:srgbClr val="7030A0"/>
                </a:solidFill>
              </a:rPr>
              <a:t>Grammarly and spell check in Microsoft Word and Google Docs</a:t>
            </a:r>
            <a:r>
              <a:rPr lang="en-US" sz="2400" dirty="0"/>
              <a:t>.</a:t>
            </a:r>
            <a:endParaRPr lang="en-IN" sz="2400" dirty="0"/>
          </a:p>
          <a:p>
            <a:pPr algn="just"/>
            <a:endParaRPr lang="en-IN" sz="2400" dirty="0"/>
          </a:p>
        </p:txBody>
      </p:sp>
    </p:spTree>
    <p:extLst>
      <p:ext uri="{BB962C8B-B14F-4D97-AF65-F5344CB8AC3E}">
        <p14:creationId xmlns:p14="http://schemas.microsoft.com/office/powerpoint/2010/main" val="870669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27317-FD64-36BF-6422-3450D0112CA6}"/>
              </a:ext>
            </a:extLst>
          </p:cNvPr>
          <p:cNvSpPr>
            <a:spLocks noGrp="1"/>
          </p:cNvSpPr>
          <p:nvPr>
            <p:ph type="title"/>
          </p:nvPr>
        </p:nvSpPr>
        <p:spPr>
          <a:xfrm>
            <a:off x="298604" y="201779"/>
            <a:ext cx="10515600" cy="394336"/>
          </a:xfrm>
        </p:spPr>
        <p:txBody>
          <a:bodyPr>
            <a:normAutofit fontScale="90000"/>
          </a:bodyPr>
          <a:lstStyle/>
          <a:p>
            <a:pPr algn="ctr"/>
            <a:r>
              <a:rPr lang="en-IN" b="1" dirty="0">
                <a:solidFill>
                  <a:srgbClr val="000000"/>
                </a:solidFill>
                <a:effectLst/>
                <a:ea typeface="Calibri" panose="020F0502020204030204" pitchFamily="34" charset="0"/>
              </a:rPr>
              <a:t>Need of NLP/</a:t>
            </a:r>
            <a:r>
              <a:rPr lang="en-IN" b="1" dirty="0"/>
              <a:t>Application of NLP</a:t>
            </a:r>
          </a:p>
        </p:txBody>
      </p:sp>
      <p:pic>
        <p:nvPicPr>
          <p:cNvPr id="3074" name="Picture 2" descr="Applications of NLP">
            <a:extLst>
              <a:ext uri="{FF2B5EF4-FFF2-40B4-BE49-F238E27FC236}">
                <a16:creationId xmlns:a16="http://schemas.microsoft.com/office/drawing/2014/main" id="{17E369DB-C904-20F5-0E43-589970BB47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59" y="1143635"/>
            <a:ext cx="1456690" cy="161988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pplications of NLP">
            <a:extLst>
              <a:ext uri="{FF2B5EF4-FFF2-40B4-BE49-F238E27FC236}">
                <a16:creationId xmlns:a16="http://schemas.microsoft.com/office/drawing/2014/main" id="{D74E9137-0ECF-5821-F9E6-B4B87E33E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222" y="1150303"/>
            <a:ext cx="2371090" cy="175863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pplications of NLP">
            <a:extLst>
              <a:ext uri="{FF2B5EF4-FFF2-40B4-BE49-F238E27FC236}">
                <a16:creationId xmlns:a16="http://schemas.microsoft.com/office/drawing/2014/main" id="{750952FE-6834-DC3C-ED68-A9D1E0CF16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225185"/>
            <a:ext cx="3678616" cy="153416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Applications of NLP">
            <a:extLst>
              <a:ext uri="{FF2B5EF4-FFF2-40B4-BE49-F238E27FC236}">
                <a16:creationId xmlns:a16="http://schemas.microsoft.com/office/drawing/2014/main" id="{5B38F5CB-9A85-88B2-1FCF-F1A9BE28F0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09" y="3581063"/>
            <a:ext cx="4112567" cy="206311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Applications of NLP">
            <a:extLst>
              <a:ext uri="{FF2B5EF4-FFF2-40B4-BE49-F238E27FC236}">
                <a16:creationId xmlns:a16="http://schemas.microsoft.com/office/drawing/2014/main" id="{649C73EC-060A-7CB8-6A2B-BCB10733B6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9644" y="3307081"/>
            <a:ext cx="3821924" cy="172911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Applications of NLP">
            <a:extLst>
              <a:ext uri="{FF2B5EF4-FFF2-40B4-BE49-F238E27FC236}">
                <a16:creationId xmlns:a16="http://schemas.microsoft.com/office/drawing/2014/main" id="{51FEE6AF-836B-9055-D336-358AEA24B5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29167" y="3065780"/>
            <a:ext cx="3364229" cy="25050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DC5049B-74BC-585D-CAFF-39EA527D550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42593" y="5374084"/>
            <a:ext cx="3228975" cy="1419225"/>
          </a:xfrm>
          <a:prstGeom prst="rect">
            <a:avLst/>
          </a:prstGeom>
        </p:spPr>
      </p:pic>
      <p:sp>
        <p:nvSpPr>
          <p:cNvPr id="4" name="TextBox 3">
            <a:extLst>
              <a:ext uri="{FF2B5EF4-FFF2-40B4-BE49-F238E27FC236}">
                <a16:creationId xmlns:a16="http://schemas.microsoft.com/office/drawing/2014/main" id="{7BB965E6-B6D3-D6A9-0D2F-9798B12E5BFE}"/>
              </a:ext>
            </a:extLst>
          </p:cNvPr>
          <p:cNvSpPr txBox="1"/>
          <p:nvPr/>
        </p:nvSpPr>
        <p:spPr>
          <a:xfrm>
            <a:off x="298604" y="2853989"/>
            <a:ext cx="2752531" cy="369332"/>
          </a:xfrm>
          <a:prstGeom prst="rect">
            <a:avLst/>
          </a:prstGeom>
          <a:noFill/>
        </p:spPr>
        <p:txBody>
          <a:bodyPr wrap="square" rtlCol="0">
            <a:spAutoFit/>
          </a:bodyPr>
          <a:lstStyle/>
          <a:p>
            <a:r>
              <a:rPr lang="en-IN" dirty="0"/>
              <a:t>Question Answering</a:t>
            </a:r>
          </a:p>
        </p:txBody>
      </p:sp>
      <p:sp>
        <p:nvSpPr>
          <p:cNvPr id="7" name="TextBox 6">
            <a:extLst>
              <a:ext uri="{FF2B5EF4-FFF2-40B4-BE49-F238E27FC236}">
                <a16:creationId xmlns:a16="http://schemas.microsoft.com/office/drawing/2014/main" id="{31847B69-2409-05D7-18DF-C4FECF306CCC}"/>
              </a:ext>
            </a:extLst>
          </p:cNvPr>
          <p:cNvSpPr txBox="1"/>
          <p:nvPr/>
        </p:nvSpPr>
        <p:spPr>
          <a:xfrm>
            <a:off x="3011231" y="2814738"/>
            <a:ext cx="1784704" cy="369332"/>
          </a:xfrm>
          <a:prstGeom prst="rect">
            <a:avLst/>
          </a:prstGeom>
          <a:noFill/>
        </p:spPr>
        <p:txBody>
          <a:bodyPr wrap="square">
            <a:spAutoFit/>
          </a:bodyPr>
          <a:lstStyle/>
          <a:p>
            <a:r>
              <a:rPr lang="en-IN" b="1" i="0" dirty="0">
                <a:solidFill>
                  <a:srgbClr val="333333"/>
                </a:solidFill>
                <a:effectLst/>
                <a:latin typeface="inter-bold"/>
              </a:rPr>
              <a:t>Spam Detection</a:t>
            </a:r>
            <a:endParaRPr lang="en-IN" dirty="0"/>
          </a:p>
        </p:txBody>
      </p:sp>
      <p:sp>
        <p:nvSpPr>
          <p:cNvPr id="9" name="TextBox 8">
            <a:extLst>
              <a:ext uri="{FF2B5EF4-FFF2-40B4-BE49-F238E27FC236}">
                <a16:creationId xmlns:a16="http://schemas.microsoft.com/office/drawing/2014/main" id="{05ECA65D-159F-02C0-2726-720BA3DF8FBD}"/>
              </a:ext>
            </a:extLst>
          </p:cNvPr>
          <p:cNvSpPr txBox="1"/>
          <p:nvPr/>
        </p:nvSpPr>
        <p:spPr>
          <a:xfrm>
            <a:off x="6379181" y="2727897"/>
            <a:ext cx="2258761" cy="369332"/>
          </a:xfrm>
          <a:prstGeom prst="rect">
            <a:avLst/>
          </a:prstGeom>
          <a:noFill/>
        </p:spPr>
        <p:txBody>
          <a:bodyPr wrap="square">
            <a:spAutoFit/>
          </a:bodyPr>
          <a:lstStyle/>
          <a:p>
            <a:r>
              <a:rPr lang="en-IN" b="1" i="0" dirty="0">
                <a:solidFill>
                  <a:srgbClr val="333333"/>
                </a:solidFill>
                <a:effectLst/>
                <a:latin typeface="inter-bold"/>
              </a:rPr>
              <a:t>Sentiment Analysis</a:t>
            </a:r>
            <a:endParaRPr lang="en-IN" dirty="0"/>
          </a:p>
        </p:txBody>
      </p:sp>
      <p:sp>
        <p:nvSpPr>
          <p:cNvPr id="11" name="TextBox 10">
            <a:extLst>
              <a:ext uri="{FF2B5EF4-FFF2-40B4-BE49-F238E27FC236}">
                <a16:creationId xmlns:a16="http://schemas.microsoft.com/office/drawing/2014/main" id="{9BF1049A-B4F2-25D7-A2CD-BF9A0A8BD7C6}"/>
              </a:ext>
            </a:extLst>
          </p:cNvPr>
          <p:cNvSpPr txBox="1"/>
          <p:nvPr/>
        </p:nvSpPr>
        <p:spPr>
          <a:xfrm>
            <a:off x="449056" y="5714365"/>
            <a:ext cx="2451625" cy="369332"/>
          </a:xfrm>
          <a:prstGeom prst="rect">
            <a:avLst/>
          </a:prstGeom>
          <a:noFill/>
        </p:spPr>
        <p:txBody>
          <a:bodyPr wrap="square">
            <a:spAutoFit/>
          </a:bodyPr>
          <a:lstStyle/>
          <a:p>
            <a:r>
              <a:rPr lang="en-IN" b="1" i="0" dirty="0">
                <a:solidFill>
                  <a:srgbClr val="333333"/>
                </a:solidFill>
                <a:effectLst/>
                <a:latin typeface="inter-bold"/>
              </a:rPr>
              <a:t>Machine Translation</a:t>
            </a:r>
            <a:endParaRPr lang="en-IN" dirty="0"/>
          </a:p>
        </p:txBody>
      </p:sp>
      <p:sp>
        <p:nvSpPr>
          <p:cNvPr id="13" name="TextBox 12">
            <a:extLst>
              <a:ext uri="{FF2B5EF4-FFF2-40B4-BE49-F238E27FC236}">
                <a16:creationId xmlns:a16="http://schemas.microsoft.com/office/drawing/2014/main" id="{A0480275-026A-F5ED-2459-8CF1FED34D33}"/>
              </a:ext>
            </a:extLst>
          </p:cNvPr>
          <p:cNvSpPr txBox="1"/>
          <p:nvPr/>
        </p:nvSpPr>
        <p:spPr>
          <a:xfrm>
            <a:off x="5176237" y="4974545"/>
            <a:ext cx="2108534" cy="369332"/>
          </a:xfrm>
          <a:prstGeom prst="rect">
            <a:avLst/>
          </a:prstGeom>
          <a:noFill/>
        </p:spPr>
        <p:txBody>
          <a:bodyPr wrap="square">
            <a:spAutoFit/>
          </a:bodyPr>
          <a:lstStyle/>
          <a:p>
            <a:r>
              <a:rPr lang="en-IN" b="1" i="0" dirty="0">
                <a:solidFill>
                  <a:srgbClr val="333333"/>
                </a:solidFill>
                <a:effectLst/>
                <a:latin typeface="inter-bold"/>
              </a:rPr>
              <a:t>Spelling correction</a:t>
            </a:r>
            <a:endParaRPr lang="en-IN" dirty="0"/>
          </a:p>
        </p:txBody>
      </p:sp>
      <p:sp>
        <p:nvSpPr>
          <p:cNvPr id="15" name="TextBox 14">
            <a:extLst>
              <a:ext uri="{FF2B5EF4-FFF2-40B4-BE49-F238E27FC236}">
                <a16:creationId xmlns:a16="http://schemas.microsoft.com/office/drawing/2014/main" id="{6B28737F-E9B3-84FC-4BFE-4BC6C7E85FBF}"/>
              </a:ext>
            </a:extLst>
          </p:cNvPr>
          <p:cNvSpPr txBox="1"/>
          <p:nvPr/>
        </p:nvSpPr>
        <p:spPr>
          <a:xfrm>
            <a:off x="9374933" y="5643944"/>
            <a:ext cx="1695144" cy="369332"/>
          </a:xfrm>
          <a:prstGeom prst="rect">
            <a:avLst/>
          </a:prstGeom>
          <a:noFill/>
        </p:spPr>
        <p:txBody>
          <a:bodyPr wrap="square">
            <a:spAutoFit/>
          </a:bodyPr>
          <a:lstStyle/>
          <a:p>
            <a:r>
              <a:rPr lang="en-IN" b="1" i="0" dirty="0">
                <a:solidFill>
                  <a:srgbClr val="333333"/>
                </a:solidFill>
                <a:effectLst/>
                <a:latin typeface="inter-bold"/>
              </a:rPr>
              <a:t>Chatbot</a:t>
            </a:r>
            <a:endParaRPr lang="en-IN" dirty="0"/>
          </a:p>
        </p:txBody>
      </p:sp>
      <p:sp>
        <p:nvSpPr>
          <p:cNvPr id="16" name="TextBox 15">
            <a:extLst>
              <a:ext uri="{FF2B5EF4-FFF2-40B4-BE49-F238E27FC236}">
                <a16:creationId xmlns:a16="http://schemas.microsoft.com/office/drawing/2014/main" id="{F03BFE40-E5C7-2347-B33E-DDCA15904B54}"/>
              </a:ext>
            </a:extLst>
          </p:cNvPr>
          <p:cNvSpPr txBox="1"/>
          <p:nvPr/>
        </p:nvSpPr>
        <p:spPr>
          <a:xfrm>
            <a:off x="1178544" y="939344"/>
            <a:ext cx="2276669" cy="369332"/>
          </a:xfrm>
          <a:prstGeom prst="rect">
            <a:avLst/>
          </a:prstGeom>
          <a:noFill/>
        </p:spPr>
        <p:txBody>
          <a:bodyPr wrap="square" rtlCol="0">
            <a:spAutoFit/>
          </a:bodyPr>
          <a:lstStyle/>
          <a:p>
            <a:r>
              <a:rPr lang="en-IN" b="1" dirty="0"/>
              <a:t>Google Home , Alexa</a:t>
            </a:r>
          </a:p>
        </p:txBody>
      </p:sp>
    </p:spTree>
    <p:extLst>
      <p:ext uri="{BB962C8B-B14F-4D97-AF65-F5344CB8AC3E}">
        <p14:creationId xmlns:p14="http://schemas.microsoft.com/office/powerpoint/2010/main" val="1856740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D70AB-3C0F-AF72-447F-B6B46343FC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BFF01B-1F6D-9059-DB97-A220BA5236CA}"/>
              </a:ext>
            </a:extLst>
          </p:cNvPr>
          <p:cNvSpPr>
            <a:spLocks noGrp="1"/>
          </p:cNvSpPr>
          <p:nvPr>
            <p:ph type="title"/>
          </p:nvPr>
        </p:nvSpPr>
        <p:spPr>
          <a:xfrm>
            <a:off x="838200" y="90805"/>
            <a:ext cx="10515600" cy="721995"/>
          </a:xfrm>
        </p:spPr>
        <p:txBody>
          <a:bodyPr/>
          <a:lstStyle/>
          <a:p>
            <a:pPr algn="ctr"/>
            <a:r>
              <a:rPr lang="en-IN" dirty="0">
                <a:solidFill>
                  <a:srgbClr val="FF0000"/>
                </a:solidFill>
              </a:rPr>
              <a:t>NLP Pipeline</a:t>
            </a:r>
          </a:p>
        </p:txBody>
      </p:sp>
      <p:sp>
        <p:nvSpPr>
          <p:cNvPr id="8" name="TextBox 7">
            <a:extLst>
              <a:ext uri="{FF2B5EF4-FFF2-40B4-BE49-F238E27FC236}">
                <a16:creationId xmlns:a16="http://schemas.microsoft.com/office/drawing/2014/main" id="{7BCD91A3-E4D8-22FD-67D1-DF3587F597B6}"/>
              </a:ext>
            </a:extLst>
          </p:cNvPr>
          <p:cNvSpPr txBox="1"/>
          <p:nvPr/>
        </p:nvSpPr>
        <p:spPr>
          <a:xfrm>
            <a:off x="162560" y="1180991"/>
            <a:ext cx="11689080" cy="461665"/>
          </a:xfrm>
          <a:prstGeom prst="rect">
            <a:avLst/>
          </a:prstGeom>
          <a:noFill/>
        </p:spPr>
        <p:txBody>
          <a:bodyPr wrap="square">
            <a:spAutoFit/>
          </a:bodyPr>
          <a:lstStyle/>
          <a:p>
            <a:pPr algn="just"/>
            <a:r>
              <a:rPr lang="en-US" sz="2400" dirty="0">
                <a:solidFill>
                  <a:srgbClr val="FF0000"/>
                </a:solidFill>
              </a:rPr>
              <a:t>Main components of a generic pipeline NLP system</a:t>
            </a:r>
            <a:endParaRPr lang="en-IN" sz="2400" dirty="0">
              <a:solidFill>
                <a:srgbClr val="FF0000"/>
              </a:solidFill>
            </a:endParaRPr>
          </a:p>
        </p:txBody>
      </p:sp>
      <p:pic>
        <p:nvPicPr>
          <p:cNvPr id="4" name="Picture 3">
            <a:extLst>
              <a:ext uri="{FF2B5EF4-FFF2-40B4-BE49-F238E27FC236}">
                <a16:creationId xmlns:a16="http://schemas.microsoft.com/office/drawing/2014/main" id="{5FB40467-3120-9133-DCCC-44449C04BD3C}"/>
              </a:ext>
            </a:extLst>
          </p:cNvPr>
          <p:cNvPicPr>
            <a:picLocks noChangeAspect="1"/>
          </p:cNvPicPr>
          <p:nvPr/>
        </p:nvPicPr>
        <p:blipFill>
          <a:blip r:embed="rId2"/>
          <a:stretch>
            <a:fillRect/>
          </a:stretch>
        </p:blipFill>
        <p:spPr>
          <a:xfrm>
            <a:off x="957473" y="2658712"/>
            <a:ext cx="8791047" cy="2710124"/>
          </a:xfrm>
          <a:prstGeom prst="rect">
            <a:avLst/>
          </a:prstGeom>
        </p:spPr>
      </p:pic>
    </p:spTree>
    <p:extLst>
      <p:ext uri="{BB962C8B-B14F-4D97-AF65-F5344CB8AC3E}">
        <p14:creationId xmlns:p14="http://schemas.microsoft.com/office/powerpoint/2010/main" val="4042876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56D02-960C-AE8B-B526-8A60923EA1F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CED0B7-2C3F-44EF-76FD-453F72925B54}"/>
              </a:ext>
            </a:extLst>
          </p:cNvPr>
          <p:cNvSpPr>
            <a:spLocks noGrp="1"/>
          </p:cNvSpPr>
          <p:nvPr>
            <p:ph type="title"/>
          </p:nvPr>
        </p:nvSpPr>
        <p:spPr>
          <a:xfrm>
            <a:off x="838200" y="90805"/>
            <a:ext cx="10515600" cy="721995"/>
          </a:xfrm>
        </p:spPr>
        <p:txBody>
          <a:bodyPr/>
          <a:lstStyle/>
          <a:p>
            <a:pPr algn="ctr"/>
            <a:r>
              <a:rPr lang="en-IN" dirty="0">
                <a:solidFill>
                  <a:srgbClr val="FF0000"/>
                </a:solidFill>
              </a:rPr>
              <a:t>NLP Pipeline</a:t>
            </a:r>
          </a:p>
        </p:txBody>
      </p:sp>
      <p:sp>
        <p:nvSpPr>
          <p:cNvPr id="8" name="TextBox 7">
            <a:extLst>
              <a:ext uri="{FF2B5EF4-FFF2-40B4-BE49-F238E27FC236}">
                <a16:creationId xmlns:a16="http://schemas.microsoft.com/office/drawing/2014/main" id="{74D5174A-D640-4DC0-EA55-B71DAFA13127}"/>
              </a:ext>
            </a:extLst>
          </p:cNvPr>
          <p:cNvSpPr txBox="1"/>
          <p:nvPr/>
        </p:nvSpPr>
        <p:spPr>
          <a:xfrm>
            <a:off x="162560" y="1180991"/>
            <a:ext cx="11689080" cy="4154984"/>
          </a:xfrm>
          <a:prstGeom prst="rect">
            <a:avLst/>
          </a:prstGeom>
          <a:noFill/>
        </p:spPr>
        <p:txBody>
          <a:bodyPr wrap="square">
            <a:spAutoFit/>
          </a:bodyPr>
          <a:lstStyle/>
          <a:p>
            <a:pPr algn="just"/>
            <a:r>
              <a:rPr lang="en-US" sz="2400" i="0" dirty="0">
                <a:solidFill>
                  <a:srgbClr val="FF0000"/>
                </a:solidFill>
                <a:effectLst/>
              </a:rPr>
              <a:t>Data acquisition:</a:t>
            </a:r>
          </a:p>
          <a:p>
            <a:pPr marL="342900" indent="-342900" algn="just">
              <a:buFont typeface="Arial" panose="020B0604020202020204" pitchFamily="34" charset="0"/>
              <a:buChar char="•"/>
            </a:pPr>
            <a:r>
              <a:rPr lang="en-US" sz="2400" i="0" dirty="0">
                <a:effectLst/>
              </a:rPr>
              <a:t>Data acquisition involves obtaining </a:t>
            </a:r>
            <a:r>
              <a:rPr lang="en-US" sz="2400" i="0" dirty="0">
                <a:solidFill>
                  <a:srgbClr val="7030A0"/>
                </a:solidFill>
                <a:effectLst/>
              </a:rPr>
              <a:t>raw textual data </a:t>
            </a:r>
            <a:r>
              <a:rPr lang="en-US" sz="2400" i="0" dirty="0">
                <a:effectLst/>
              </a:rPr>
              <a:t>from various sources to create a </a:t>
            </a:r>
            <a:r>
              <a:rPr lang="en-US" sz="2400" i="0" dirty="0">
                <a:solidFill>
                  <a:srgbClr val="7030A0"/>
                </a:solidFill>
                <a:effectLst/>
              </a:rPr>
              <a:t>dataset</a:t>
            </a:r>
            <a:r>
              <a:rPr lang="en-US" sz="2400" i="0" dirty="0">
                <a:effectLst/>
              </a:rPr>
              <a:t> for NLP tasks.</a:t>
            </a:r>
          </a:p>
          <a:p>
            <a:pPr marL="342900" indent="-342900" algn="just">
              <a:buFont typeface="Arial" panose="020B0604020202020204" pitchFamily="34" charset="0"/>
              <a:buChar char="•"/>
            </a:pPr>
            <a:r>
              <a:rPr lang="en-US" sz="2400" i="0" dirty="0">
                <a:effectLst/>
              </a:rPr>
              <a:t>various sources like </a:t>
            </a:r>
            <a:r>
              <a:rPr kumimoji="0" lang="en-US" altLang="en-US" sz="2400" i="0" u="none" strike="noStrike" cap="none" normalizeH="0" baseline="0" dirty="0">
                <a:ln>
                  <a:noFill/>
                </a:ln>
                <a:effectLst/>
              </a:rPr>
              <a:t>Documents, Emails</a:t>
            </a:r>
            <a:r>
              <a:rPr lang="en-US" altLang="en-US" sz="2400" dirty="0"/>
              <a:t>, </a:t>
            </a:r>
            <a:r>
              <a:rPr kumimoji="0" lang="en-US" altLang="en-US" sz="2400" i="0" u="none" strike="noStrike" cap="none" normalizeH="0" baseline="0" dirty="0">
                <a:ln>
                  <a:noFill/>
                </a:ln>
                <a:effectLst/>
              </a:rPr>
              <a:t>Social media posts, Transcribed speech, Application logs, </a:t>
            </a:r>
            <a:r>
              <a:rPr lang="en-US" sz="2400" i="0" dirty="0">
                <a:effectLst/>
              </a:rPr>
              <a:t>Public Dataset, </a:t>
            </a:r>
            <a:r>
              <a:rPr lang="en-US" sz="2400" dirty="0"/>
              <a:t>Web Scrapping, Image to Text</a:t>
            </a:r>
            <a:r>
              <a:rPr lang="en-US" sz="2400" i="0" dirty="0">
                <a:effectLst/>
              </a:rPr>
              <a:t>, </a:t>
            </a:r>
            <a:r>
              <a:rPr lang="en-US" sz="2400" dirty="0"/>
              <a:t>pdf to Text</a:t>
            </a:r>
            <a:r>
              <a:rPr lang="en-US" sz="2400" i="0" dirty="0">
                <a:effectLst/>
              </a:rPr>
              <a:t> ,</a:t>
            </a:r>
            <a:r>
              <a:rPr lang="en-US" sz="2400" dirty="0"/>
              <a:t>Data augmentation</a:t>
            </a:r>
            <a:r>
              <a:rPr lang="en-US" sz="2400" dirty="0">
                <a:solidFill>
                  <a:srgbClr val="242424"/>
                </a:solidFill>
                <a:latin typeface="source-serif-pro"/>
              </a:rPr>
              <a:t>.</a:t>
            </a:r>
          </a:p>
          <a:p>
            <a:pPr marL="342900" indent="-342900" algn="just">
              <a:buFont typeface="Arial" panose="020B0604020202020204" pitchFamily="34" charset="0"/>
              <a:buChar char="•"/>
            </a:pPr>
            <a:endParaRPr lang="en-US" sz="2400" i="0" dirty="0">
              <a:solidFill>
                <a:srgbClr val="242424"/>
              </a:solidFill>
              <a:effectLst/>
              <a:latin typeface="source-serif-pro"/>
            </a:endParaRPr>
          </a:p>
          <a:p>
            <a:pPr algn="just"/>
            <a:r>
              <a:rPr lang="en-IN" sz="2400" b="1" i="0" dirty="0">
                <a:solidFill>
                  <a:srgbClr val="FF0000"/>
                </a:solidFill>
                <a:effectLst/>
                <a:latin typeface="Nunito" pitchFamily="2" charset="0"/>
              </a:rPr>
              <a:t>Text Cleaning :</a:t>
            </a:r>
          </a:p>
          <a:p>
            <a:pPr marL="342900" indent="-342900" algn="just">
              <a:buFont typeface="Arial" panose="020B0604020202020204" pitchFamily="34" charset="0"/>
              <a:buChar char="•"/>
            </a:pPr>
            <a:r>
              <a:rPr lang="en-US" sz="2400" b="0" i="0" dirty="0">
                <a:effectLst/>
              </a:rPr>
              <a:t>Sometimes our acquired data is not very clean. </a:t>
            </a:r>
          </a:p>
          <a:p>
            <a:pPr marL="342900" indent="-342900" algn="just">
              <a:buFont typeface="Arial" panose="020B0604020202020204" pitchFamily="34" charset="0"/>
              <a:buChar char="•"/>
            </a:pPr>
            <a:r>
              <a:rPr lang="en-US" sz="2400" b="0" i="0" dirty="0">
                <a:effectLst/>
              </a:rPr>
              <a:t>it may contain HTML tags, spelling mistakes, or special characters. </a:t>
            </a:r>
          </a:p>
          <a:p>
            <a:pPr marL="342900" indent="-342900" algn="just">
              <a:buFont typeface="Arial" panose="020B0604020202020204" pitchFamily="34" charset="0"/>
              <a:buChar char="•"/>
            </a:pPr>
            <a:r>
              <a:rPr lang="en-US" sz="2400" b="0" i="0" dirty="0">
                <a:effectLst/>
              </a:rPr>
              <a:t>So, use some techniques to clean our text data.</a:t>
            </a:r>
            <a:endParaRPr lang="en-US" sz="2400" i="0" dirty="0">
              <a:effectLst/>
            </a:endParaRPr>
          </a:p>
        </p:txBody>
      </p:sp>
    </p:spTree>
    <p:extLst>
      <p:ext uri="{BB962C8B-B14F-4D97-AF65-F5344CB8AC3E}">
        <p14:creationId xmlns:p14="http://schemas.microsoft.com/office/powerpoint/2010/main" val="3857711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B2281-E82D-BA83-8557-0F59192C5C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A5FDB6-5B1C-A337-1DF8-E4F959A2D939}"/>
              </a:ext>
            </a:extLst>
          </p:cNvPr>
          <p:cNvSpPr>
            <a:spLocks noGrp="1"/>
          </p:cNvSpPr>
          <p:nvPr>
            <p:ph type="title"/>
          </p:nvPr>
        </p:nvSpPr>
        <p:spPr>
          <a:xfrm>
            <a:off x="838200" y="90805"/>
            <a:ext cx="10515600" cy="721995"/>
          </a:xfrm>
        </p:spPr>
        <p:txBody>
          <a:bodyPr/>
          <a:lstStyle/>
          <a:p>
            <a:pPr algn="ctr"/>
            <a:r>
              <a:rPr lang="en-IN" dirty="0">
                <a:solidFill>
                  <a:srgbClr val="FF0000"/>
                </a:solidFill>
              </a:rPr>
              <a:t>NLP Pipeline</a:t>
            </a:r>
          </a:p>
        </p:txBody>
      </p:sp>
      <p:sp>
        <p:nvSpPr>
          <p:cNvPr id="8" name="TextBox 7">
            <a:extLst>
              <a:ext uri="{FF2B5EF4-FFF2-40B4-BE49-F238E27FC236}">
                <a16:creationId xmlns:a16="http://schemas.microsoft.com/office/drawing/2014/main" id="{E40A5DAD-A9D6-C168-F481-40E20EF7E9C4}"/>
              </a:ext>
            </a:extLst>
          </p:cNvPr>
          <p:cNvSpPr txBox="1"/>
          <p:nvPr/>
        </p:nvSpPr>
        <p:spPr>
          <a:xfrm>
            <a:off x="251460" y="812800"/>
            <a:ext cx="11689080" cy="6370975"/>
          </a:xfrm>
          <a:prstGeom prst="rect">
            <a:avLst/>
          </a:prstGeom>
          <a:noFill/>
        </p:spPr>
        <p:txBody>
          <a:bodyPr wrap="square">
            <a:spAutoFit/>
          </a:bodyPr>
          <a:lstStyle/>
          <a:p>
            <a:pPr algn="l" fontAlgn="base"/>
            <a:r>
              <a:rPr lang="en-IN" sz="2400" b="1" i="0" dirty="0">
                <a:solidFill>
                  <a:srgbClr val="FF0000"/>
                </a:solidFill>
                <a:effectLst/>
              </a:rPr>
              <a:t>Text Preprocessing:</a:t>
            </a:r>
          </a:p>
          <a:p>
            <a:pPr marL="342900" indent="-342900">
              <a:buFont typeface="Arial" panose="020B0604020202020204" pitchFamily="34" charset="0"/>
              <a:buChar char="•"/>
            </a:pPr>
            <a:r>
              <a:rPr lang="en-US" sz="2400" dirty="0"/>
              <a:t>Preprocessing prepares the text for further analysis by cleaning and structuring it.</a:t>
            </a:r>
          </a:p>
          <a:p>
            <a:r>
              <a:rPr lang="en-US" sz="2400" b="1" dirty="0"/>
              <a:t>Steps in Preprocessing</a:t>
            </a:r>
            <a:r>
              <a:rPr lang="en-US" sz="2400" dirty="0"/>
              <a:t>:</a:t>
            </a:r>
          </a:p>
          <a:p>
            <a:r>
              <a:rPr lang="en-US" sz="2400" b="1" dirty="0"/>
              <a:t>Tokenization</a:t>
            </a:r>
            <a:r>
              <a:rPr lang="en-US" sz="2400" dirty="0"/>
              <a:t>: Splitting text into smaller units like words or sentences.</a:t>
            </a:r>
          </a:p>
          <a:p>
            <a:pPr marL="742950" lvl="1" indent="-285750">
              <a:buFont typeface="Arial" panose="020B0604020202020204" pitchFamily="34" charset="0"/>
              <a:buChar char="•"/>
            </a:pPr>
            <a:r>
              <a:rPr lang="en-US" sz="2400" dirty="0"/>
              <a:t>Example: "I love NLP!" → ["I", "love", "NLP", "!"]</a:t>
            </a:r>
          </a:p>
          <a:p>
            <a:r>
              <a:rPr lang="en-US" sz="2400" b="1" dirty="0"/>
              <a:t>Lowercasing</a:t>
            </a:r>
            <a:r>
              <a:rPr lang="en-US" sz="2400" dirty="0"/>
              <a:t>: Converting all text to lowercase for consistency.</a:t>
            </a:r>
          </a:p>
          <a:p>
            <a:pPr marL="742950" lvl="1" indent="-285750">
              <a:buFont typeface="Arial" panose="020B0604020202020204" pitchFamily="34" charset="0"/>
              <a:buChar char="•"/>
            </a:pPr>
            <a:r>
              <a:rPr lang="en-US" sz="2400" dirty="0"/>
              <a:t>Example: "Natural Language Processing" → "natural language processing"</a:t>
            </a:r>
          </a:p>
          <a:p>
            <a:r>
              <a:rPr lang="en-US" sz="2400" b="1" dirty="0"/>
              <a:t>Stop-word Removal</a:t>
            </a:r>
            <a:r>
              <a:rPr lang="en-US" sz="2400" dirty="0"/>
              <a:t>: Eliminating common, non-informative words.</a:t>
            </a:r>
          </a:p>
          <a:p>
            <a:pPr marL="742950" lvl="1" indent="-285750">
              <a:buFont typeface="Arial" panose="020B0604020202020204" pitchFamily="34" charset="0"/>
              <a:buChar char="•"/>
            </a:pPr>
            <a:r>
              <a:rPr lang="en-US" sz="2400" dirty="0"/>
              <a:t>Example: Removing "the," "is," "and."</a:t>
            </a:r>
          </a:p>
          <a:p>
            <a:r>
              <a:rPr lang="en-US" sz="2400" b="1" dirty="0"/>
              <a:t>Lemmatization/Stemming</a:t>
            </a:r>
            <a:r>
              <a:rPr lang="en-US" sz="2400" dirty="0"/>
              <a:t>: Reducing words to their root or base forms.</a:t>
            </a:r>
          </a:p>
          <a:p>
            <a:pPr marL="742950" lvl="1" indent="-285750">
              <a:buFont typeface="Arial" panose="020B0604020202020204" pitchFamily="34" charset="0"/>
              <a:buChar char="•"/>
            </a:pPr>
            <a:r>
              <a:rPr lang="en-US" sz="2400" dirty="0"/>
              <a:t>Lemmatization: "running" → "run"</a:t>
            </a:r>
          </a:p>
          <a:p>
            <a:pPr marL="742950" lvl="1" indent="-285750">
              <a:buFont typeface="Arial" panose="020B0604020202020204" pitchFamily="34" charset="0"/>
              <a:buChar char="•"/>
            </a:pPr>
            <a:r>
              <a:rPr lang="en-US" sz="2400" dirty="0"/>
              <a:t>Stemming: "flies" → "</a:t>
            </a:r>
            <a:r>
              <a:rPr lang="en-US" sz="2400" dirty="0" err="1"/>
              <a:t>fli</a:t>
            </a:r>
            <a:r>
              <a:rPr lang="en-US" sz="2400" dirty="0"/>
              <a:t>"</a:t>
            </a:r>
          </a:p>
          <a:p>
            <a:r>
              <a:rPr lang="en-US" sz="2400" b="1" dirty="0"/>
              <a:t>Punctuation and Special Character Removal</a:t>
            </a:r>
            <a:r>
              <a:rPr lang="en-US" sz="2400" dirty="0"/>
              <a:t>: Removing unnecessary symbols or noise.</a:t>
            </a:r>
          </a:p>
          <a:p>
            <a:pPr fontAlgn="base"/>
            <a:r>
              <a:rPr lang="en-US" sz="2400" b="1" dirty="0"/>
              <a:t>Part-of-Speech (POS) Tagging</a:t>
            </a:r>
            <a:r>
              <a:rPr lang="en-US" sz="2400" dirty="0"/>
              <a:t>: </a:t>
            </a:r>
            <a:r>
              <a:rPr lang="en-US" sz="2400" b="0" i="0" dirty="0">
                <a:solidFill>
                  <a:srgbClr val="273239"/>
                </a:solidFill>
                <a:effectLst/>
              </a:rPr>
              <a:t>POS tagging involves assigning a part of speech tag to each word in a text. </a:t>
            </a:r>
          </a:p>
          <a:p>
            <a:pPr fontAlgn="base"/>
            <a:r>
              <a:rPr lang="en-US" sz="2400" dirty="0"/>
              <a:t>	Example: "I love NLP." → [("I", Pronoun), ("love", Verb), ("NLP", Noun)]</a:t>
            </a:r>
          </a:p>
          <a:p>
            <a:pPr algn="l" fontAlgn="base"/>
            <a:endParaRPr lang="en-IN" sz="2400" b="1" i="0" dirty="0">
              <a:solidFill>
                <a:srgbClr val="273239"/>
              </a:solidFill>
              <a:effectLst/>
              <a:latin typeface="Nunito" pitchFamily="2" charset="0"/>
            </a:endParaRPr>
          </a:p>
        </p:txBody>
      </p:sp>
    </p:spTree>
    <p:extLst>
      <p:ext uri="{BB962C8B-B14F-4D97-AF65-F5344CB8AC3E}">
        <p14:creationId xmlns:p14="http://schemas.microsoft.com/office/powerpoint/2010/main" val="1465420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CB86D-D8AC-1578-ECF9-9B3BE886E1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D2980-968E-B076-457E-F9B729A71638}"/>
              </a:ext>
            </a:extLst>
          </p:cNvPr>
          <p:cNvSpPr>
            <a:spLocks noGrp="1"/>
          </p:cNvSpPr>
          <p:nvPr>
            <p:ph type="title"/>
          </p:nvPr>
        </p:nvSpPr>
        <p:spPr>
          <a:xfrm>
            <a:off x="838200" y="90805"/>
            <a:ext cx="10515600" cy="721995"/>
          </a:xfrm>
        </p:spPr>
        <p:txBody>
          <a:bodyPr/>
          <a:lstStyle/>
          <a:p>
            <a:pPr algn="ctr"/>
            <a:r>
              <a:rPr lang="en-IN" dirty="0">
                <a:solidFill>
                  <a:srgbClr val="FF0000"/>
                </a:solidFill>
              </a:rPr>
              <a:t>NLP Pipeline</a:t>
            </a:r>
          </a:p>
        </p:txBody>
      </p:sp>
      <p:sp>
        <p:nvSpPr>
          <p:cNvPr id="8" name="TextBox 7">
            <a:extLst>
              <a:ext uri="{FF2B5EF4-FFF2-40B4-BE49-F238E27FC236}">
                <a16:creationId xmlns:a16="http://schemas.microsoft.com/office/drawing/2014/main" id="{6B7E5637-9CEB-CA28-9FA4-5F30798F4562}"/>
              </a:ext>
            </a:extLst>
          </p:cNvPr>
          <p:cNvSpPr txBox="1"/>
          <p:nvPr/>
        </p:nvSpPr>
        <p:spPr>
          <a:xfrm>
            <a:off x="251460" y="812800"/>
            <a:ext cx="11689080" cy="6186309"/>
          </a:xfrm>
          <a:prstGeom prst="rect">
            <a:avLst/>
          </a:prstGeom>
          <a:noFill/>
        </p:spPr>
        <p:txBody>
          <a:bodyPr wrap="square">
            <a:spAutoFit/>
          </a:bodyPr>
          <a:lstStyle/>
          <a:p>
            <a:pPr algn="l" fontAlgn="base"/>
            <a:r>
              <a:rPr lang="en-IN" sz="2400" b="1" i="0" dirty="0">
                <a:solidFill>
                  <a:srgbClr val="FF0000"/>
                </a:solidFill>
                <a:effectLst/>
              </a:rPr>
              <a:t>Feature Engineering/Feature Extraction:</a:t>
            </a:r>
          </a:p>
          <a:p>
            <a:pPr marL="342900" indent="-342900">
              <a:buFont typeface="Arial" panose="020B0604020202020204" pitchFamily="34" charset="0"/>
              <a:buChar char="•"/>
            </a:pPr>
            <a:r>
              <a:rPr lang="en-US" sz="2400" dirty="0"/>
              <a:t>The goal of feature engineering is to </a:t>
            </a:r>
            <a:r>
              <a:rPr lang="en-US" sz="2400" dirty="0">
                <a:solidFill>
                  <a:srgbClr val="7030A0"/>
                </a:solidFill>
              </a:rPr>
              <a:t>represent/convert the text into a numeric vector </a:t>
            </a:r>
            <a:r>
              <a:rPr lang="en-US" sz="2400" dirty="0"/>
              <a:t>that can be understood by the </a:t>
            </a:r>
            <a:r>
              <a:rPr lang="en-US" sz="2400" dirty="0">
                <a:solidFill>
                  <a:srgbClr val="7030A0"/>
                </a:solidFill>
              </a:rPr>
              <a:t>ML algorithms</a:t>
            </a:r>
            <a:r>
              <a:rPr lang="en-US" sz="2400" dirty="0"/>
              <a:t>.</a:t>
            </a:r>
          </a:p>
          <a:p>
            <a:pPr algn="l">
              <a:lnSpc>
                <a:spcPts val="2700"/>
              </a:lnSpc>
            </a:pPr>
            <a:r>
              <a:rPr lang="en-US" sz="2400" b="0" i="0" dirty="0">
                <a:effectLst/>
              </a:rPr>
              <a:t>In this step, we use multiple techniques to convert text to numerical vectors.</a:t>
            </a:r>
          </a:p>
          <a:p>
            <a:pPr algn="l"/>
            <a:r>
              <a:rPr lang="en-US" sz="2400" b="0" i="0" dirty="0">
                <a:effectLst/>
              </a:rPr>
              <a:t>        1. One Hot Encoder</a:t>
            </a:r>
          </a:p>
          <a:p>
            <a:pPr algn="l"/>
            <a:r>
              <a:rPr lang="en-US" sz="2400" b="0" i="0" dirty="0">
                <a:effectLst/>
              </a:rPr>
              <a:t>        2. Bag Of Word(BOW)</a:t>
            </a:r>
          </a:p>
          <a:p>
            <a:pPr algn="l"/>
            <a:r>
              <a:rPr lang="en-US" sz="2400" b="0" i="0" dirty="0">
                <a:effectLst/>
              </a:rPr>
              <a:t>        3. n-grams</a:t>
            </a:r>
          </a:p>
          <a:p>
            <a:pPr algn="l"/>
            <a:r>
              <a:rPr lang="en-US" sz="2400" b="0" i="0" dirty="0">
                <a:effectLst/>
              </a:rPr>
              <a:t>        4. </a:t>
            </a:r>
            <a:r>
              <a:rPr lang="en-US" sz="2400" b="0" i="0" dirty="0" err="1">
                <a:effectLst/>
              </a:rPr>
              <a:t>Tf-Idf</a:t>
            </a:r>
            <a:endParaRPr lang="en-US" sz="2400" b="0" i="0" dirty="0">
              <a:effectLst/>
            </a:endParaRPr>
          </a:p>
          <a:p>
            <a:pPr algn="l"/>
            <a:r>
              <a:rPr lang="en-US" sz="2400" b="0" i="0" dirty="0">
                <a:effectLst/>
              </a:rPr>
              <a:t>        5. Word2vec</a:t>
            </a:r>
          </a:p>
          <a:p>
            <a:pPr algn="l"/>
            <a:r>
              <a:rPr lang="en-US" sz="2400" b="1" i="0" dirty="0">
                <a:solidFill>
                  <a:srgbClr val="FF0000"/>
                </a:solidFill>
                <a:effectLst/>
              </a:rPr>
              <a:t>Modelling/Model Building</a:t>
            </a:r>
          </a:p>
          <a:p>
            <a:pPr marL="342900" indent="-342900" algn="l">
              <a:lnSpc>
                <a:spcPts val="2700"/>
              </a:lnSpc>
              <a:buFont typeface="Arial" panose="020B0604020202020204" pitchFamily="34" charset="0"/>
              <a:buChar char="•"/>
            </a:pPr>
            <a:r>
              <a:rPr lang="en-US" sz="2400" b="0" i="0" dirty="0">
                <a:solidFill>
                  <a:srgbClr val="383838"/>
                </a:solidFill>
                <a:effectLst/>
              </a:rPr>
              <a:t>In the modeling step, we try to make a model based on data. </a:t>
            </a:r>
          </a:p>
          <a:p>
            <a:pPr marL="342900" indent="-342900" algn="l">
              <a:lnSpc>
                <a:spcPts val="2700"/>
              </a:lnSpc>
              <a:buFont typeface="Arial" panose="020B0604020202020204" pitchFamily="34" charset="0"/>
              <a:buChar char="•"/>
            </a:pPr>
            <a:r>
              <a:rPr lang="en-US" sz="2400" dirty="0">
                <a:solidFill>
                  <a:srgbClr val="383838"/>
                </a:solidFill>
              </a:rPr>
              <a:t>H</a:t>
            </a:r>
            <a:r>
              <a:rPr lang="en-US" sz="2400" b="0" i="0" dirty="0">
                <a:solidFill>
                  <a:srgbClr val="383838"/>
                </a:solidFill>
                <a:effectLst/>
              </a:rPr>
              <a:t>ere also we can use multiple approaches to build the model based on the problem statement.</a:t>
            </a:r>
          </a:p>
          <a:p>
            <a:pPr algn="l">
              <a:lnSpc>
                <a:spcPts val="2700"/>
              </a:lnSpc>
            </a:pPr>
            <a:r>
              <a:rPr lang="en-US" sz="2400" b="0" i="0" dirty="0">
                <a:solidFill>
                  <a:srgbClr val="383838"/>
                </a:solidFill>
                <a:effectLst/>
              </a:rPr>
              <a:t>Approaches to building model –</a:t>
            </a:r>
            <a:br>
              <a:rPr lang="en-US" sz="2400" b="0" i="0" dirty="0">
                <a:solidFill>
                  <a:srgbClr val="383838"/>
                </a:solidFill>
                <a:effectLst/>
              </a:rPr>
            </a:br>
            <a:endParaRPr lang="en-US" sz="2400" b="0" i="0" dirty="0">
              <a:solidFill>
                <a:srgbClr val="383838"/>
              </a:solidFill>
              <a:effectLst/>
            </a:endParaRPr>
          </a:p>
          <a:p>
            <a:pPr marL="800100" lvl="1" indent="-342900">
              <a:lnSpc>
                <a:spcPts val="2700"/>
              </a:lnSpc>
              <a:buFont typeface="Arial" panose="020B0604020202020204" pitchFamily="34" charset="0"/>
              <a:buChar char="•"/>
            </a:pPr>
            <a:r>
              <a:rPr lang="en-US" sz="2400" b="0" i="0" dirty="0">
                <a:solidFill>
                  <a:srgbClr val="383838"/>
                </a:solidFill>
                <a:effectLst/>
              </a:rPr>
              <a:t>Machine Learning Approach</a:t>
            </a:r>
            <a:endParaRPr lang="en-US" sz="2400" dirty="0">
              <a:solidFill>
                <a:srgbClr val="383838"/>
              </a:solidFill>
            </a:endParaRPr>
          </a:p>
          <a:p>
            <a:pPr marL="800100" lvl="1" indent="-342900">
              <a:lnSpc>
                <a:spcPts val="2700"/>
              </a:lnSpc>
              <a:buFont typeface="Arial" panose="020B0604020202020204" pitchFamily="34" charset="0"/>
              <a:buChar char="•"/>
            </a:pPr>
            <a:r>
              <a:rPr lang="en-US" sz="2400" b="0" i="0" dirty="0">
                <a:solidFill>
                  <a:srgbClr val="383838"/>
                </a:solidFill>
                <a:effectLst/>
              </a:rPr>
              <a:t>Deep Learning Approach</a:t>
            </a:r>
          </a:p>
        </p:txBody>
      </p:sp>
    </p:spTree>
    <p:extLst>
      <p:ext uri="{BB962C8B-B14F-4D97-AF65-F5344CB8AC3E}">
        <p14:creationId xmlns:p14="http://schemas.microsoft.com/office/powerpoint/2010/main" val="431750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6DAC0-7F47-4999-1A76-80EE1801A8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FEE6298-ECE7-A727-3AFD-5708AA59E180}"/>
              </a:ext>
            </a:extLst>
          </p:cNvPr>
          <p:cNvSpPr>
            <a:spLocks noGrp="1"/>
          </p:cNvSpPr>
          <p:nvPr>
            <p:ph type="title"/>
          </p:nvPr>
        </p:nvSpPr>
        <p:spPr>
          <a:xfrm>
            <a:off x="838200" y="90805"/>
            <a:ext cx="10515600" cy="721995"/>
          </a:xfrm>
        </p:spPr>
        <p:txBody>
          <a:bodyPr/>
          <a:lstStyle/>
          <a:p>
            <a:pPr algn="ctr"/>
            <a:r>
              <a:rPr lang="en-IN" dirty="0">
                <a:solidFill>
                  <a:srgbClr val="FF0000"/>
                </a:solidFill>
              </a:rPr>
              <a:t>NLP Pipeline</a:t>
            </a:r>
          </a:p>
        </p:txBody>
      </p:sp>
      <p:sp>
        <p:nvSpPr>
          <p:cNvPr id="8" name="TextBox 7">
            <a:extLst>
              <a:ext uri="{FF2B5EF4-FFF2-40B4-BE49-F238E27FC236}">
                <a16:creationId xmlns:a16="http://schemas.microsoft.com/office/drawing/2014/main" id="{6D8B02AC-1C81-398D-5F83-2F9BFEC55F38}"/>
              </a:ext>
            </a:extLst>
          </p:cNvPr>
          <p:cNvSpPr txBox="1"/>
          <p:nvPr/>
        </p:nvSpPr>
        <p:spPr>
          <a:xfrm>
            <a:off x="251460" y="812800"/>
            <a:ext cx="11689080" cy="3347070"/>
          </a:xfrm>
          <a:prstGeom prst="rect">
            <a:avLst/>
          </a:prstGeom>
          <a:noFill/>
        </p:spPr>
        <p:txBody>
          <a:bodyPr wrap="square">
            <a:spAutoFit/>
          </a:bodyPr>
          <a:lstStyle/>
          <a:p>
            <a:pPr algn="l"/>
            <a:r>
              <a:rPr lang="en-IN" sz="2400" b="1" i="0" dirty="0">
                <a:solidFill>
                  <a:srgbClr val="FF0000"/>
                </a:solidFill>
                <a:effectLst/>
              </a:rPr>
              <a:t>Model Evaluation:</a:t>
            </a:r>
          </a:p>
          <a:p>
            <a:pPr marL="342900" indent="-342900" algn="l">
              <a:buFont typeface="Arial" panose="020B0604020202020204" pitchFamily="34" charset="0"/>
              <a:buChar char="•"/>
            </a:pPr>
            <a:r>
              <a:rPr lang="en-US" sz="2400" b="0" i="0" dirty="0">
                <a:effectLst/>
              </a:rPr>
              <a:t>In this evaluation, we use multiple metrics to check our model such as Accuracy, Recall, Confusion Metrics, etc.</a:t>
            </a:r>
          </a:p>
          <a:p>
            <a:pPr algn="l"/>
            <a:endParaRPr lang="en-US" sz="2400" dirty="0"/>
          </a:p>
          <a:p>
            <a:pPr algn="l"/>
            <a:r>
              <a:rPr lang="en-US" sz="2400" b="1" i="0" dirty="0">
                <a:solidFill>
                  <a:srgbClr val="FF0000"/>
                </a:solidFill>
                <a:effectLst/>
              </a:rPr>
              <a:t>Deployment</a:t>
            </a:r>
          </a:p>
          <a:p>
            <a:pPr marL="342900" indent="-342900" algn="l">
              <a:lnSpc>
                <a:spcPts val="2700"/>
              </a:lnSpc>
              <a:buFont typeface="Arial" panose="020B0604020202020204" pitchFamily="34" charset="0"/>
              <a:buChar char="•"/>
            </a:pPr>
            <a:r>
              <a:rPr lang="en-US" sz="2400" b="0" i="0" dirty="0">
                <a:effectLst/>
              </a:rPr>
              <a:t>In the deployment step, we have to deploy our model on the cloud/Server for the users  and users can use this model. </a:t>
            </a:r>
          </a:p>
          <a:p>
            <a:pPr marL="342900" indent="-342900" algn="l">
              <a:lnSpc>
                <a:spcPts val="2700"/>
              </a:lnSpc>
              <a:buFont typeface="Arial" panose="020B0604020202020204" pitchFamily="34" charset="0"/>
              <a:buChar char="•"/>
            </a:pPr>
            <a:r>
              <a:rPr lang="en-US" sz="2400" dirty="0"/>
              <a:t>D</a:t>
            </a:r>
            <a:r>
              <a:rPr lang="en-US" sz="2400" b="0" i="0" dirty="0">
                <a:effectLst/>
              </a:rPr>
              <a:t>eployment has three stages </a:t>
            </a:r>
            <a:r>
              <a:rPr lang="en-US" sz="2400" b="0" i="0" dirty="0">
                <a:solidFill>
                  <a:srgbClr val="7030A0"/>
                </a:solidFill>
                <a:effectLst/>
              </a:rPr>
              <a:t>deployment, monitoring, </a:t>
            </a:r>
            <a:r>
              <a:rPr lang="en-US" sz="2400" b="0" i="0" dirty="0">
                <a:effectLst/>
              </a:rPr>
              <a:t>and</a:t>
            </a:r>
            <a:r>
              <a:rPr lang="en-US" sz="2400" b="0" i="0" dirty="0">
                <a:solidFill>
                  <a:srgbClr val="7030A0"/>
                </a:solidFill>
                <a:effectLst/>
              </a:rPr>
              <a:t> update</a:t>
            </a:r>
            <a:r>
              <a:rPr lang="en-US" sz="2400" b="0" i="0" dirty="0">
                <a:effectLst/>
              </a:rPr>
              <a:t>.</a:t>
            </a:r>
          </a:p>
          <a:p>
            <a:pPr algn="l"/>
            <a:endParaRPr lang="en-IN" sz="2400" b="0" i="0" dirty="0">
              <a:solidFill>
                <a:srgbClr val="383838"/>
              </a:solidFill>
              <a:effectLst/>
              <a:latin typeface="Inter"/>
            </a:endParaRPr>
          </a:p>
        </p:txBody>
      </p:sp>
    </p:spTree>
    <p:extLst>
      <p:ext uri="{BB962C8B-B14F-4D97-AF65-F5344CB8AC3E}">
        <p14:creationId xmlns:p14="http://schemas.microsoft.com/office/powerpoint/2010/main" val="799281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196A1-249E-6E3E-526E-EFCEED4DCDD1}"/>
              </a:ext>
            </a:extLst>
          </p:cNvPr>
          <p:cNvSpPr>
            <a:spLocks noGrp="1"/>
          </p:cNvSpPr>
          <p:nvPr>
            <p:ph type="title"/>
          </p:nvPr>
        </p:nvSpPr>
        <p:spPr>
          <a:xfrm>
            <a:off x="737118" y="113199"/>
            <a:ext cx="10515600" cy="483960"/>
          </a:xfrm>
        </p:spPr>
        <p:txBody>
          <a:bodyPr>
            <a:normAutofit fontScale="90000"/>
          </a:bodyPr>
          <a:lstStyle/>
          <a:p>
            <a:pPr algn="ctr"/>
            <a:r>
              <a:rPr lang="en-IN" b="1" dirty="0"/>
              <a:t>Challenges in NLP</a:t>
            </a:r>
            <a:endParaRPr lang="en-IN" dirty="0"/>
          </a:p>
        </p:txBody>
      </p:sp>
      <p:sp>
        <p:nvSpPr>
          <p:cNvPr id="3" name="Content Placeholder 2">
            <a:extLst>
              <a:ext uri="{FF2B5EF4-FFF2-40B4-BE49-F238E27FC236}">
                <a16:creationId xmlns:a16="http://schemas.microsoft.com/office/drawing/2014/main" id="{7C222AA4-30DF-F0D4-44BD-3FDFAA68D9CE}"/>
              </a:ext>
            </a:extLst>
          </p:cNvPr>
          <p:cNvSpPr>
            <a:spLocks noGrp="1"/>
          </p:cNvSpPr>
          <p:nvPr>
            <p:ph idx="1"/>
          </p:nvPr>
        </p:nvSpPr>
        <p:spPr>
          <a:xfrm>
            <a:off x="811763" y="1320800"/>
            <a:ext cx="11258317" cy="5274710"/>
          </a:xfrm>
        </p:spPr>
        <p:txBody>
          <a:bodyPr>
            <a:normAutofit/>
          </a:bodyPr>
          <a:lstStyle/>
          <a:p>
            <a:pPr marL="0" indent="0" algn="just">
              <a:buNone/>
            </a:pPr>
            <a:r>
              <a:rPr lang="en-US" sz="2400" b="1" dirty="0">
                <a:solidFill>
                  <a:srgbClr val="FF0000"/>
                </a:solidFill>
              </a:rPr>
              <a:t>Ambiguity</a:t>
            </a:r>
          </a:p>
          <a:p>
            <a:pPr algn="just">
              <a:buFont typeface="Arial" panose="020B0604020202020204" pitchFamily="34" charset="0"/>
              <a:buChar char="•"/>
            </a:pPr>
            <a:r>
              <a:rPr lang="en-US" sz="2400" b="1" dirty="0"/>
              <a:t>Lexical Ambiguity</a:t>
            </a:r>
            <a:r>
              <a:rPr lang="en-US" sz="2400" dirty="0"/>
              <a:t>: Words can have multiple meanings depending on context (e.g., "bank" could mean a financial institution or a riverbank).</a:t>
            </a:r>
          </a:p>
          <a:p>
            <a:pPr algn="just">
              <a:buFont typeface="Arial" panose="020B0604020202020204" pitchFamily="34" charset="0"/>
              <a:buChar char="•"/>
            </a:pPr>
            <a:r>
              <a:rPr lang="en-US" sz="2400" b="1" dirty="0"/>
              <a:t>Syntactic Ambiguity</a:t>
            </a:r>
            <a:r>
              <a:rPr lang="en-US" sz="2400" dirty="0"/>
              <a:t>: Sentences can have multiple valid grammatical interpretations (e.g., "I saw the man with a telescope").</a:t>
            </a:r>
          </a:p>
          <a:p>
            <a:pPr marL="0" indent="0" algn="just">
              <a:buNone/>
            </a:pPr>
            <a:r>
              <a:rPr lang="en-IN" sz="2400" b="1" i="0" dirty="0">
                <a:solidFill>
                  <a:srgbClr val="FF0000"/>
                </a:solidFill>
                <a:effectLst/>
              </a:rPr>
              <a:t>Misspellings</a:t>
            </a:r>
          </a:p>
          <a:p>
            <a:pPr algn="just"/>
            <a:r>
              <a:rPr lang="en-US" sz="2400" b="0" i="0" dirty="0">
                <a:solidFill>
                  <a:srgbClr val="000000"/>
                </a:solidFill>
                <a:effectLst/>
              </a:rPr>
              <a:t>Misspellings, can be more difficult for a machine to detect. </a:t>
            </a:r>
          </a:p>
          <a:p>
            <a:pPr algn="just"/>
            <a:r>
              <a:rPr lang="en-US" sz="2400" b="0" i="0" dirty="0">
                <a:solidFill>
                  <a:srgbClr val="000000"/>
                </a:solidFill>
                <a:effectLst/>
              </a:rPr>
              <a:t>You'll need to employ a natural language processing (NLP) technology that can identify and progress beyond typical misspellings of terms.</a:t>
            </a:r>
          </a:p>
          <a:p>
            <a:pPr marL="0" indent="0" algn="just">
              <a:buNone/>
            </a:pPr>
            <a:r>
              <a:rPr lang="en-US" sz="2400" b="1" dirty="0">
                <a:solidFill>
                  <a:srgbClr val="FF0000"/>
                </a:solidFill>
              </a:rPr>
              <a:t>Multilingual and Cross-Language Challenges</a:t>
            </a:r>
          </a:p>
          <a:p>
            <a:pPr algn="just">
              <a:buFont typeface="Arial" panose="020B0604020202020204" pitchFamily="34" charset="0"/>
              <a:buChar char="•"/>
            </a:pPr>
            <a:r>
              <a:rPr lang="en-US" sz="2400" dirty="0"/>
              <a:t>Developing systems that handle multiple languages or translate between them accurately is hard due to varying syntax, grammar, and idiomatic expressions.</a:t>
            </a:r>
          </a:p>
          <a:p>
            <a:pPr marL="0" indent="0" algn="just">
              <a:buNone/>
            </a:pPr>
            <a:endParaRPr lang="en-US" sz="2400" dirty="0"/>
          </a:p>
        </p:txBody>
      </p:sp>
    </p:spTree>
    <p:extLst>
      <p:ext uri="{BB962C8B-B14F-4D97-AF65-F5344CB8AC3E}">
        <p14:creationId xmlns:p14="http://schemas.microsoft.com/office/powerpoint/2010/main" val="1780808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9465C-F0C7-03D3-DD55-F5F07E91CD16}"/>
              </a:ext>
            </a:extLst>
          </p:cNvPr>
          <p:cNvSpPr>
            <a:spLocks noGrp="1"/>
          </p:cNvSpPr>
          <p:nvPr>
            <p:ph type="title"/>
          </p:nvPr>
        </p:nvSpPr>
        <p:spPr>
          <a:xfrm>
            <a:off x="838200" y="178514"/>
            <a:ext cx="10515600" cy="567935"/>
          </a:xfrm>
        </p:spPr>
        <p:txBody>
          <a:bodyPr>
            <a:normAutofit fontScale="90000"/>
          </a:bodyPr>
          <a:lstStyle/>
          <a:p>
            <a:pPr algn="ctr"/>
            <a:r>
              <a:rPr lang="en-IN" b="1" dirty="0"/>
              <a:t>Challenges in NLP</a:t>
            </a:r>
            <a:endParaRPr lang="en-IN" dirty="0"/>
          </a:p>
        </p:txBody>
      </p:sp>
      <p:sp>
        <p:nvSpPr>
          <p:cNvPr id="3" name="Content Placeholder 2">
            <a:extLst>
              <a:ext uri="{FF2B5EF4-FFF2-40B4-BE49-F238E27FC236}">
                <a16:creationId xmlns:a16="http://schemas.microsoft.com/office/drawing/2014/main" id="{37C13681-B8AA-6785-AC16-B496D421B7FC}"/>
              </a:ext>
            </a:extLst>
          </p:cNvPr>
          <p:cNvSpPr>
            <a:spLocks noGrp="1"/>
          </p:cNvSpPr>
          <p:nvPr>
            <p:ph idx="1"/>
          </p:nvPr>
        </p:nvSpPr>
        <p:spPr>
          <a:xfrm>
            <a:off x="609601" y="746450"/>
            <a:ext cx="11460480" cy="6111550"/>
          </a:xfrm>
        </p:spPr>
        <p:txBody>
          <a:bodyPr>
            <a:noAutofit/>
          </a:bodyPr>
          <a:lstStyle/>
          <a:p>
            <a:pPr marL="0" indent="0">
              <a:buNone/>
            </a:pPr>
            <a:r>
              <a:rPr lang="en-US" sz="2400" b="1" dirty="0">
                <a:solidFill>
                  <a:srgbClr val="FF0000"/>
                </a:solidFill>
              </a:rPr>
              <a:t>Data Quality and Bias</a:t>
            </a:r>
          </a:p>
          <a:p>
            <a:pPr>
              <a:buFont typeface="Arial" panose="020B0604020202020204" pitchFamily="34" charset="0"/>
              <a:buChar char="•"/>
            </a:pPr>
            <a:r>
              <a:rPr lang="en-US" sz="2400" dirty="0"/>
              <a:t>Training data may contain </a:t>
            </a:r>
            <a:r>
              <a:rPr lang="en-US" sz="2400" dirty="0">
                <a:solidFill>
                  <a:srgbClr val="FF0000"/>
                </a:solidFill>
              </a:rPr>
              <a:t>biases, inaccuracies, or imbalances </a:t>
            </a:r>
            <a:r>
              <a:rPr lang="en-US" sz="2400" dirty="0"/>
              <a:t>that result in biased or unfair NLP systems.</a:t>
            </a:r>
          </a:p>
          <a:p>
            <a:pPr>
              <a:buFont typeface="Arial" panose="020B0604020202020204" pitchFamily="34" charset="0"/>
              <a:buChar char="•"/>
            </a:pPr>
            <a:r>
              <a:rPr lang="en-US" sz="2400" dirty="0"/>
              <a:t>Poor-quality datasets can lead to models misunderstanding or misrepresenting input.</a:t>
            </a:r>
          </a:p>
          <a:p>
            <a:pPr marL="0" indent="0">
              <a:buNone/>
            </a:pPr>
            <a:r>
              <a:rPr lang="en-US" sz="2400" b="1" dirty="0">
                <a:solidFill>
                  <a:srgbClr val="FF0000"/>
                </a:solidFill>
              </a:rPr>
              <a:t>Dynamic and Evolving Language</a:t>
            </a:r>
          </a:p>
          <a:p>
            <a:pPr>
              <a:buFont typeface="Arial" panose="020B0604020202020204" pitchFamily="34" charset="0"/>
              <a:buChar char="•"/>
            </a:pPr>
            <a:r>
              <a:rPr lang="en-US" sz="2400" dirty="0"/>
              <a:t>Language constantly changes, with new words, slang, and phrases emerging, requiring models to stay updated.</a:t>
            </a:r>
          </a:p>
          <a:p>
            <a:pPr>
              <a:buFont typeface="Arial" panose="020B0604020202020204" pitchFamily="34" charset="0"/>
              <a:buChar char="•"/>
            </a:pPr>
            <a:r>
              <a:rPr lang="en-US" sz="2400" dirty="0"/>
              <a:t>Handling code-switching (switching between languages or dialects in a conversation) remains challenging.</a:t>
            </a:r>
          </a:p>
          <a:p>
            <a:pPr marL="0" indent="0">
              <a:buNone/>
            </a:pPr>
            <a:r>
              <a:rPr lang="en-US" sz="2400" b="1" dirty="0">
                <a:solidFill>
                  <a:srgbClr val="FF0000"/>
                </a:solidFill>
              </a:rPr>
              <a:t>Domain Adaptation</a:t>
            </a:r>
          </a:p>
          <a:p>
            <a:pPr>
              <a:buFont typeface="Arial" panose="020B0604020202020204" pitchFamily="34" charset="0"/>
              <a:buChar char="•"/>
            </a:pPr>
            <a:r>
              <a:rPr lang="en-US" sz="2400" dirty="0"/>
              <a:t>NLP models trained on general data may not perform well in specialized domains like medicine, law, or engineering, requiring fine-tuning with domain-specific data.</a:t>
            </a:r>
          </a:p>
          <a:p>
            <a:pPr marL="0" indent="0">
              <a:buNone/>
            </a:pPr>
            <a:r>
              <a:rPr lang="en-US" sz="2400" b="1" dirty="0">
                <a:solidFill>
                  <a:srgbClr val="FF0000"/>
                </a:solidFill>
              </a:rPr>
              <a:t>Low-Resource Languages</a:t>
            </a:r>
          </a:p>
          <a:p>
            <a:pPr>
              <a:buFont typeface="Arial" panose="020B0604020202020204" pitchFamily="34" charset="0"/>
              <a:buChar char="•"/>
            </a:pPr>
            <a:r>
              <a:rPr lang="en-US" sz="2400" dirty="0"/>
              <a:t>Many languages lack large, high-quality datasets, making it challenging to build robust NLP systems for these languages.</a:t>
            </a:r>
          </a:p>
          <a:p>
            <a:endParaRPr lang="en-IN" sz="2400" dirty="0"/>
          </a:p>
        </p:txBody>
      </p:sp>
    </p:spTree>
    <p:extLst>
      <p:ext uri="{BB962C8B-B14F-4D97-AF65-F5344CB8AC3E}">
        <p14:creationId xmlns:p14="http://schemas.microsoft.com/office/powerpoint/2010/main" val="1215818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5940A-0026-B342-6526-604DE1ED88FD}"/>
              </a:ext>
            </a:extLst>
          </p:cNvPr>
          <p:cNvSpPr>
            <a:spLocks noGrp="1"/>
          </p:cNvSpPr>
          <p:nvPr>
            <p:ph type="title"/>
          </p:nvPr>
        </p:nvSpPr>
        <p:spPr>
          <a:xfrm>
            <a:off x="838200" y="253365"/>
            <a:ext cx="10515600" cy="698565"/>
          </a:xfrm>
        </p:spPr>
        <p:txBody>
          <a:bodyPr/>
          <a:lstStyle/>
          <a:p>
            <a:pPr algn="ctr"/>
            <a:r>
              <a:rPr lang="en-IN" b="1" dirty="0"/>
              <a:t>Introduction to NLTK</a:t>
            </a:r>
          </a:p>
        </p:txBody>
      </p:sp>
      <p:sp>
        <p:nvSpPr>
          <p:cNvPr id="3" name="Content Placeholder 2">
            <a:extLst>
              <a:ext uri="{FF2B5EF4-FFF2-40B4-BE49-F238E27FC236}">
                <a16:creationId xmlns:a16="http://schemas.microsoft.com/office/drawing/2014/main" id="{6E941071-135D-E326-8727-F8393CDB0526}"/>
              </a:ext>
            </a:extLst>
          </p:cNvPr>
          <p:cNvSpPr>
            <a:spLocks noGrp="1"/>
          </p:cNvSpPr>
          <p:nvPr>
            <p:ph idx="1"/>
          </p:nvPr>
        </p:nvSpPr>
        <p:spPr>
          <a:xfrm>
            <a:off x="838200" y="1222310"/>
            <a:ext cx="10515600" cy="5533053"/>
          </a:xfrm>
        </p:spPr>
        <p:txBody>
          <a:bodyPr>
            <a:normAutofit lnSpcReduction="10000"/>
          </a:bodyPr>
          <a:lstStyle/>
          <a:p>
            <a:pPr algn="just"/>
            <a:r>
              <a:rPr lang="en-US" sz="2400" b="1" dirty="0"/>
              <a:t>NLTK (Natural Language Toolkit)</a:t>
            </a:r>
            <a:r>
              <a:rPr lang="en-US" sz="2400" dirty="0"/>
              <a:t> is a powerful and widely-used </a:t>
            </a:r>
            <a:r>
              <a:rPr lang="en-US" sz="2400" b="1" dirty="0"/>
              <a:t>Python library</a:t>
            </a:r>
            <a:r>
              <a:rPr lang="en-US" sz="2400" dirty="0"/>
              <a:t> for processing and analyzing human language data (text). </a:t>
            </a:r>
          </a:p>
          <a:p>
            <a:pPr algn="just"/>
            <a:r>
              <a:rPr lang="en-US" sz="2400" dirty="0"/>
              <a:t>It provides tools and methods for text processing, such as tokenization, stemming, lemmatization, parsing, classification, and more.</a:t>
            </a:r>
          </a:p>
          <a:p>
            <a:r>
              <a:rPr lang="en-IN" sz="2400" b="0" i="0" dirty="0">
                <a:solidFill>
                  <a:srgbClr val="222222"/>
                </a:solidFill>
                <a:effectLst/>
              </a:rPr>
              <a:t>To install</a:t>
            </a:r>
          </a:p>
          <a:p>
            <a:pPr lvl="1"/>
            <a:r>
              <a:rPr lang="en-IN" dirty="0">
                <a:solidFill>
                  <a:srgbClr val="222222"/>
                </a:solidFill>
              </a:rPr>
              <a:t>p</a:t>
            </a:r>
            <a:r>
              <a:rPr lang="en-IN" b="0" i="0" dirty="0">
                <a:solidFill>
                  <a:srgbClr val="222222"/>
                </a:solidFill>
                <a:effectLst/>
              </a:rPr>
              <a:t>ip install </a:t>
            </a:r>
            <a:r>
              <a:rPr lang="en-IN" b="0" i="0" dirty="0" err="1">
                <a:solidFill>
                  <a:srgbClr val="222222"/>
                </a:solidFill>
                <a:effectLst/>
              </a:rPr>
              <a:t>nltk</a:t>
            </a:r>
            <a:endParaRPr lang="en-IN" b="0" i="0" dirty="0">
              <a:solidFill>
                <a:srgbClr val="222222"/>
              </a:solidFill>
              <a:effectLst/>
            </a:endParaRPr>
          </a:p>
          <a:p>
            <a:r>
              <a:rPr lang="en-IN" sz="2400" b="0" i="0" dirty="0">
                <a:solidFill>
                  <a:srgbClr val="222222"/>
                </a:solidFill>
                <a:effectLst/>
              </a:rPr>
              <a:t>A variety of tasks can be performed using NLTK are </a:t>
            </a:r>
          </a:p>
          <a:p>
            <a:pPr lvl="1">
              <a:buFont typeface="Wingdings" panose="05000000000000000000" pitchFamily="2" charset="2"/>
              <a:buChar char="§"/>
            </a:pPr>
            <a:r>
              <a:rPr lang="en-IN" b="0" i="0" dirty="0">
                <a:solidFill>
                  <a:srgbClr val="222222"/>
                </a:solidFill>
                <a:effectLst/>
              </a:rPr>
              <a:t>Tokenization</a:t>
            </a:r>
          </a:p>
          <a:p>
            <a:pPr lvl="1">
              <a:buFont typeface="Wingdings" panose="05000000000000000000" pitchFamily="2" charset="2"/>
              <a:buChar char="§"/>
            </a:pPr>
            <a:r>
              <a:rPr lang="en-IN" b="0" i="0" dirty="0">
                <a:solidFill>
                  <a:srgbClr val="222222"/>
                </a:solidFill>
                <a:effectLst/>
              </a:rPr>
              <a:t>Lower case conversion</a:t>
            </a:r>
          </a:p>
          <a:p>
            <a:pPr lvl="1">
              <a:buFont typeface="Wingdings" panose="05000000000000000000" pitchFamily="2" charset="2"/>
              <a:buChar char="§"/>
            </a:pPr>
            <a:r>
              <a:rPr lang="en-IN" b="0" i="0" dirty="0">
                <a:solidFill>
                  <a:srgbClr val="222222"/>
                </a:solidFill>
                <a:effectLst/>
              </a:rPr>
              <a:t>Stop Words removal</a:t>
            </a:r>
          </a:p>
          <a:p>
            <a:pPr lvl="1">
              <a:buFont typeface="Wingdings" panose="05000000000000000000" pitchFamily="2" charset="2"/>
              <a:buChar char="§"/>
            </a:pPr>
            <a:r>
              <a:rPr lang="en-IN" b="0" i="0" dirty="0">
                <a:solidFill>
                  <a:srgbClr val="222222"/>
                </a:solidFill>
                <a:effectLst/>
              </a:rPr>
              <a:t>Stemming</a:t>
            </a:r>
          </a:p>
          <a:p>
            <a:pPr lvl="1">
              <a:buFont typeface="Wingdings" panose="05000000000000000000" pitchFamily="2" charset="2"/>
              <a:buChar char="§"/>
            </a:pPr>
            <a:r>
              <a:rPr lang="en-IN" b="0" i="0" dirty="0">
                <a:solidFill>
                  <a:srgbClr val="222222"/>
                </a:solidFill>
                <a:effectLst/>
              </a:rPr>
              <a:t>Lemmatization</a:t>
            </a:r>
          </a:p>
          <a:p>
            <a:pPr lvl="1">
              <a:buFont typeface="Wingdings" panose="05000000000000000000" pitchFamily="2" charset="2"/>
              <a:buChar char="§"/>
            </a:pPr>
            <a:r>
              <a:rPr lang="en-IN" b="0" i="0" dirty="0">
                <a:solidFill>
                  <a:srgbClr val="222222"/>
                </a:solidFill>
                <a:effectLst/>
              </a:rPr>
              <a:t>Parse tree or Syntax Tree generation</a:t>
            </a:r>
          </a:p>
          <a:p>
            <a:pPr lvl="1">
              <a:buFont typeface="Wingdings" panose="05000000000000000000" pitchFamily="2" charset="2"/>
              <a:buChar char="§"/>
            </a:pPr>
            <a:r>
              <a:rPr lang="en-IN" b="0" i="0" dirty="0">
                <a:solidFill>
                  <a:srgbClr val="222222"/>
                </a:solidFill>
                <a:effectLst/>
              </a:rPr>
              <a:t>POS Tagging</a:t>
            </a:r>
          </a:p>
          <a:p>
            <a:endParaRPr lang="en-IN" dirty="0"/>
          </a:p>
        </p:txBody>
      </p:sp>
    </p:spTree>
    <p:extLst>
      <p:ext uri="{BB962C8B-B14F-4D97-AF65-F5344CB8AC3E}">
        <p14:creationId xmlns:p14="http://schemas.microsoft.com/office/powerpoint/2010/main" val="4287340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3A737-0AC4-AF84-D580-9A7B1AF419A9}"/>
              </a:ext>
            </a:extLst>
          </p:cNvPr>
          <p:cNvSpPr>
            <a:spLocks noGrp="1"/>
          </p:cNvSpPr>
          <p:nvPr>
            <p:ph type="title"/>
          </p:nvPr>
        </p:nvSpPr>
        <p:spPr>
          <a:xfrm>
            <a:off x="838200" y="197175"/>
            <a:ext cx="10515600" cy="838524"/>
          </a:xfrm>
        </p:spPr>
        <p:txBody>
          <a:bodyPr/>
          <a:lstStyle/>
          <a:p>
            <a:pPr algn="ctr"/>
            <a:r>
              <a:rPr lang="en-US" b="1" dirty="0"/>
              <a:t>Preprocessing techniques</a:t>
            </a:r>
            <a:endParaRPr lang="en-IN" b="1" dirty="0"/>
          </a:p>
        </p:txBody>
      </p:sp>
      <p:sp>
        <p:nvSpPr>
          <p:cNvPr id="3" name="Content Placeholder 2">
            <a:extLst>
              <a:ext uri="{FF2B5EF4-FFF2-40B4-BE49-F238E27FC236}">
                <a16:creationId xmlns:a16="http://schemas.microsoft.com/office/drawing/2014/main" id="{21F93DD1-8B35-FB4A-721A-768AA8AD0807}"/>
              </a:ext>
            </a:extLst>
          </p:cNvPr>
          <p:cNvSpPr>
            <a:spLocks noGrp="1"/>
          </p:cNvSpPr>
          <p:nvPr>
            <p:ph idx="1"/>
          </p:nvPr>
        </p:nvSpPr>
        <p:spPr>
          <a:xfrm>
            <a:off x="457200" y="1390260"/>
            <a:ext cx="11612880" cy="4982547"/>
          </a:xfrm>
        </p:spPr>
        <p:txBody>
          <a:bodyPr>
            <a:normAutofit/>
          </a:bodyPr>
          <a:lstStyle/>
          <a:p>
            <a:pPr algn="just">
              <a:lnSpc>
                <a:spcPct val="100000"/>
              </a:lnSpc>
            </a:pPr>
            <a:r>
              <a:rPr lang="en-US" dirty="0"/>
              <a:t>Preprocessing in </a:t>
            </a:r>
            <a:r>
              <a:rPr lang="en-US" b="1" dirty="0"/>
              <a:t>NLP</a:t>
            </a:r>
            <a:r>
              <a:rPr lang="en-US" dirty="0"/>
              <a:t> refers to the steps taken to </a:t>
            </a:r>
            <a:r>
              <a:rPr lang="en-US" dirty="0">
                <a:solidFill>
                  <a:srgbClr val="7030A0"/>
                </a:solidFill>
              </a:rPr>
              <a:t>clean and transform</a:t>
            </a:r>
            <a:r>
              <a:rPr lang="en-US" dirty="0"/>
              <a:t> raw text data into a format suitable for further analysis. </a:t>
            </a:r>
          </a:p>
          <a:p>
            <a:pPr algn="just">
              <a:lnSpc>
                <a:spcPct val="100000"/>
              </a:lnSpc>
            </a:pPr>
            <a:r>
              <a:rPr lang="en-US" dirty="0"/>
              <a:t>Since raw text often </a:t>
            </a:r>
            <a:r>
              <a:rPr lang="en-US" dirty="0">
                <a:solidFill>
                  <a:srgbClr val="7030A0"/>
                </a:solidFill>
              </a:rPr>
              <a:t>contains noise, inconsistencies, or irrelevant details</a:t>
            </a:r>
            <a:r>
              <a:rPr lang="en-US" dirty="0"/>
              <a:t>, preprocessing ensures better performance of NLP tasks.</a:t>
            </a:r>
          </a:p>
          <a:p>
            <a:pPr algn="just">
              <a:lnSpc>
                <a:spcPct val="100000"/>
              </a:lnSpc>
            </a:pPr>
            <a:r>
              <a:rPr lang="en-US" dirty="0"/>
              <a:t>Preprocessing techniques in NLP involve a series of steps to </a:t>
            </a:r>
            <a:r>
              <a:rPr lang="en-US" dirty="0">
                <a:solidFill>
                  <a:srgbClr val="7030A0"/>
                </a:solidFill>
              </a:rPr>
              <a:t>clean, transform, and prepare</a:t>
            </a:r>
            <a:r>
              <a:rPr lang="en-US" dirty="0"/>
              <a:t> raw text for further analysis or modeling. </a:t>
            </a:r>
          </a:p>
          <a:p>
            <a:pPr algn="just">
              <a:lnSpc>
                <a:spcPct val="100000"/>
              </a:lnSpc>
            </a:pPr>
            <a:r>
              <a:rPr lang="en-US" dirty="0"/>
              <a:t>These techniques ensure that text data is in a suitable format for machine learning algorithms or statistical models. </a:t>
            </a:r>
            <a:endParaRPr lang="en-IN" dirty="0"/>
          </a:p>
        </p:txBody>
      </p:sp>
    </p:spTree>
    <p:extLst>
      <p:ext uri="{BB962C8B-B14F-4D97-AF65-F5344CB8AC3E}">
        <p14:creationId xmlns:p14="http://schemas.microsoft.com/office/powerpoint/2010/main" val="3253563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1244B-238D-59FE-1245-0E9820A60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DB9E6-D18D-9ACE-527A-D84779DF8192}"/>
              </a:ext>
            </a:extLst>
          </p:cNvPr>
          <p:cNvSpPr>
            <a:spLocks noGrp="1"/>
          </p:cNvSpPr>
          <p:nvPr>
            <p:ph type="title"/>
          </p:nvPr>
        </p:nvSpPr>
        <p:spPr>
          <a:xfrm>
            <a:off x="838200" y="197175"/>
            <a:ext cx="10515600" cy="838524"/>
          </a:xfrm>
        </p:spPr>
        <p:txBody>
          <a:bodyPr>
            <a:normAutofit/>
          </a:bodyPr>
          <a:lstStyle/>
          <a:p>
            <a:pPr algn="ctr"/>
            <a:r>
              <a:rPr lang="en-IN" b="1" dirty="0"/>
              <a:t>Text Wrangling</a:t>
            </a:r>
          </a:p>
        </p:txBody>
      </p:sp>
      <p:sp>
        <p:nvSpPr>
          <p:cNvPr id="3" name="Content Placeholder 2">
            <a:extLst>
              <a:ext uri="{FF2B5EF4-FFF2-40B4-BE49-F238E27FC236}">
                <a16:creationId xmlns:a16="http://schemas.microsoft.com/office/drawing/2014/main" id="{22223C3D-74D5-F48C-3864-31711690F074}"/>
              </a:ext>
            </a:extLst>
          </p:cNvPr>
          <p:cNvSpPr>
            <a:spLocks noGrp="1"/>
          </p:cNvSpPr>
          <p:nvPr>
            <p:ph idx="1"/>
          </p:nvPr>
        </p:nvSpPr>
        <p:spPr>
          <a:xfrm>
            <a:off x="457200" y="1390260"/>
            <a:ext cx="11592560" cy="4982547"/>
          </a:xfrm>
        </p:spPr>
        <p:txBody>
          <a:bodyPr>
            <a:normAutofit/>
          </a:bodyPr>
          <a:lstStyle/>
          <a:p>
            <a:pPr algn="just">
              <a:lnSpc>
                <a:spcPct val="100000"/>
              </a:lnSpc>
            </a:pPr>
            <a:r>
              <a:rPr lang="en-US" sz="2400" dirty="0"/>
              <a:t>Text wrangling, also known as text preprocessing or data cleaning, is the process of transforming </a:t>
            </a:r>
            <a:r>
              <a:rPr lang="en-US" sz="2400" dirty="0">
                <a:solidFill>
                  <a:srgbClr val="7030A0"/>
                </a:solidFill>
              </a:rPr>
              <a:t>raw, unstructured, and noisy text data </a:t>
            </a:r>
            <a:r>
              <a:rPr lang="en-US" sz="2400" dirty="0"/>
              <a:t>into a </a:t>
            </a:r>
            <a:r>
              <a:rPr lang="en-US" sz="2400" dirty="0">
                <a:solidFill>
                  <a:srgbClr val="7030A0"/>
                </a:solidFill>
              </a:rPr>
              <a:t>clean and structured format </a:t>
            </a:r>
            <a:r>
              <a:rPr lang="en-US" sz="2400" dirty="0"/>
              <a:t>that can be used effectively in NLP tasks. </a:t>
            </a:r>
          </a:p>
          <a:p>
            <a:pPr marL="0" indent="0" algn="just">
              <a:buNone/>
            </a:pPr>
            <a:r>
              <a:rPr lang="en-US" sz="2400" b="1" dirty="0"/>
              <a:t>Why is Text Wrangling Important?</a:t>
            </a:r>
          </a:p>
          <a:p>
            <a:pPr algn="just">
              <a:buFont typeface="+mj-lt"/>
              <a:buAutoNum type="arabicPeriod"/>
            </a:pPr>
            <a:r>
              <a:rPr lang="en-US" sz="2400" b="1" dirty="0"/>
              <a:t>Raw Text is Noisy</a:t>
            </a:r>
            <a:r>
              <a:rPr lang="en-US" sz="2400" dirty="0"/>
              <a:t>: Raw data often contains irrelevant information such as </a:t>
            </a:r>
            <a:r>
              <a:rPr lang="en-US" sz="2400" dirty="0">
                <a:solidFill>
                  <a:srgbClr val="7030A0"/>
                </a:solidFill>
              </a:rPr>
              <a:t>HTML tags, emojis, misspellings, or special characters </a:t>
            </a:r>
            <a:r>
              <a:rPr lang="en-US" sz="2400" dirty="0"/>
              <a:t>that can distort the results of NLP algorithms.</a:t>
            </a:r>
          </a:p>
          <a:p>
            <a:pPr algn="just">
              <a:buFont typeface="+mj-lt"/>
              <a:buAutoNum type="arabicPeriod"/>
            </a:pPr>
            <a:r>
              <a:rPr lang="en-US" sz="2400" b="1" dirty="0"/>
              <a:t>Standardization</a:t>
            </a:r>
            <a:r>
              <a:rPr lang="en-US" sz="2400" dirty="0"/>
              <a:t>: It ensures that the text follows a </a:t>
            </a:r>
            <a:r>
              <a:rPr lang="en-US" sz="2400" dirty="0">
                <a:solidFill>
                  <a:srgbClr val="7030A0"/>
                </a:solidFill>
              </a:rPr>
              <a:t>consistent structure</a:t>
            </a:r>
            <a:r>
              <a:rPr lang="en-US" sz="2400" dirty="0"/>
              <a:t>, making it easier to process and analyze.</a:t>
            </a:r>
          </a:p>
          <a:p>
            <a:pPr algn="just">
              <a:buFont typeface="+mj-lt"/>
              <a:buAutoNum type="arabicPeriod"/>
            </a:pPr>
            <a:r>
              <a:rPr lang="en-US" sz="2400" b="1" dirty="0"/>
              <a:t>Improves Model Performance</a:t>
            </a:r>
            <a:r>
              <a:rPr lang="en-US" sz="2400" dirty="0"/>
              <a:t>: Properly cleaned and preprocessed data can significantly improve the accuracy and efficiency of machine learning models.</a:t>
            </a:r>
          </a:p>
          <a:p>
            <a:pPr marL="0" indent="0" algn="just">
              <a:lnSpc>
                <a:spcPct val="100000"/>
              </a:lnSpc>
              <a:buNone/>
            </a:pPr>
            <a:endParaRPr lang="en-IN" sz="2400" dirty="0"/>
          </a:p>
        </p:txBody>
      </p:sp>
    </p:spTree>
    <p:extLst>
      <p:ext uri="{BB962C8B-B14F-4D97-AF65-F5344CB8AC3E}">
        <p14:creationId xmlns:p14="http://schemas.microsoft.com/office/powerpoint/2010/main" val="1746476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8A630-1AF9-8A12-3CB8-2C9555380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083F5-93F9-27FF-7A70-3AC0E5742A49}"/>
              </a:ext>
            </a:extLst>
          </p:cNvPr>
          <p:cNvSpPr>
            <a:spLocks noGrp="1"/>
          </p:cNvSpPr>
          <p:nvPr>
            <p:ph type="title"/>
          </p:nvPr>
        </p:nvSpPr>
        <p:spPr>
          <a:xfrm>
            <a:off x="838200" y="197175"/>
            <a:ext cx="10515600" cy="838524"/>
          </a:xfrm>
        </p:spPr>
        <p:txBody>
          <a:bodyPr>
            <a:normAutofit/>
          </a:bodyPr>
          <a:lstStyle/>
          <a:p>
            <a:pPr algn="ctr"/>
            <a:r>
              <a:rPr lang="en-IN" b="1" dirty="0"/>
              <a:t>Text Wrangling/Text Cleaning Techniques</a:t>
            </a:r>
          </a:p>
        </p:txBody>
      </p:sp>
      <p:sp>
        <p:nvSpPr>
          <p:cNvPr id="3" name="Content Placeholder 2">
            <a:extLst>
              <a:ext uri="{FF2B5EF4-FFF2-40B4-BE49-F238E27FC236}">
                <a16:creationId xmlns:a16="http://schemas.microsoft.com/office/drawing/2014/main" id="{2FEA869E-1819-9DC9-6066-EFA592EE7062}"/>
              </a:ext>
            </a:extLst>
          </p:cNvPr>
          <p:cNvSpPr>
            <a:spLocks noGrp="1"/>
          </p:cNvSpPr>
          <p:nvPr>
            <p:ph idx="1"/>
          </p:nvPr>
        </p:nvSpPr>
        <p:spPr>
          <a:xfrm>
            <a:off x="457200" y="1390260"/>
            <a:ext cx="11592560" cy="5467740"/>
          </a:xfrm>
        </p:spPr>
        <p:txBody>
          <a:bodyPr>
            <a:normAutofit fontScale="77500" lnSpcReduction="20000"/>
          </a:bodyPr>
          <a:lstStyle/>
          <a:p>
            <a:pPr marL="0" indent="0">
              <a:lnSpc>
                <a:spcPct val="100000"/>
              </a:lnSpc>
              <a:buNone/>
            </a:pPr>
            <a:r>
              <a:rPr lang="en-IN" sz="3100" dirty="0">
                <a:solidFill>
                  <a:srgbClr val="7030A0"/>
                </a:solidFill>
                <a:effectLst/>
                <a:ea typeface="Calibri" panose="020F0502020204030204" pitchFamily="34" charset="0"/>
              </a:rPr>
              <a:t>sentence splitter</a:t>
            </a:r>
          </a:p>
          <a:p>
            <a:pPr lvl="1">
              <a:lnSpc>
                <a:spcPct val="100000"/>
              </a:lnSpc>
            </a:pPr>
            <a:r>
              <a:rPr lang="en-IN" sz="3100" dirty="0">
                <a:ea typeface="Calibri" panose="020F0502020204030204" pitchFamily="34" charset="0"/>
              </a:rPr>
              <a:t>Spit the text into sentences.</a:t>
            </a:r>
            <a:endParaRPr lang="en-IN" sz="3100" dirty="0">
              <a:effectLst/>
              <a:ea typeface="Calibri" panose="020F0502020204030204" pitchFamily="34" charset="0"/>
            </a:endParaRPr>
          </a:p>
          <a:p>
            <a:pPr marL="0" indent="0">
              <a:lnSpc>
                <a:spcPct val="100000"/>
              </a:lnSpc>
              <a:buNone/>
            </a:pPr>
            <a:r>
              <a:rPr lang="en-IN" sz="3100" dirty="0">
                <a:solidFill>
                  <a:srgbClr val="7030A0"/>
                </a:solidFill>
                <a:effectLst/>
                <a:ea typeface="Calibri" panose="020F0502020204030204" pitchFamily="34" charset="0"/>
              </a:rPr>
              <a:t>Word Tokenization</a:t>
            </a:r>
          </a:p>
          <a:p>
            <a:pPr marL="0" indent="0">
              <a:lnSpc>
                <a:spcPct val="100000"/>
              </a:lnSpc>
              <a:buNone/>
            </a:pPr>
            <a:r>
              <a:rPr lang="en-IN" sz="3100" b="0" i="0" dirty="0">
                <a:solidFill>
                  <a:srgbClr val="222222"/>
                </a:solidFill>
                <a:effectLst/>
              </a:rPr>
              <a:t>split a sentence into words.</a:t>
            </a:r>
            <a:r>
              <a:rPr lang="en-IN" sz="3100" dirty="0">
                <a:solidFill>
                  <a:srgbClr val="7030A0"/>
                </a:solidFill>
                <a:effectLst/>
                <a:ea typeface="Calibri" panose="020F0502020204030204" pitchFamily="34" charset="0"/>
              </a:rPr>
              <a:t> </a:t>
            </a:r>
          </a:p>
          <a:p>
            <a:pPr marL="0" indent="0">
              <a:lnSpc>
                <a:spcPct val="100000"/>
              </a:lnSpc>
              <a:buNone/>
            </a:pPr>
            <a:r>
              <a:rPr lang="en-IN" sz="3100" dirty="0">
                <a:solidFill>
                  <a:srgbClr val="7030A0"/>
                </a:solidFill>
                <a:effectLst/>
                <a:ea typeface="Calibri" panose="020F0502020204030204" pitchFamily="34" charset="0"/>
              </a:rPr>
              <a:t>stop word removal</a:t>
            </a:r>
          </a:p>
          <a:p>
            <a:pPr lvl="1">
              <a:lnSpc>
                <a:spcPct val="100000"/>
              </a:lnSpc>
            </a:pPr>
            <a:r>
              <a:rPr lang="en-IN" sz="3100" dirty="0">
                <a:ea typeface="Calibri" panose="020F0502020204030204" pitchFamily="34" charset="0"/>
              </a:rPr>
              <a:t>Removal of  most common words</a:t>
            </a:r>
            <a:endParaRPr lang="en-IN" sz="3100" dirty="0">
              <a:effectLst/>
              <a:ea typeface="Calibri" panose="020F0502020204030204" pitchFamily="34" charset="0"/>
            </a:endParaRPr>
          </a:p>
          <a:p>
            <a:pPr marL="0" indent="0">
              <a:lnSpc>
                <a:spcPct val="100000"/>
              </a:lnSpc>
              <a:buNone/>
            </a:pPr>
            <a:r>
              <a:rPr lang="en-IN" sz="3100" dirty="0">
                <a:solidFill>
                  <a:srgbClr val="7030A0"/>
                </a:solidFill>
                <a:effectLst/>
                <a:ea typeface="Calibri" panose="020F0502020204030204" pitchFamily="34" charset="0"/>
              </a:rPr>
              <a:t>rare word removal</a:t>
            </a:r>
          </a:p>
          <a:p>
            <a:pPr lvl="1">
              <a:lnSpc>
                <a:spcPct val="100000"/>
              </a:lnSpc>
            </a:pPr>
            <a:r>
              <a:rPr lang="en-IN" sz="3100" dirty="0">
                <a:effectLst/>
                <a:ea typeface="Calibri" panose="020F0502020204030204" pitchFamily="34" charset="0"/>
              </a:rPr>
              <a:t>Removal of less important words.(low distribution)</a:t>
            </a:r>
          </a:p>
          <a:p>
            <a:pPr marL="0" indent="0">
              <a:lnSpc>
                <a:spcPct val="100000"/>
              </a:lnSpc>
              <a:buNone/>
            </a:pPr>
            <a:r>
              <a:rPr lang="en-IN" sz="3100" dirty="0">
                <a:solidFill>
                  <a:srgbClr val="7030A0"/>
                </a:solidFill>
                <a:effectLst/>
                <a:ea typeface="Calibri" panose="020F0502020204030204" pitchFamily="34" charset="0"/>
              </a:rPr>
              <a:t>Stemming</a:t>
            </a:r>
          </a:p>
          <a:p>
            <a:pPr lvl="1">
              <a:lnSpc>
                <a:spcPct val="100000"/>
              </a:lnSpc>
            </a:pPr>
            <a:r>
              <a:rPr lang="en-IN" sz="3100" b="0" i="0" dirty="0">
                <a:solidFill>
                  <a:srgbClr val="222222"/>
                </a:solidFill>
                <a:effectLst/>
              </a:rPr>
              <a:t>words to their root forms</a:t>
            </a:r>
            <a:endParaRPr lang="en-IN" sz="3100" dirty="0">
              <a:effectLst/>
              <a:ea typeface="Calibri" panose="020F0502020204030204" pitchFamily="34" charset="0"/>
            </a:endParaRPr>
          </a:p>
          <a:p>
            <a:pPr marL="0" indent="0">
              <a:lnSpc>
                <a:spcPct val="100000"/>
              </a:lnSpc>
              <a:buNone/>
            </a:pPr>
            <a:r>
              <a:rPr lang="en-IN" sz="3100" dirty="0">
                <a:solidFill>
                  <a:srgbClr val="7030A0"/>
                </a:solidFill>
                <a:effectLst/>
                <a:ea typeface="Calibri" panose="020F0502020204030204" pitchFamily="34" charset="0"/>
              </a:rPr>
              <a:t>Lemmatization</a:t>
            </a:r>
          </a:p>
          <a:p>
            <a:pPr lvl="1">
              <a:lnSpc>
                <a:spcPct val="100000"/>
              </a:lnSpc>
            </a:pPr>
            <a:r>
              <a:rPr lang="en-IN" sz="3100" b="0" i="0" dirty="0">
                <a:solidFill>
                  <a:srgbClr val="222222"/>
                </a:solidFill>
                <a:effectLst/>
              </a:rPr>
              <a:t>words to their root forms with preserving the meaning.</a:t>
            </a:r>
            <a:endParaRPr lang="en-IN" sz="3100" dirty="0">
              <a:effectLst/>
              <a:ea typeface="Calibri" panose="020F0502020204030204" pitchFamily="34" charset="0"/>
            </a:endParaRPr>
          </a:p>
          <a:p>
            <a:pPr marL="0" indent="0">
              <a:lnSpc>
                <a:spcPct val="100000"/>
              </a:lnSpc>
              <a:buNone/>
            </a:pPr>
            <a:r>
              <a:rPr lang="en-IN" sz="3100" dirty="0">
                <a:solidFill>
                  <a:srgbClr val="7030A0"/>
                </a:solidFill>
                <a:effectLst/>
                <a:ea typeface="Calibri" panose="020F0502020204030204" pitchFamily="34" charset="0"/>
              </a:rPr>
              <a:t>spell correction </a:t>
            </a:r>
          </a:p>
          <a:p>
            <a:pPr lvl="1">
              <a:lnSpc>
                <a:spcPct val="100000"/>
              </a:lnSpc>
            </a:pPr>
            <a:r>
              <a:rPr lang="en-IN" sz="3100" dirty="0">
                <a:ea typeface="Calibri" panose="020F0502020204030204" pitchFamily="34" charset="0"/>
              </a:rPr>
              <a:t>Correcting of spelling in given word</a:t>
            </a:r>
            <a:endParaRPr lang="en-IN" sz="3100" dirty="0">
              <a:effectLst/>
              <a:ea typeface="Calibri" panose="020F0502020204030204" pitchFamily="34" charset="0"/>
            </a:endParaRPr>
          </a:p>
          <a:p>
            <a:pPr marL="0" indent="0" algn="just">
              <a:lnSpc>
                <a:spcPct val="100000"/>
              </a:lnSpc>
              <a:buNone/>
            </a:pPr>
            <a:endParaRPr lang="en-IN" sz="2400" kern="150" dirty="0">
              <a:effectLst/>
              <a:ea typeface="Calibri" panose="020F0502020204030204" pitchFamily="34" charset="0"/>
              <a:cs typeface="Times New Roman" panose="02020603050405020304" pitchFamily="18" charset="0"/>
            </a:endParaRPr>
          </a:p>
          <a:p>
            <a:pPr marL="0" indent="0" algn="just">
              <a:lnSpc>
                <a:spcPct val="100000"/>
              </a:lnSpc>
              <a:buNone/>
            </a:pPr>
            <a:endParaRPr lang="en-IN" sz="2400" dirty="0"/>
          </a:p>
        </p:txBody>
      </p:sp>
    </p:spTree>
    <p:extLst>
      <p:ext uri="{BB962C8B-B14F-4D97-AF65-F5344CB8AC3E}">
        <p14:creationId xmlns:p14="http://schemas.microsoft.com/office/powerpoint/2010/main" val="3548106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EAD08-57D6-5C4B-A6B8-73769E027AE1}"/>
              </a:ext>
            </a:extLst>
          </p:cNvPr>
          <p:cNvSpPr>
            <a:spLocks noGrp="1"/>
          </p:cNvSpPr>
          <p:nvPr>
            <p:ph type="title"/>
          </p:nvPr>
        </p:nvSpPr>
        <p:spPr>
          <a:xfrm>
            <a:off x="838200" y="16564"/>
            <a:ext cx="10515600" cy="672421"/>
          </a:xfrm>
        </p:spPr>
        <p:txBody>
          <a:bodyPr>
            <a:normAutofit fontScale="90000"/>
          </a:bodyPr>
          <a:lstStyle/>
          <a:p>
            <a:pPr marL="0" indent="0" algn="ctr">
              <a:lnSpc>
                <a:spcPct val="100000"/>
              </a:lnSpc>
              <a:buNone/>
            </a:pPr>
            <a:r>
              <a:rPr lang="en-IN" sz="4400" dirty="0">
                <a:solidFill>
                  <a:srgbClr val="FF0000"/>
                </a:solidFill>
                <a:effectLst/>
                <a:latin typeface="Times New Roman" panose="02020603050405020304" pitchFamily="18" charset="0"/>
                <a:ea typeface="Calibri" panose="020F0502020204030204" pitchFamily="34" charset="0"/>
              </a:rPr>
              <a:t>sentence splitter</a:t>
            </a:r>
          </a:p>
        </p:txBody>
      </p:sp>
      <p:sp>
        <p:nvSpPr>
          <p:cNvPr id="3" name="Content Placeholder 2">
            <a:extLst>
              <a:ext uri="{FF2B5EF4-FFF2-40B4-BE49-F238E27FC236}">
                <a16:creationId xmlns:a16="http://schemas.microsoft.com/office/drawing/2014/main" id="{5838755E-7B38-2B6A-7FF3-6E0081DC8C6B}"/>
              </a:ext>
            </a:extLst>
          </p:cNvPr>
          <p:cNvSpPr>
            <a:spLocks noGrp="1"/>
          </p:cNvSpPr>
          <p:nvPr>
            <p:ph idx="1"/>
          </p:nvPr>
        </p:nvSpPr>
        <p:spPr>
          <a:xfrm>
            <a:off x="838200" y="883920"/>
            <a:ext cx="10515600" cy="6142030"/>
          </a:xfrm>
        </p:spPr>
        <p:txBody>
          <a:bodyPr>
            <a:normAutofit/>
          </a:bodyPr>
          <a:lstStyle/>
          <a:p>
            <a:pPr algn="just">
              <a:lnSpc>
                <a:spcPct val="100000"/>
              </a:lnSpc>
            </a:pPr>
            <a:r>
              <a:rPr lang="en-US" sz="2400" dirty="0"/>
              <a:t>Sentence Splitting (or Sentence Segmentation) in NLP is the task of </a:t>
            </a:r>
            <a:r>
              <a:rPr lang="en-US" sz="2400" dirty="0">
                <a:solidFill>
                  <a:srgbClr val="7030A0"/>
                </a:solidFill>
              </a:rPr>
              <a:t>dividing a stream of text into individual sentences</a:t>
            </a:r>
            <a:r>
              <a:rPr lang="en-US" sz="2400" dirty="0"/>
              <a:t>.  </a:t>
            </a:r>
          </a:p>
          <a:p>
            <a:pPr algn="just">
              <a:lnSpc>
                <a:spcPct val="100000"/>
              </a:lnSpc>
            </a:pPr>
            <a:r>
              <a:rPr lang="en-US" sz="2400" dirty="0"/>
              <a:t>In NLTK, you can use the built-in </a:t>
            </a:r>
            <a:r>
              <a:rPr lang="en-US" sz="2400" dirty="0" err="1">
                <a:solidFill>
                  <a:srgbClr val="7030A0"/>
                </a:solidFill>
              </a:rPr>
              <a:t>sent_tokenize</a:t>
            </a:r>
            <a:r>
              <a:rPr lang="en-US" sz="2400" dirty="0">
                <a:solidFill>
                  <a:srgbClr val="7030A0"/>
                </a:solidFill>
              </a:rPr>
              <a:t>() </a:t>
            </a:r>
            <a:r>
              <a:rPr lang="en-US" sz="2400" dirty="0"/>
              <a:t>function to </a:t>
            </a:r>
            <a:r>
              <a:rPr lang="en-US" sz="2400" dirty="0">
                <a:solidFill>
                  <a:srgbClr val="7030A0"/>
                </a:solidFill>
              </a:rPr>
              <a:t>split text into sentences</a:t>
            </a:r>
            <a:r>
              <a:rPr lang="en-US" sz="2400" dirty="0"/>
              <a:t>.</a:t>
            </a:r>
            <a:endParaRPr lang="en-IN" sz="2400" dirty="0"/>
          </a:p>
        </p:txBody>
      </p:sp>
      <p:sp>
        <p:nvSpPr>
          <p:cNvPr id="7" name="TextBox 6">
            <a:extLst>
              <a:ext uri="{FF2B5EF4-FFF2-40B4-BE49-F238E27FC236}">
                <a16:creationId xmlns:a16="http://schemas.microsoft.com/office/drawing/2014/main" id="{5F3999B1-3B81-7819-561C-EAB08EEBEFA0}"/>
              </a:ext>
            </a:extLst>
          </p:cNvPr>
          <p:cNvSpPr txBox="1"/>
          <p:nvPr/>
        </p:nvSpPr>
        <p:spPr>
          <a:xfrm>
            <a:off x="975360" y="3058498"/>
            <a:ext cx="9083040" cy="2031325"/>
          </a:xfrm>
          <a:prstGeom prst="rect">
            <a:avLst/>
          </a:prstGeom>
          <a:noFill/>
        </p:spPr>
        <p:txBody>
          <a:bodyPr wrap="square">
            <a:spAutoFit/>
          </a:bodyPr>
          <a:lstStyle/>
          <a:p>
            <a:r>
              <a:rPr lang="en-IN" dirty="0">
                <a:latin typeface="Cascadia Code" panose="020B0609020000020004" pitchFamily="49" charset="0"/>
                <a:ea typeface="Cascadia Code" panose="020B0609020000020004" pitchFamily="49" charset="0"/>
                <a:cs typeface="Cascadia Code" panose="020B0609020000020004" pitchFamily="49" charset="0"/>
              </a:rPr>
              <a:t>import </a:t>
            </a:r>
            <a:r>
              <a:rPr lang="en-IN" dirty="0" err="1">
                <a:latin typeface="Cascadia Code" panose="020B0609020000020004" pitchFamily="49" charset="0"/>
                <a:ea typeface="Cascadia Code" panose="020B0609020000020004" pitchFamily="49" charset="0"/>
                <a:cs typeface="Cascadia Code" panose="020B0609020000020004" pitchFamily="49" charset="0"/>
              </a:rPr>
              <a:t>nltk</a:t>
            </a:r>
            <a:endParaRPr lang="en-IN" dirty="0">
              <a:latin typeface="Cascadia Code" panose="020B0609020000020004" pitchFamily="49" charset="0"/>
              <a:ea typeface="Cascadia Code" panose="020B0609020000020004" pitchFamily="49" charset="0"/>
              <a:cs typeface="Cascadia Code" panose="020B0609020000020004" pitchFamily="49" charset="0"/>
            </a:endParaRP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from </a:t>
            </a:r>
            <a:r>
              <a:rPr lang="en-IN" dirty="0" err="1">
                <a:latin typeface="Cascadia Code" panose="020B0609020000020004" pitchFamily="49" charset="0"/>
                <a:ea typeface="Cascadia Code" panose="020B0609020000020004" pitchFamily="49" charset="0"/>
                <a:cs typeface="Cascadia Code" panose="020B0609020000020004" pitchFamily="49" charset="0"/>
              </a:rPr>
              <a:t>nltk.tokenize</a:t>
            </a:r>
            <a:r>
              <a:rPr lang="en-IN" dirty="0">
                <a:latin typeface="Cascadia Code" panose="020B0609020000020004" pitchFamily="49" charset="0"/>
                <a:ea typeface="Cascadia Code" panose="020B0609020000020004" pitchFamily="49" charset="0"/>
                <a:cs typeface="Cascadia Code" panose="020B0609020000020004" pitchFamily="49" charset="0"/>
              </a:rPr>
              <a:t> import </a:t>
            </a:r>
            <a:r>
              <a:rPr lang="en-IN" dirty="0" err="1">
                <a:latin typeface="Cascadia Code" panose="020B0609020000020004" pitchFamily="49" charset="0"/>
                <a:ea typeface="Cascadia Code" panose="020B0609020000020004" pitchFamily="49" charset="0"/>
                <a:cs typeface="Cascadia Code" panose="020B0609020000020004" pitchFamily="49" charset="0"/>
              </a:rPr>
              <a:t>sent_tokenize</a:t>
            </a:r>
            <a:endParaRPr lang="en-IN" dirty="0">
              <a:latin typeface="Cascadia Code" panose="020B0609020000020004" pitchFamily="49" charset="0"/>
              <a:ea typeface="Cascadia Code" panose="020B0609020000020004" pitchFamily="49" charset="0"/>
              <a:cs typeface="Cascadia Code" panose="020B0609020000020004" pitchFamily="49" charset="0"/>
            </a:endParaRP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text = "Hello world. NLP is amazing. Let's split this."</a:t>
            </a:r>
          </a:p>
          <a:p>
            <a:r>
              <a:rPr lang="en-IN" dirty="0">
                <a:latin typeface="Cascadia Code" panose="020B0609020000020004" pitchFamily="49" charset="0"/>
                <a:ea typeface="Cascadia Code" panose="020B0609020000020004" pitchFamily="49" charset="0"/>
                <a:cs typeface="Cascadia Code" panose="020B0609020000020004" pitchFamily="49" charset="0"/>
              </a:rPr>
              <a:t>sentences = </a:t>
            </a:r>
            <a:r>
              <a:rPr lang="en-IN" dirty="0" err="1">
                <a:latin typeface="Cascadia Code" panose="020B0609020000020004" pitchFamily="49" charset="0"/>
                <a:ea typeface="Cascadia Code" panose="020B0609020000020004" pitchFamily="49" charset="0"/>
                <a:cs typeface="Cascadia Code" panose="020B0609020000020004" pitchFamily="49" charset="0"/>
              </a:rPr>
              <a:t>sent_tokenize</a:t>
            </a:r>
            <a:r>
              <a:rPr lang="en-IN" dirty="0">
                <a:latin typeface="Cascadia Code" panose="020B0609020000020004" pitchFamily="49" charset="0"/>
                <a:ea typeface="Cascadia Code" panose="020B0609020000020004" pitchFamily="49" charset="0"/>
                <a:cs typeface="Cascadia Code" panose="020B0609020000020004" pitchFamily="49" charset="0"/>
              </a:rPr>
              <a:t>(text)</a:t>
            </a:r>
          </a:p>
          <a:p>
            <a:r>
              <a:rPr lang="en-IN" dirty="0">
                <a:latin typeface="Cascadia Code" panose="020B0609020000020004" pitchFamily="49" charset="0"/>
                <a:ea typeface="Cascadia Code" panose="020B0609020000020004" pitchFamily="49" charset="0"/>
                <a:cs typeface="Cascadia Code" panose="020B0609020000020004" pitchFamily="49" charset="0"/>
              </a:rPr>
              <a:t>print(sentences)</a:t>
            </a:r>
          </a:p>
        </p:txBody>
      </p:sp>
      <p:sp>
        <p:nvSpPr>
          <p:cNvPr id="10" name="TextBox 9">
            <a:extLst>
              <a:ext uri="{FF2B5EF4-FFF2-40B4-BE49-F238E27FC236}">
                <a16:creationId xmlns:a16="http://schemas.microsoft.com/office/drawing/2014/main" id="{47AF12B5-DFDD-26C6-EC2F-B6D3E82DD0DE}"/>
              </a:ext>
            </a:extLst>
          </p:cNvPr>
          <p:cNvSpPr txBox="1"/>
          <p:nvPr/>
        </p:nvSpPr>
        <p:spPr>
          <a:xfrm>
            <a:off x="4886960" y="5696929"/>
            <a:ext cx="8006080" cy="461665"/>
          </a:xfrm>
          <a:prstGeom prst="rect">
            <a:avLst/>
          </a:prstGeom>
          <a:noFill/>
        </p:spPr>
        <p:txBody>
          <a:bodyPr wrap="square">
            <a:spAutoFit/>
          </a:bodyPr>
          <a:lstStyle/>
          <a:p>
            <a:r>
              <a:rPr lang="en-US" sz="2400" dirty="0">
                <a:solidFill>
                  <a:srgbClr val="C00000"/>
                </a:solidFill>
              </a:rPr>
              <a:t>['Hello world.', 'NLP is amazing.', "Let's split this."]</a:t>
            </a:r>
          </a:p>
        </p:txBody>
      </p:sp>
    </p:spTree>
    <p:extLst>
      <p:ext uri="{BB962C8B-B14F-4D97-AF65-F5344CB8AC3E}">
        <p14:creationId xmlns:p14="http://schemas.microsoft.com/office/powerpoint/2010/main" val="2176107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074AA-37AD-8CFF-6F03-9C3DF3183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597BD-C7E5-FC15-E29E-DABDA7E30BFC}"/>
              </a:ext>
            </a:extLst>
          </p:cNvPr>
          <p:cNvSpPr>
            <a:spLocks noGrp="1"/>
          </p:cNvSpPr>
          <p:nvPr>
            <p:ph type="title"/>
          </p:nvPr>
        </p:nvSpPr>
        <p:spPr>
          <a:xfrm>
            <a:off x="838200" y="83359"/>
            <a:ext cx="10515600" cy="672421"/>
          </a:xfrm>
        </p:spPr>
        <p:txBody>
          <a:bodyPr>
            <a:normAutofit/>
          </a:bodyPr>
          <a:lstStyle/>
          <a:p>
            <a:pPr marL="0" indent="0" algn="ctr">
              <a:lnSpc>
                <a:spcPct val="100000"/>
              </a:lnSpc>
              <a:buNone/>
            </a:pPr>
            <a:r>
              <a:rPr lang="en-IN" sz="3600" dirty="0">
                <a:solidFill>
                  <a:srgbClr val="FF0000"/>
                </a:solidFill>
                <a:effectLst/>
                <a:latin typeface="Times New Roman" panose="02020603050405020304" pitchFamily="18" charset="0"/>
                <a:ea typeface="Calibri" panose="020F0502020204030204" pitchFamily="34" charset="0"/>
              </a:rPr>
              <a:t>Word Tokenization</a:t>
            </a:r>
          </a:p>
        </p:txBody>
      </p:sp>
      <p:sp>
        <p:nvSpPr>
          <p:cNvPr id="3" name="Content Placeholder 2">
            <a:extLst>
              <a:ext uri="{FF2B5EF4-FFF2-40B4-BE49-F238E27FC236}">
                <a16:creationId xmlns:a16="http://schemas.microsoft.com/office/drawing/2014/main" id="{28229A63-F100-556B-FF40-DCB362C29D16}"/>
              </a:ext>
            </a:extLst>
          </p:cNvPr>
          <p:cNvSpPr>
            <a:spLocks noGrp="1"/>
          </p:cNvSpPr>
          <p:nvPr>
            <p:ph idx="1"/>
          </p:nvPr>
        </p:nvSpPr>
        <p:spPr>
          <a:xfrm>
            <a:off x="655320" y="817570"/>
            <a:ext cx="11211560" cy="6040430"/>
          </a:xfrm>
        </p:spPr>
        <p:txBody>
          <a:bodyPr>
            <a:normAutofit/>
          </a:bodyPr>
          <a:lstStyle/>
          <a:p>
            <a:pPr algn="just">
              <a:lnSpc>
                <a:spcPct val="100000"/>
              </a:lnSpc>
            </a:pPr>
            <a:r>
              <a:rPr lang="en-US" sz="2400" b="1" dirty="0"/>
              <a:t>Word Tokenization</a:t>
            </a:r>
            <a:r>
              <a:rPr lang="en-US" sz="2400" dirty="0"/>
              <a:t> is the process of </a:t>
            </a:r>
            <a:r>
              <a:rPr lang="en-US" sz="2400" dirty="0">
                <a:solidFill>
                  <a:srgbClr val="7030A0"/>
                </a:solidFill>
              </a:rPr>
              <a:t>splitting a text into individual words</a:t>
            </a:r>
            <a:r>
              <a:rPr lang="en-US" sz="2400" dirty="0"/>
              <a:t>, which are the basic units for many NLP tasks, such as part-of-speech tagging, named entity recognition, and text classification. </a:t>
            </a:r>
          </a:p>
          <a:p>
            <a:pPr algn="just">
              <a:lnSpc>
                <a:spcPct val="100000"/>
              </a:lnSpc>
            </a:pPr>
            <a:r>
              <a:rPr kumimoji="0" lang="en-US" altLang="en-US" sz="2400" b="0" i="0" u="none" strike="noStrike" cap="none" normalizeH="0" baseline="0" dirty="0">
                <a:ln>
                  <a:noFill/>
                </a:ln>
                <a:solidFill>
                  <a:schemeClr val="tx1"/>
                </a:solidFill>
                <a:effectLst/>
              </a:rPr>
              <a:t>The </a:t>
            </a:r>
            <a:r>
              <a:rPr kumimoji="0" lang="en-US" altLang="en-US" sz="2400" b="0" i="0" u="none" strike="noStrike" cap="none" normalizeH="0" baseline="0" dirty="0" err="1">
                <a:ln>
                  <a:noFill/>
                </a:ln>
                <a:solidFill>
                  <a:srgbClr val="7030A0"/>
                </a:solidFill>
                <a:effectLst/>
              </a:rPr>
              <a:t>word_tokenize</a:t>
            </a:r>
            <a:r>
              <a:rPr kumimoji="0" lang="en-US" altLang="en-US" sz="2400" b="0" i="0" u="none" strike="noStrike" cap="none" normalizeH="0" baseline="0" dirty="0">
                <a:ln>
                  <a:noFill/>
                </a:ln>
                <a:solidFill>
                  <a:srgbClr val="7030A0"/>
                </a:solidFill>
                <a:effectLst/>
              </a:rPr>
              <a:t>() </a:t>
            </a:r>
            <a:r>
              <a:rPr kumimoji="0" lang="en-US" altLang="en-US" sz="2400" b="0" i="0" u="none" strike="noStrike" cap="none" normalizeH="0" baseline="0" dirty="0">
                <a:ln>
                  <a:noFill/>
                </a:ln>
                <a:solidFill>
                  <a:schemeClr val="tx1"/>
                </a:solidFill>
                <a:effectLst/>
              </a:rPr>
              <a:t>function from NLTK is a simple and effective way to </a:t>
            </a:r>
            <a:r>
              <a:rPr kumimoji="0" lang="en-US" altLang="en-US" sz="2400" b="0" i="0" u="none" strike="noStrike" cap="none" normalizeH="0" baseline="0" dirty="0">
                <a:ln>
                  <a:noFill/>
                </a:ln>
                <a:solidFill>
                  <a:srgbClr val="7030A0"/>
                </a:solidFill>
                <a:effectLst/>
              </a:rPr>
              <a:t>split text into individual words</a:t>
            </a:r>
            <a:r>
              <a:rPr kumimoji="0" lang="en-US" altLang="en-US" sz="2400" b="0" i="0" u="none" strike="noStrike" cap="none" normalizeH="0" baseline="0" dirty="0">
                <a:ln>
                  <a:noFill/>
                </a:ln>
                <a:solidFill>
                  <a:schemeClr val="tx1"/>
                </a:solidFill>
                <a:effectLst/>
              </a:rPr>
              <a:t>, considering punctuation as separate tokens. </a:t>
            </a:r>
          </a:p>
          <a:p>
            <a:pPr algn="just">
              <a:lnSpc>
                <a:spcPct val="100000"/>
              </a:lnSpc>
            </a:pPr>
            <a:endParaRPr lang="en-US" sz="2400" dirty="0"/>
          </a:p>
          <a:p>
            <a:pPr algn="just">
              <a:lnSpc>
                <a:spcPct val="100000"/>
              </a:lnSpc>
            </a:pPr>
            <a:endParaRPr lang="en-IN" sz="2400" dirty="0"/>
          </a:p>
        </p:txBody>
      </p:sp>
      <p:sp>
        <p:nvSpPr>
          <p:cNvPr id="7" name="TextBox 6">
            <a:extLst>
              <a:ext uri="{FF2B5EF4-FFF2-40B4-BE49-F238E27FC236}">
                <a16:creationId xmlns:a16="http://schemas.microsoft.com/office/drawing/2014/main" id="{A977AF0F-D440-5F8C-8C13-C771163871F3}"/>
              </a:ext>
            </a:extLst>
          </p:cNvPr>
          <p:cNvSpPr txBox="1"/>
          <p:nvPr/>
        </p:nvSpPr>
        <p:spPr>
          <a:xfrm>
            <a:off x="838200" y="3120904"/>
            <a:ext cx="11206480" cy="2862322"/>
          </a:xfrm>
          <a:prstGeom prst="rect">
            <a:avLst/>
          </a:prstGeom>
          <a:noFill/>
        </p:spPr>
        <p:txBody>
          <a:bodyPr wrap="square">
            <a:spAutoFit/>
          </a:bodyPr>
          <a:lstStyle/>
          <a:p>
            <a:r>
              <a:rPr lang="en-US" dirty="0">
                <a:latin typeface="Cascadia Code" panose="020B0609020000020004" pitchFamily="49" charset="0"/>
                <a:ea typeface="Cascadia Code" panose="020B0609020000020004" pitchFamily="49" charset="0"/>
                <a:cs typeface="Cascadia Code" panose="020B0609020000020004" pitchFamily="49" charset="0"/>
              </a:rPr>
              <a:t>import </a:t>
            </a:r>
            <a:r>
              <a:rPr lang="en-US" dirty="0" err="1">
                <a:latin typeface="Cascadia Code" panose="020B0609020000020004" pitchFamily="49" charset="0"/>
                <a:ea typeface="Cascadia Code" panose="020B0609020000020004" pitchFamily="49" charset="0"/>
                <a:cs typeface="Cascadia Code" panose="020B0609020000020004" pitchFamily="49" charset="0"/>
              </a:rPr>
              <a:t>nltk</a:t>
            </a:r>
            <a:endParaRPr lang="en-US" dirty="0">
              <a:latin typeface="Cascadia Code" panose="020B0609020000020004" pitchFamily="49" charset="0"/>
              <a:ea typeface="Cascadia Code" panose="020B0609020000020004" pitchFamily="49" charset="0"/>
              <a:cs typeface="Cascadia Code" panose="020B0609020000020004" pitchFamily="49" charset="0"/>
            </a:endParaRPr>
          </a:p>
          <a:p>
            <a:r>
              <a:rPr lang="en-US" dirty="0">
                <a:latin typeface="Cascadia Code" panose="020B0609020000020004" pitchFamily="49" charset="0"/>
                <a:ea typeface="Cascadia Code" panose="020B0609020000020004" pitchFamily="49" charset="0"/>
                <a:cs typeface="Cascadia Code" panose="020B0609020000020004" pitchFamily="49" charset="0"/>
              </a:rPr>
              <a:t>from </a:t>
            </a:r>
            <a:r>
              <a:rPr lang="en-US" dirty="0" err="1">
                <a:latin typeface="Cascadia Code" panose="020B0609020000020004" pitchFamily="49" charset="0"/>
                <a:ea typeface="Cascadia Code" panose="020B0609020000020004" pitchFamily="49" charset="0"/>
                <a:cs typeface="Cascadia Code" panose="020B0609020000020004" pitchFamily="49" charset="0"/>
              </a:rPr>
              <a:t>nltk.tokenize</a:t>
            </a:r>
            <a:r>
              <a:rPr lang="en-US" dirty="0">
                <a:latin typeface="Cascadia Code" panose="020B0609020000020004" pitchFamily="49" charset="0"/>
                <a:ea typeface="Cascadia Code" panose="020B0609020000020004" pitchFamily="49" charset="0"/>
                <a:cs typeface="Cascadia Code" panose="020B0609020000020004" pitchFamily="49" charset="0"/>
              </a:rPr>
              <a:t> import </a:t>
            </a:r>
            <a:r>
              <a:rPr lang="en-US" dirty="0" err="1">
                <a:latin typeface="Cascadia Code" panose="020B0609020000020004" pitchFamily="49" charset="0"/>
                <a:ea typeface="Cascadia Code" panose="020B0609020000020004" pitchFamily="49" charset="0"/>
                <a:cs typeface="Cascadia Code" panose="020B0609020000020004" pitchFamily="49" charset="0"/>
              </a:rPr>
              <a:t>word_tokenize</a:t>
            </a:r>
            <a:endParaRPr lang="en-US" dirty="0">
              <a:latin typeface="Cascadia Code" panose="020B0609020000020004" pitchFamily="49" charset="0"/>
              <a:ea typeface="Cascadia Code" panose="020B0609020000020004" pitchFamily="49" charset="0"/>
              <a:cs typeface="Cascadia Code" panose="020B0609020000020004" pitchFamily="49" charset="0"/>
            </a:endParaRPr>
          </a:p>
          <a:p>
            <a:endParaRPr lang="en-US" dirty="0">
              <a:latin typeface="Cascadia Code" panose="020B0609020000020004" pitchFamily="49" charset="0"/>
              <a:ea typeface="Cascadia Code" panose="020B0609020000020004" pitchFamily="49" charset="0"/>
              <a:cs typeface="Cascadia Code" panose="020B0609020000020004" pitchFamily="49" charset="0"/>
            </a:endParaRPr>
          </a:p>
          <a:p>
            <a:r>
              <a:rPr lang="en-US" dirty="0">
                <a:latin typeface="Cascadia Code" panose="020B0609020000020004" pitchFamily="49" charset="0"/>
                <a:ea typeface="Cascadia Code" panose="020B0609020000020004" pitchFamily="49" charset="0"/>
                <a:cs typeface="Cascadia Code" panose="020B0609020000020004" pitchFamily="49" charset="0"/>
              </a:rPr>
              <a:t>text = "Hello world! NLP is amazing. Let's tokenize this text, it's fun."</a:t>
            </a:r>
          </a:p>
          <a:p>
            <a:endParaRPr lang="en-US" dirty="0">
              <a:latin typeface="Cascadia Code" panose="020B0609020000020004" pitchFamily="49" charset="0"/>
              <a:ea typeface="Cascadia Code" panose="020B0609020000020004" pitchFamily="49" charset="0"/>
              <a:cs typeface="Cascadia Code" panose="020B0609020000020004" pitchFamily="49" charset="0"/>
            </a:endParaRPr>
          </a:p>
          <a:p>
            <a:r>
              <a:rPr lang="en-US" dirty="0">
                <a:latin typeface="Cascadia Code" panose="020B0609020000020004" pitchFamily="49" charset="0"/>
                <a:ea typeface="Cascadia Code" panose="020B0609020000020004" pitchFamily="49" charset="0"/>
                <a:cs typeface="Cascadia Code" panose="020B0609020000020004" pitchFamily="49" charset="0"/>
              </a:rPr>
              <a:t># Tokenize the text into words</a:t>
            </a:r>
          </a:p>
          <a:p>
            <a:r>
              <a:rPr lang="en-US" dirty="0">
                <a:latin typeface="Cascadia Code" panose="020B0609020000020004" pitchFamily="49" charset="0"/>
                <a:ea typeface="Cascadia Code" panose="020B0609020000020004" pitchFamily="49" charset="0"/>
                <a:cs typeface="Cascadia Code" panose="020B0609020000020004" pitchFamily="49" charset="0"/>
              </a:rPr>
              <a:t>tokens = </a:t>
            </a:r>
            <a:r>
              <a:rPr lang="en-US"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word_tokenize</a:t>
            </a:r>
            <a:r>
              <a:rPr lang="en-US"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(text)</a:t>
            </a:r>
          </a:p>
          <a:p>
            <a:endParaRPr lang="en-US" dirty="0">
              <a:latin typeface="Cascadia Code" panose="020B0609020000020004" pitchFamily="49" charset="0"/>
              <a:ea typeface="Cascadia Code" panose="020B0609020000020004" pitchFamily="49" charset="0"/>
              <a:cs typeface="Cascadia Code" panose="020B0609020000020004" pitchFamily="49" charset="0"/>
            </a:endParaRPr>
          </a:p>
          <a:p>
            <a:r>
              <a:rPr lang="en-US" dirty="0">
                <a:latin typeface="Cascadia Code" panose="020B0609020000020004" pitchFamily="49" charset="0"/>
                <a:ea typeface="Cascadia Code" panose="020B0609020000020004" pitchFamily="49" charset="0"/>
                <a:cs typeface="Cascadia Code" panose="020B0609020000020004" pitchFamily="49" charset="0"/>
              </a:rPr>
              <a:t># Print the tokens (words)</a:t>
            </a:r>
          </a:p>
          <a:p>
            <a:r>
              <a:rPr lang="en-US" dirty="0">
                <a:latin typeface="Cascadia Code" panose="020B0609020000020004" pitchFamily="49" charset="0"/>
                <a:ea typeface="Cascadia Code" panose="020B0609020000020004" pitchFamily="49" charset="0"/>
                <a:cs typeface="Cascadia Code" panose="020B0609020000020004" pitchFamily="49" charset="0"/>
              </a:rPr>
              <a:t>print("Tokens:", tokens)</a:t>
            </a:r>
          </a:p>
        </p:txBody>
      </p:sp>
      <p:sp>
        <p:nvSpPr>
          <p:cNvPr id="11" name="TextBox 10">
            <a:extLst>
              <a:ext uri="{FF2B5EF4-FFF2-40B4-BE49-F238E27FC236}">
                <a16:creationId xmlns:a16="http://schemas.microsoft.com/office/drawing/2014/main" id="{4CD76438-DCBC-F468-FDC6-71374042C47F}"/>
              </a:ext>
            </a:extLst>
          </p:cNvPr>
          <p:cNvSpPr txBox="1"/>
          <p:nvPr/>
        </p:nvSpPr>
        <p:spPr>
          <a:xfrm>
            <a:off x="2499360" y="6463686"/>
            <a:ext cx="9941560" cy="373580"/>
          </a:xfrm>
          <a:prstGeom prst="rect">
            <a:avLst/>
          </a:prstGeom>
          <a:noFill/>
        </p:spPr>
        <p:txBody>
          <a:bodyPr wrap="square">
            <a:spAutoFit/>
          </a:bodyPr>
          <a:lstStyle/>
          <a:p>
            <a:r>
              <a:rPr lang="en-IN" dirty="0">
                <a:solidFill>
                  <a:srgbClr val="C00000"/>
                </a:solidFill>
              </a:rPr>
              <a:t>Tokens: ['Hello', 'world', '!', 'NLP', 'is', 'amazing', '.', 'Let', "'s", 'tokenize', 'this', 'text', ',', 'it', "'s", 'fun', '.']</a:t>
            </a:r>
          </a:p>
        </p:txBody>
      </p:sp>
    </p:spTree>
    <p:extLst>
      <p:ext uri="{BB962C8B-B14F-4D97-AF65-F5344CB8AC3E}">
        <p14:creationId xmlns:p14="http://schemas.microsoft.com/office/powerpoint/2010/main" val="4060151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FD35B-52E7-07F8-CE1F-60900598A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B0B09-5568-CBB0-C133-1D89AB65B526}"/>
              </a:ext>
            </a:extLst>
          </p:cNvPr>
          <p:cNvSpPr>
            <a:spLocks noGrp="1"/>
          </p:cNvSpPr>
          <p:nvPr>
            <p:ph type="title"/>
          </p:nvPr>
        </p:nvSpPr>
        <p:spPr>
          <a:xfrm>
            <a:off x="838200" y="83359"/>
            <a:ext cx="10515600" cy="672421"/>
          </a:xfrm>
        </p:spPr>
        <p:txBody>
          <a:bodyPr>
            <a:noAutofit/>
          </a:bodyPr>
          <a:lstStyle/>
          <a:p>
            <a:pPr marL="0" indent="0" algn="ctr">
              <a:lnSpc>
                <a:spcPct val="100000"/>
              </a:lnSpc>
              <a:buNone/>
            </a:pPr>
            <a:r>
              <a:rPr lang="en-US" sz="4000" b="1" dirty="0">
                <a:solidFill>
                  <a:srgbClr val="FF0000"/>
                </a:solidFill>
              </a:rPr>
              <a:t>Stop word removal</a:t>
            </a:r>
            <a:endParaRPr lang="en-IN" sz="4000" dirty="0">
              <a:solidFill>
                <a:srgbClr val="FF0000"/>
              </a:solidFill>
              <a:effectLst/>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a16="http://schemas.microsoft.com/office/drawing/2014/main" id="{8A355E95-2E7F-D89A-92A3-A42D2CFE332A}"/>
              </a:ext>
            </a:extLst>
          </p:cNvPr>
          <p:cNvSpPr>
            <a:spLocks noGrp="1"/>
          </p:cNvSpPr>
          <p:nvPr>
            <p:ph idx="1"/>
          </p:nvPr>
        </p:nvSpPr>
        <p:spPr>
          <a:xfrm>
            <a:off x="655320" y="817570"/>
            <a:ext cx="11211560" cy="6040430"/>
          </a:xfrm>
        </p:spPr>
        <p:txBody>
          <a:bodyPr>
            <a:normAutofit/>
          </a:bodyPr>
          <a:lstStyle/>
          <a:p>
            <a:pPr algn="just"/>
            <a:r>
              <a:rPr lang="en-US" sz="2400" b="1" dirty="0"/>
              <a:t>Stop word removal</a:t>
            </a:r>
            <a:r>
              <a:rPr lang="en-US" sz="2400" dirty="0"/>
              <a:t> is a preprocessing step in NLP, where common words (like </a:t>
            </a:r>
            <a:r>
              <a:rPr lang="en-US" sz="2400" dirty="0">
                <a:solidFill>
                  <a:srgbClr val="7030A0"/>
                </a:solidFill>
              </a:rPr>
              <a:t>"the," "is," "in,"</a:t>
            </a:r>
            <a:r>
              <a:rPr lang="en-US" sz="2400" dirty="0"/>
              <a:t> etc.) are removed from a text because they </a:t>
            </a:r>
            <a:r>
              <a:rPr lang="en-US" sz="2400" dirty="0">
                <a:solidFill>
                  <a:srgbClr val="7030A0"/>
                </a:solidFill>
              </a:rPr>
              <a:t>do not contribute much meaningful information</a:t>
            </a:r>
            <a:r>
              <a:rPr lang="en-US" sz="2400" dirty="0"/>
              <a:t> for many NLP tasks like text classification, sentiment analysis, and topic modeling.</a:t>
            </a:r>
          </a:p>
          <a:p>
            <a:pPr marL="0" indent="0" algn="just">
              <a:buNone/>
            </a:pPr>
            <a:r>
              <a:rPr lang="en-US" sz="2400" b="1" dirty="0"/>
              <a:t>Why Remove Stop Words?</a:t>
            </a:r>
          </a:p>
          <a:p>
            <a:pPr algn="just">
              <a:buFont typeface="Arial" panose="020B0604020202020204" pitchFamily="34" charset="0"/>
              <a:buChar char="•"/>
            </a:pPr>
            <a:r>
              <a:rPr lang="en-US" sz="2400" b="1" dirty="0"/>
              <a:t>Reduces Noise</a:t>
            </a:r>
            <a:r>
              <a:rPr lang="en-US" sz="2400" dirty="0"/>
              <a:t>: Stop words are frequent and usually carry little or no meaningful information, so removing them can help reduce the "noise" in the text.</a:t>
            </a:r>
          </a:p>
          <a:p>
            <a:pPr algn="just">
              <a:buFont typeface="Arial" panose="020B0604020202020204" pitchFamily="34" charset="0"/>
              <a:buChar char="•"/>
            </a:pPr>
            <a:r>
              <a:rPr lang="en-US" sz="2400" b="1" dirty="0"/>
              <a:t>Improves Efficiency</a:t>
            </a:r>
            <a:r>
              <a:rPr lang="en-US" sz="2400" dirty="0"/>
              <a:t>: Reducing the number of words in the dataset can speed up downstream processes like training machine learning models or performing text analysis.</a:t>
            </a:r>
          </a:p>
          <a:p>
            <a:pPr algn="just">
              <a:buFont typeface="Arial" panose="020B0604020202020204" pitchFamily="34" charset="0"/>
              <a:buChar char="•"/>
            </a:pPr>
            <a:r>
              <a:rPr lang="en-US" sz="2400" b="1" dirty="0"/>
              <a:t>Focus on Important Words</a:t>
            </a:r>
            <a:r>
              <a:rPr lang="en-US" sz="2400" dirty="0"/>
              <a:t>: It helps the model focus on words that carry more meaning and are more likely to affect the outcome of the analysis.</a:t>
            </a:r>
          </a:p>
          <a:p>
            <a:pPr marL="0" indent="0" algn="just">
              <a:buNone/>
            </a:pPr>
            <a:r>
              <a:rPr lang="en-US" sz="2400" b="1" dirty="0"/>
              <a:t>Common Stop Words:</a:t>
            </a:r>
          </a:p>
          <a:p>
            <a:pPr algn="just">
              <a:buFont typeface="Arial" panose="020B0604020202020204" pitchFamily="34" charset="0"/>
              <a:buChar char="•"/>
            </a:pPr>
            <a:r>
              <a:rPr lang="en-US" sz="2400" b="1" dirty="0"/>
              <a:t>English stop words</a:t>
            </a:r>
            <a:r>
              <a:rPr lang="en-US" sz="2400" dirty="0"/>
              <a:t>: "the", "is", "at", "which", "in", "on", "of", "for", "and", "or", "a", "an", etc.</a:t>
            </a:r>
          </a:p>
          <a:p>
            <a:pPr algn="just">
              <a:lnSpc>
                <a:spcPct val="100000"/>
              </a:lnSpc>
            </a:pPr>
            <a:endParaRPr lang="en-IN" sz="2400" dirty="0"/>
          </a:p>
        </p:txBody>
      </p:sp>
    </p:spTree>
    <p:extLst>
      <p:ext uri="{BB962C8B-B14F-4D97-AF65-F5344CB8AC3E}">
        <p14:creationId xmlns:p14="http://schemas.microsoft.com/office/powerpoint/2010/main" val="1813088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273F7-8A93-C398-4B91-DA538F96C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86FEA-9C2C-9D34-BF57-D05633676017}"/>
              </a:ext>
            </a:extLst>
          </p:cNvPr>
          <p:cNvSpPr>
            <a:spLocks noGrp="1"/>
          </p:cNvSpPr>
          <p:nvPr>
            <p:ph type="title"/>
          </p:nvPr>
        </p:nvSpPr>
        <p:spPr>
          <a:xfrm>
            <a:off x="838200" y="-68211"/>
            <a:ext cx="10515600" cy="672421"/>
          </a:xfrm>
        </p:spPr>
        <p:txBody>
          <a:bodyPr>
            <a:normAutofit/>
          </a:bodyPr>
          <a:lstStyle/>
          <a:p>
            <a:pPr marL="0" indent="0" algn="ctr">
              <a:lnSpc>
                <a:spcPct val="100000"/>
              </a:lnSpc>
              <a:buNone/>
            </a:pPr>
            <a:r>
              <a:rPr lang="en-US" sz="3600" b="1" dirty="0">
                <a:solidFill>
                  <a:srgbClr val="FF0000"/>
                </a:solidFill>
              </a:rPr>
              <a:t>Stop word removal</a:t>
            </a:r>
            <a:endParaRPr lang="en-IN" sz="3600" dirty="0">
              <a:solidFill>
                <a:srgbClr val="FF0000"/>
              </a:solidFill>
              <a:effectLst/>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a16="http://schemas.microsoft.com/office/drawing/2014/main" id="{4D55ADAD-4B2C-38F9-5FC4-9D79FEC2799F}"/>
              </a:ext>
            </a:extLst>
          </p:cNvPr>
          <p:cNvSpPr>
            <a:spLocks noGrp="1"/>
          </p:cNvSpPr>
          <p:nvPr>
            <p:ph idx="1"/>
          </p:nvPr>
        </p:nvSpPr>
        <p:spPr>
          <a:xfrm>
            <a:off x="142240" y="604210"/>
            <a:ext cx="11211560" cy="6040430"/>
          </a:xfrm>
        </p:spPr>
        <p:txBody>
          <a:bodyPr>
            <a:noAutofit/>
          </a:bodyPr>
          <a:lstStyle/>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import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nltk</a:t>
            </a:r>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from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nltk.corpus</a:t>
            </a:r>
            <a:r>
              <a:rPr lang="en-US" sz="1700" dirty="0">
                <a:latin typeface="Cascadia Code" panose="020B0609020000020004" pitchFamily="49" charset="0"/>
                <a:ea typeface="Cascadia Code" panose="020B0609020000020004" pitchFamily="49" charset="0"/>
                <a:cs typeface="Cascadia Code" panose="020B0609020000020004" pitchFamily="49" charset="0"/>
              </a:rPr>
              <a:t> import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stopwords</a:t>
            </a:r>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from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nltk.tokenize</a:t>
            </a:r>
            <a:r>
              <a:rPr lang="en-US" sz="1700" dirty="0">
                <a:latin typeface="Cascadia Code" panose="020B0609020000020004" pitchFamily="49" charset="0"/>
                <a:ea typeface="Cascadia Code" panose="020B0609020000020004" pitchFamily="49" charset="0"/>
                <a:cs typeface="Cascadia Code" panose="020B0609020000020004" pitchFamily="49" charset="0"/>
              </a:rPr>
              <a:t> import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word_tokenize</a:t>
            </a:r>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spcBef>
                <a:spcPts val="200"/>
              </a:spcBef>
              <a:spcAft>
                <a:spcPts val="200"/>
              </a:spcAft>
              <a:buNone/>
            </a:pPr>
            <a:r>
              <a:rPr lang="en-US" sz="1700" dirty="0" err="1">
                <a:latin typeface="Cascadia Code" panose="020B0609020000020004" pitchFamily="49" charset="0"/>
                <a:ea typeface="Cascadia Code" panose="020B0609020000020004" pitchFamily="49" charset="0"/>
                <a:cs typeface="Cascadia Code" panose="020B0609020000020004" pitchFamily="49" charset="0"/>
              </a:rPr>
              <a:t>nltk.download</a:t>
            </a:r>
            <a:r>
              <a:rPr lang="en-US" sz="1700" dirty="0">
                <a:latin typeface="Cascadia Code" panose="020B0609020000020004" pitchFamily="49" charset="0"/>
                <a:ea typeface="Cascadia Code" panose="020B0609020000020004" pitchFamily="49" charset="0"/>
                <a:cs typeface="Cascadia Code" panose="020B0609020000020004" pitchFamily="49" charset="0"/>
              </a:rPr>
              <a:t>('</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stopwords</a:t>
            </a:r>
            <a:r>
              <a:rPr lang="en-US" sz="17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200"/>
              </a:spcBef>
              <a:spcAft>
                <a:spcPts val="200"/>
              </a:spcAft>
              <a:buNone/>
            </a:pPr>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text = "This is a sample sentence, and it contains some stop words."</a:t>
            </a: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tokens = </a:t>
            </a:r>
            <a:r>
              <a:rPr lang="en-US" sz="17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word_tokenize</a:t>
            </a:r>
            <a:r>
              <a:rPr lang="en-US" sz="17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(text)</a:t>
            </a:r>
          </a:p>
          <a:p>
            <a:pPr marL="0" indent="0" algn="just">
              <a:lnSpc>
                <a:spcPct val="100000"/>
              </a:lnSpc>
              <a:spcBef>
                <a:spcPts val="200"/>
              </a:spcBef>
              <a:spcAft>
                <a:spcPts val="200"/>
              </a:spcAft>
              <a:buNone/>
            </a:pPr>
            <a:r>
              <a:rPr lang="en-US"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Get the list of stop words in English</a:t>
            </a:r>
          </a:p>
          <a:p>
            <a:pPr marL="0" indent="0" algn="just">
              <a:lnSpc>
                <a:spcPct val="100000"/>
              </a:lnSpc>
              <a:spcBef>
                <a:spcPts val="200"/>
              </a:spcBef>
              <a:spcAft>
                <a:spcPts val="200"/>
              </a:spcAft>
              <a:buNone/>
            </a:pPr>
            <a:r>
              <a:rPr lang="en-US" sz="1700" dirty="0" err="1">
                <a:latin typeface="Cascadia Code" panose="020B0609020000020004" pitchFamily="49" charset="0"/>
                <a:ea typeface="Cascadia Code" panose="020B0609020000020004" pitchFamily="49" charset="0"/>
                <a:cs typeface="Cascadia Code" panose="020B0609020000020004" pitchFamily="49" charset="0"/>
              </a:rPr>
              <a:t>stop_words</a:t>
            </a:r>
            <a:r>
              <a:rPr lang="en-US" sz="1700" dirty="0">
                <a:latin typeface="Cascadia Code" panose="020B0609020000020004" pitchFamily="49" charset="0"/>
                <a:ea typeface="Cascadia Code" panose="020B0609020000020004" pitchFamily="49" charset="0"/>
                <a:cs typeface="Cascadia Code" panose="020B0609020000020004" pitchFamily="49" charset="0"/>
              </a:rPr>
              <a:t> = set(</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stopwords.words</a:t>
            </a:r>
            <a:r>
              <a:rPr lang="en-US" sz="1700" dirty="0">
                <a:latin typeface="Cascadia Code" panose="020B0609020000020004" pitchFamily="49" charset="0"/>
                <a:ea typeface="Cascadia Code" panose="020B0609020000020004" pitchFamily="49" charset="0"/>
                <a:cs typeface="Cascadia Code" panose="020B0609020000020004" pitchFamily="49" charset="0"/>
              </a:rPr>
              <a:t>('</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english</a:t>
            </a:r>
            <a:r>
              <a:rPr lang="en-US" sz="17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200"/>
              </a:spcBef>
              <a:spcAft>
                <a:spcPts val="200"/>
              </a:spcAft>
              <a:buNone/>
            </a:pPr>
            <a:r>
              <a:rPr lang="en-US" sz="1700" dirty="0" err="1">
                <a:latin typeface="Cascadia Code" panose="020B0609020000020004" pitchFamily="49" charset="0"/>
                <a:ea typeface="Cascadia Code" panose="020B0609020000020004" pitchFamily="49" charset="0"/>
                <a:cs typeface="Cascadia Code" panose="020B0609020000020004" pitchFamily="49" charset="0"/>
              </a:rPr>
              <a:t>filtered_tokens</a:t>
            </a:r>
            <a:r>
              <a:rPr lang="en-US" sz="17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200"/>
              </a:spcBef>
              <a:spcAft>
                <a:spcPts val="200"/>
              </a:spcAft>
              <a:buNone/>
            </a:pPr>
            <a:r>
              <a:rPr lang="en-US"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Remove stop words from the tokenized text</a:t>
            </a: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for word in tokens:</a:t>
            </a: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    if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word.lower</a:t>
            </a:r>
            <a:r>
              <a:rPr lang="en-US" sz="1700" dirty="0">
                <a:latin typeface="Cascadia Code" panose="020B0609020000020004" pitchFamily="49" charset="0"/>
                <a:ea typeface="Cascadia Code" panose="020B0609020000020004" pitchFamily="49" charset="0"/>
                <a:cs typeface="Cascadia Code" panose="020B0609020000020004" pitchFamily="49" charset="0"/>
              </a:rPr>
              <a:t>() not in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stop_words</a:t>
            </a:r>
            <a:r>
              <a:rPr lang="en-US" sz="17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filtered_tokens.append</a:t>
            </a:r>
            <a:r>
              <a:rPr lang="en-US" sz="1700" dirty="0">
                <a:latin typeface="Cascadia Code" panose="020B0609020000020004" pitchFamily="49" charset="0"/>
                <a:ea typeface="Cascadia Code" panose="020B0609020000020004" pitchFamily="49" charset="0"/>
                <a:cs typeface="Cascadia Code" panose="020B0609020000020004" pitchFamily="49" charset="0"/>
              </a:rPr>
              <a:t>(word)</a:t>
            </a:r>
          </a:p>
          <a:p>
            <a:pPr marL="0" indent="0" algn="just">
              <a:lnSpc>
                <a:spcPct val="100000"/>
              </a:lnSpc>
              <a:spcBef>
                <a:spcPts val="200"/>
              </a:spcBef>
              <a:spcAft>
                <a:spcPts val="200"/>
              </a:spcAft>
              <a:buNone/>
            </a:pPr>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print("Original Text:")</a:t>
            </a: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print(text)</a:t>
            </a: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print("\</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nFiltered</a:t>
            </a:r>
            <a:r>
              <a:rPr lang="en-US" sz="1700" dirty="0">
                <a:latin typeface="Cascadia Code" panose="020B0609020000020004" pitchFamily="49" charset="0"/>
                <a:ea typeface="Cascadia Code" panose="020B0609020000020004" pitchFamily="49" charset="0"/>
                <a:cs typeface="Cascadia Code" panose="020B0609020000020004" pitchFamily="49" charset="0"/>
              </a:rPr>
              <a:t> Text (without stop words):")</a:t>
            </a:r>
          </a:p>
          <a:p>
            <a:pPr marL="0" indent="0" algn="just">
              <a:lnSpc>
                <a:spcPct val="100000"/>
              </a:lnSpc>
              <a:spcBef>
                <a:spcPts val="200"/>
              </a:spcBef>
              <a:spcAft>
                <a:spcPts val="200"/>
              </a:spcAft>
              <a:buNone/>
            </a:pPr>
            <a:r>
              <a:rPr lang="en-US" sz="1700" dirty="0">
                <a:latin typeface="Cascadia Code" panose="020B0609020000020004" pitchFamily="49" charset="0"/>
                <a:ea typeface="Cascadia Code" panose="020B0609020000020004" pitchFamily="49" charset="0"/>
                <a:cs typeface="Cascadia Code" panose="020B0609020000020004" pitchFamily="49" charset="0"/>
              </a:rPr>
              <a:t>print(</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filtered_tokens</a:t>
            </a:r>
            <a:r>
              <a:rPr lang="en-US" sz="17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200"/>
              </a:spcBef>
              <a:spcAft>
                <a:spcPts val="200"/>
              </a:spcAft>
              <a:buNone/>
            </a:pPr>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8" name="TextBox 7">
            <a:extLst>
              <a:ext uri="{FF2B5EF4-FFF2-40B4-BE49-F238E27FC236}">
                <a16:creationId xmlns:a16="http://schemas.microsoft.com/office/drawing/2014/main" id="{A8EB1480-E68F-C3EA-4E26-6B495C76E9C5}"/>
              </a:ext>
            </a:extLst>
          </p:cNvPr>
          <p:cNvSpPr txBox="1"/>
          <p:nvPr/>
        </p:nvSpPr>
        <p:spPr>
          <a:xfrm>
            <a:off x="6593840" y="5167312"/>
            <a:ext cx="5598160" cy="1754326"/>
          </a:xfrm>
          <a:prstGeom prst="rect">
            <a:avLst/>
          </a:prstGeom>
          <a:noFill/>
        </p:spPr>
        <p:txBody>
          <a:bodyPr wrap="square">
            <a:spAutoFit/>
          </a:bodyPr>
          <a:lstStyle/>
          <a:p>
            <a:r>
              <a:rPr lang="en-US" dirty="0">
                <a:solidFill>
                  <a:srgbClr val="C00000"/>
                </a:solidFill>
              </a:rPr>
              <a:t>Original Text:</a:t>
            </a:r>
          </a:p>
          <a:p>
            <a:r>
              <a:rPr lang="en-US" dirty="0">
                <a:solidFill>
                  <a:schemeClr val="accent6"/>
                </a:solidFill>
              </a:rPr>
              <a:t>This is a sample sentence, and it contains some stop words.</a:t>
            </a:r>
          </a:p>
          <a:p>
            <a:endParaRPr lang="en-US" dirty="0">
              <a:solidFill>
                <a:srgbClr val="C00000"/>
              </a:solidFill>
            </a:endParaRPr>
          </a:p>
          <a:p>
            <a:r>
              <a:rPr lang="en-US" dirty="0">
                <a:solidFill>
                  <a:srgbClr val="C00000"/>
                </a:solidFill>
              </a:rPr>
              <a:t>Filtered Text (without stop words):</a:t>
            </a:r>
          </a:p>
          <a:p>
            <a:r>
              <a:rPr lang="en-US" dirty="0">
                <a:solidFill>
                  <a:srgbClr val="7030A0"/>
                </a:solidFill>
              </a:rPr>
              <a:t>['sample', 'sentence', ',', 'contains', 'stop', 'words', '.']</a:t>
            </a:r>
          </a:p>
        </p:txBody>
      </p:sp>
    </p:spTree>
    <p:extLst>
      <p:ext uri="{BB962C8B-B14F-4D97-AF65-F5344CB8AC3E}">
        <p14:creationId xmlns:p14="http://schemas.microsoft.com/office/powerpoint/2010/main" val="3231216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2F998-F99C-0860-7778-B1ED70353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75283-2E67-5E06-6A01-D4C832E46F79}"/>
              </a:ext>
            </a:extLst>
          </p:cNvPr>
          <p:cNvSpPr>
            <a:spLocks noGrp="1"/>
          </p:cNvSpPr>
          <p:nvPr>
            <p:ph type="title"/>
          </p:nvPr>
        </p:nvSpPr>
        <p:spPr>
          <a:xfrm>
            <a:off x="838200" y="83359"/>
            <a:ext cx="10515600" cy="672421"/>
          </a:xfrm>
        </p:spPr>
        <p:txBody>
          <a:bodyPr>
            <a:normAutofit/>
          </a:bodyPr>
          <a:lstStyle/>
          <a:p>
            <a:pPr marL="0" indent="0" algn="ctr">
              <a:lnSpc>
                <a:spcPct val="100000"/>
              </a:lnSpc>
              <a:buNone/>
            </a:pPr>
            <a:r>
              <a:rPr lang="en-US" sz="3600" b="1" dirty="0">
                <a:solidFill>
                  <a:srgbClr val="FF0000"/>
                </a:solidFill>
              </a:rPr>
              <a:t>Stop word removal</a:t>
            </a:r>
            <a:endParaRPr lang="en-IN" sz="3600" dirty="0">
              <a:solidFill>
                <a:srgbClr val="FF0000"/>
              </a:solidFill>
              <a:effectLst/>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a16="http://schemas.microsoft.com/office/drawing/2014/main" id="{F76D7C4B-7FAD-9511-CF37-8F7AD4692ABF}"/>
              </a:ext>
            </a:extLst>
          </p:cNvPr>
          <p:cNvSpPr>
            <a:spLocks noGrp="1"/>
          </p:cNvSpPr>
          <p:nvPr>
            <p:ph idx="1"/>
          </p:nvPr>
        </p:nvSpPr>
        <p:spPr>
          <a:xfrm>
            <a:off x="142240" y="604210"/>
            <a:ext cx="11211560" cy="6040430"/>
          </a:xfrm>
        </p:spPr>
        <p:txBody>
          <a:bodyPr>
            <a:normAutofit/>
          </a:bodyPr>
          <a:lstStyle/>
          <a:p>
            <a:pPr marL="0" indent="0">
              <a:buNone/>
            </a:pPr>
            <a:r>
              <a:rPr lang="en-US" sz="2400" b="1" dirty="0">
                <a:solidFill>
                  <a:srgbClr val="FF0000"/>
                </a:solidFill>
              </a:rPr>
              <a:t>Custom Stop Word Removal:</a:t>
            </a:r>
          </a:p>
          <a:p>
            <a:r>
              <a:rPr lang="en-US" sz="2400" dirty="0"/>
              <a:t>If you want to define your own list of stop words or extend the default list, you can create a custom stop word list.</a:t>
            </a:r>
          </a:p>
          <a:p>
            <a:pPr marL="0" indent="0" algn="just">
              <a:lnSpc>
                <a:spcPct val="100000"/>
              </a:lnSpc>
              <a:buNone/>
            </a:pP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buNone/>
            </a:pPr>
            <a:endParaRPr lang="en-IN" sz="24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8" name="TextBox 7">
            <a:extLst>
              <a:ext uri="{FF2B5EF4-FFF2-40B4-BE49-F238E27FC236}">
                <a16:creationId xmlns:a16="http://schemas.microsoft.com/office/drawing/2014/main" id="{BE02AD02-14D6-FA02-A382-4C9319A12382}"/>
              </a:ext>
            </a:extLst>
          </p:cNvPr>
          <p:cNvSpPr txBox="1"/>
          <p:nvPr/>
        </p:nvSpPr>
        <p:spPr>
          <a:xfrm>
            <a:off x="7957820" y="6227219"/>
            <a:ext cx="4234180" cy="646331"/>
          </a:xfrm>
          <a:prstGeom prst="rect">
            <a:avLst/>
          </a:prstGeom>
          <a:noFill/>
        </p:spPr>
        <p:txBody>
          <a:bodyPr wrap="square">
            <a:spAutoFit/>
          </a:bodyPr>
          <a:lstStyle/>
          <a:p>
            <a:r>
              <a:rPr lang="en-US" dirty="0">
                <a:solidFill>
                  <a:srgbClr val="C00000"/>
                </a:solidFill>
              </a:rPr>
              <a:t>Filtered Text (with custom stop words):</a:t>
            </a:r>
          </a:p>
          <a:p>
            <a:r>
              <a:rPr lang="en-US" dirty="0">
                <a:solidFill>
                  <a:srgbClr val="7030A0"/>
                </a:solidFill>
              </a:rPr>
              <a:t>is a sentence , and it some stop words </a:t>
            </a:r>
            <a:r>
              <a:rPr lang="en-US" dirty="0">
                <a:solidFill>
                  <a:srgbClr val="C00000"/>
                </a:solidFill>
              </a:rPr>
              <a:t>.</a:t>
            </a:r>
          </a:p>
        </p:txBody>
      </p:sp>
      <p:sp>
        <p:nvSpPr>
          <p:cNvPr id="5" name="TextBox 4">
            <a:extLst>
              <a:ext uri="{FF2B5EF4-FFF2-40B4-BE49-F238E27FC236}">
                <a16:creationId xmlns:a16="http://schemas.microsoft.com/office/drawing/2014/main" id="{F227549E-8C49-3CE5-F228-BAE3A4375C4D}"/>
              </a:ext>
            </a:extLst>
          </p:cNvPr>
          <p:cNvSpPr txBox="1"/>
          <p:nvPr/>
        </p:nvSpPr>
        <p:spPr>
          <a:xfrm>
            <a:off x="294640" y="1973327"/>
            <a:ext cx="8768080" cy="4770537"/>
          </a:xfrm>
          <a:prstGeom prst="rect">
            <a:avLst/>
          </a:prstGeom>
          <a:noFill/>
        </p:spPr>
        <p:txBody>
          <a:bodyPr wrap="square">
            <a:spAutoFit/>
          </a:bodyPr>
          <a:lstStyle/>
          <a:p>
            <a:r>
              <a:rPr lang="en-IN" sz="1600" dirty="0">
                <a:latin typeface="Cascadia Code" panose="020B0609020000020004" pitchFamily="49" charset="0"/>
                <a:ea typeface="Cascadia Code" panose="020B0609020000020004" pitchFamily="49" charset="0"/>
                <a:cs typeface="Cascadia Code" panose="020B0609020000020004" pitchFamily="49" charset="0"/>
              </a:rPr>
              <a:t>import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nltk</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from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nltk.corpus</a:t>
            </a:r>
            <a:r>
              <a:rPr lang="en-IN" sz="1600" dirty="0">
                <a:latin typeface="Cascadia Code" panose="020B0609020000020004" pitchFamily="49" charset="0"/>
                <a:ea typeface="Cascadia Code" panose="020B0609020000020004" pitchFamily="49" charset="0"/>
                <a:cs typeface="Cascadia Code" panose="020B0609020000020004" pitchFamily="49" charset="0"/>
              </a:rPr>
              <a:t> import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stopwords</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from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nltk.tokenize</a:t>
            </a:r>
            <a:r>
              <a:rPr lang="en-IN" sz="1600" dirty="0">
                <a:latin typeface="Cascadia Code" panose="020B0609020000020004" pitchFamily="49" charset="0"/>
                <a:ea typeface="Cascadia Code" panose="020B0609020000020004" pitchFamily="49" charset="0"/>
                <a:cs typeface="Cascadia Code" panose="020B0609020000020004" pitchFamily="49" charset="0"/>
              </a:rPr>
              <a:t> import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word_tokenize</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nltk.download</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stopwords</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 Custom stop words</a:t>
            </a: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custom_stop_words</a:t>
            </a:r>
            <a:r>
              <a:rPr lang="en-IN" sz="1600" dirty="0">
                <a:latin typeface="Cascadia Code" panose="020B0609020000020004" pitchFamily="49" charset="0"/>
                <a:ea typeface="Cascadia Code" panose="020B0609020000020004" pitchFamily="49" charset="0"/>
                <a:cs typeface="Cascadia Code" panose="020B0609020000020004" pitchFamily="49" charset="0"/>
              </a:rPr>
              <a:t> = </a:t>
            </a:r>
            <a:r>
              <a:rPr lang="en-IN" sz="16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set(['this', 'sample', 'contains'])</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text = "This is a sample sentence, and it contains some stop words."</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tokens = </a:t>
            </a:r>
            <a:r>
              <a:rPr lang="en-IN" sz="16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word_tokenize</a:t>
            </a:r>
            <a:r>
              <a:rPr lang="en-IN" sz="16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(text)</a:t>
            </a: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filtered_tokens</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for word in tokens:</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if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word.lower</a:t>
            </a:r>
            <a:r>
              <a:rPr lang="en-IN" sz="1600" dirty="0">
                <a:latin typeface="Cascadia Code" panose="020B0609020000020004" pitchFamily="49" charset="0"/>
                <a:ea typeface="Cascadia Code" panose="020B0609020000020004" pitchFamily="49" charset="0"/>
                <a:cs typeface="Cascadia Code" panose="020B0609020000020004" pitchFamily="49" charset="0"/>
              </a:rPr>
              <a:t>() not in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custom_stop_words</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filtered_tokens.append</a:t>
            </a:r>
            <a:r>
              <a:rPr lang="en-IN" sz="1600" dirty="0">
                <a:latin typeface="Cascadia Code" panose="020B0609020000020004" pitchFamily="49" charset="0"/>
                <a:ea typeface="Cascadia Code" panose="020B0609020000020004" pitchFamily="49" charset="0"/>
                <a:cs typeface="Cascadia Code" panose="020B0609020000020004" pitchFamily="49" charset="0"/>
              </a:rPr>
              <a:t>(word)</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a:t>
            </a: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filtered_text_custom</a:t>
            </a:r>
            <a:r>
              <a:rPr lang="en-IN" sz="1600" dirty="0">
                <a:latin typeface="Cascadia Code" panose="020B0609020000020004" pitchFamily="49" charset="0"/>
                <a:ea typeface="Cascadia Code" panose="020B0609020000020004" pitchFamily="49" charset="0"/>
                <a:cs typeface="Cascadia Code" panose="020B0609020000020004" pitchFamily="49" charset="0"/>
              </a:rPr>
              <a:t> = " ".join(</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filtered_tokens</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print("Filtered Text (with custom stop words):")</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filtered_text_custom</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4280710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CF7F3-06CF-06E3-A55C-CA9124E56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0014C-8772-0787-0F0C-B64CFAF450EA}"/>
              </a:ext>
            </a:extLst>
          </p:cNvPr>
          <p:cNvSpPr>
            <a:spLocks noGrp="1"/>
          </p:cNvSpPr>
          <p:nvPr>
            <p:ph type="title"/>
          </p:nvPr>
        </p:nvSpPr>
        <p:spPr>
          <a:xfrm>
            <a:off x="838200" y="12239"/>
            <a:ext cx="10515600" cy="672421"/>
          </a:xfrm>
        </p:spPr>
        <p:txBody>
          <a:bodyPr>
            <a:normAutofit/>
          </a:bodyPr>
          <a:lstStyle/>
          <a:p>
            <a:pPr marL="0" indent="0" algn="ctr">
              <a:lnSpc>
                <a:spcPct val="100000"/>
              </a:lnSpc>
              <a:buNone/>
            </a:pPr>
            <a:r>
              <a:rPr lang="en-US" sz="3600" b="1" dirty="0">
                <a:solidFill>
                  <a:srgbClr val="FF0000"/>
                </a:solidFill>
              </a:rPr>
              <a:t>Rare word removal</a:t>
            </a:r>
            <a:endParaRPr lang="en-IN" sz="3600" dirty="0">
              <a:solidFill>
                <a:srgbClr val="FF0000"/>
              </a:solidFill>
              <a:effectLst/>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a16="http://schemas.microsoft.com/office/drawing/2014/main" id="{A20C6243-91BD-C102-5C27-77D210AEEC9F}"/>
              </a:ext>
            </a:extLst>
          </p:cNvPr>
          <p:cNvSpPr>
            <a:spLocks noGrp="1"/>
          </p:cNvSpPr>
          <p:nvPr>
            <p:ph idx="1"/>
          </p:nvPr>
        </p:nvSpPr>
        <p:spPr>
          <a:xfrm>
            <a:off x="142240" y="609600"/>
            <a:ext cx="11211560" cy="6035040"/>
          </a:xfrm>
        </p:spPr>
        <p:txBody>
          <a:bodyPr>
            <a:normAutofit/>
          </a:bodyPr>
          <a:lstStyle/>
          <a:p>
            <a:pPr algn="just"/>
            <a:r>
              <a:rPr lang="en-US" sz="2400" b="1" dirty="0"/>
              <a:t>Rare word removal</a:t>
            </a:r>
            <a:r>
              <a:rPr lang="en-US" sz="2400" dirty="0"/>
              <a:t> is a technique in NLP where words that occur infrequently in a dataset (i.e., words with low frequency) are removed. </a:t>
            </a:r>
          </a:p>
          <a:p>
            <a:pPr marL="0" indent="0" algn="just">
              <a:buNone/>
            </a:pPr>
            <a:endParaRPr lang="en-US" sz="2400" dirty="0">
              <a:ea typeface="Cascadia Code" panose="020B0609020000020004" pitchFamily="49" charset="0"/>
              <a:cs typeface="Cascadia Code" panose="020B0609020000020004" pitchFamily="49" charset="0"/>
            </a:endParaRPr>
          </a:p>
          <a:p>
            <a:pPr marL="0" indent="0" algn="just">
              <a:lnSpc>
                <a:spcPct val="100000"/>
              </a:lnSpc>
              <a:buNone/>
            </a:pPr>
            <a:endParaRPr lang="en-IN" sz="24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8" name="TextBox 7">
            <a:extLst>
              <a:ext uri="{FF2B5EF4-FFF2-40B4-BE49-F238E27FC236}">
                <a16:creationId xmlns:a16="http://schemas.microsoft.com/office/drawing/2014/main" id="{EAEC9AED-713E-69BF-10B5-FBE15B75A878}"/>
              </a:ext>
            </a:extLst>
          </p:cNvPr>
          <p:cNvSpPr txBox="1"/>
          <p:nvPr/>
        </p:nvSpPr>
        <p:spPr>
          <a:xfrm>
            <a:off x="7843520" y="5211219"/>
            <a:ext cx="4419600" cy="1754326"/>
          </a:xfrm>
          <a:prstGeom prst="rect">
            <a:avLst/>
          </a:prstGeom>
          <a:noFill/>
        </p:spPr>
        <p:txBody>
          <a:bodyPr wrap="square">
            <a:spAutoFit/>
          </a:bodyPr>
          <a:lstStyle/>
          <a:p>
            <a:r>
              <a:rPr lang="en-US" dirty="0">
                <a:solidFill>
                  <a:srgbClr val="C00000"/>
                </a:solidFill>
              </a:rPr>
              <a:t>Original Text:</a:t>
            </a:r>
          </a:p>
          <a:p>
            <a:r>
              <a:rPr lang="en-US" dirty="0">
                <a:solidFill>
                  <a:schemeClr val="accent6"/>
                </a:solidFill>
              </a:rPr>
              <a:t>This is a sample text with some rare words like xylophone, and other common words</a:t>
            </a:r>
            <a:r>
              <a:rPr lang="en-US" dirty="0">
                <a:solidFill>
                  <a:srgbClr val="C00000"/>
                </a:solidFill>
              </a:rPr>
              <a:t>.</a:t>
            </a:r>
          </a:p>
          <a:p>
            <a:endParaRPr lang="en-US" dirty="0">
              <a:solidFill>
                <a:srgbClr val="C00000"/>
              </a:solidFill>
            </a:endParaRPr>
          </a:p>
          <a:p>
            <a:r>
              <a:rPr lang="en-US" dirty="0">
                <a:solidFill>
                  <a:srgbClr val="C00000"/>
                </a:solidFill>
              </a:rPr>
              <a:t>Filtered Text (after removing rare words):</a:t>
            </a:r>
          </a:p>
          <a:p>
            <a:r>
              <a:rPr lang="en-US" dirty="0">
                <a:solidFill>
                  <a:srgbClr val="7030A0"/>
                </a:solidFill>
              </a:rPr>
              <a:t>['words', 'words']</a:t>
            </a:r>
          </a:p>
        </p:txBody>
      </p:sp>
      <p:sp>
        <p:nvSpPr>
          <p:cNvPr id="6" name="TextBox 5">
            <a:extLst>
              <a:ext uri="{FF2B5EF4-FFF2-40B4-BE49-F238E27FC236}">
                <a16:creationId xmlns:a16="http://schemas.microsoft.com/office/drawing/2014/main" id="{1BAA7BB6-F189-4CE4-B030-B4ACBFAE9DB8}"/>
              </a:ext>
            </a:extLst>
          </p:cNvPr>
          <p:cNvSpPr txBox="1"/>
          <p:nvPr/>
        </p:nvSpPr>
        <p:spPr>
          <a:xfrm>
            <a:off x="142240" y="1333234"/>
            <a:ext cx="11480800" cy="5586145"/>
          </a:xfrm>
          <a:prstGeom prst="rect">
            <a:avLst/>
          </a:prstGeom>
          <a:noFill/>
        </p:spPr>
        <p:txBody>
          <a:bodyPr wrap="square">
            <a:spAutoFit/>
          </a:bodyPr>
          <a:lstStyle/>
          <a:p>
            <a:r>
              <a:rPr lang="en-US" sz="1700" dirty="0">
                <a:latin typeface="Cascadia Code" panose="020B0609020000020004" pitchFamily="49" charset="0"/>
                <a:ea typeface="Cascadia Code" panose="020B0609020000020004" pitchFamily="49" charset="0"/>
                <a:cs typeface="Cascadia Code" panose="020B0609020000020004" pitchFamily="49" charset="0"/>
              </a:rPr>
              <a:t>import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nltk</a:t>
            </a:r>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r>
              <a:rPr lang="en-US" sz="1700" dirty="0">
                <a:latin typeface="Cascadia Code" panose="020B0609020000020004" pitchFamily="49" charset="0"/>
                <a:ea typeface="Cascadia Code" panose="020B0609020000020004" pitchFamily="49" charset="0"/>
                <a:cs typeface="Cascadia Code" panose="020B0609020000020004" pitchFamily="49" charset="0"/>
              </a:rPr>
              <a:t>from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nltk.probability</a:t>
            </a:r>
            <a:r>
              <a:rPr lang="en-US" sz="1700" dirty="0">
                <a:latin typeface="Cascadia Code" panose="020B0609020000020004" pitchFamily="49" charset="0"/>
                <a:ea typeface="Cascadia Code" panose="020B0609020000020004" pitchFamily="49" charset="0"/>
                <a:cs typeface="Cascadia Code" panose="020B0609020000020004" pitchFamily="49" charset="0"/>
              </a:rPr>
              <a:t> import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FreqDist</a:t>
            </a:r>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r>
              <a:rPr lang="en-US" sz="1700" dirty="0">
                <a:latin typeface="Cascadia Code" panose="020B0609020000020004" pitchFamily="49" charset="0"/>
                <a:ea typeface="Cascadia Code" panose="020B0609020000020004" pitchFamily="49" charset="0"/>
                <a:cs typeface="Cascadia Code" panose="020B0609020000020004" pitchFamily="49" charset="0"/>
              </a:rPr>
              <a:t>from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nltk.tokenize</a:t>
            </a:r>
            <a:r>
              <a:rPr lang="en-US" sz="1700" dirty="0">
                <a:latin typeface="Cascadia Code" panose="020B0609020000020004" pitchFamily="49" charset="0"/>
                <a:ea typeface="Cascadia Code" panose="020B0609020000020004" pitchFamily="49" charset="0"/>
                <a:cs typeface="Cascadia Code" panose="020B0609020000020004" pitchFamily="49" charset="0"/>
              </a:rPr>
              <a:t> import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word_tokenize</a:t>
            </a:r>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r>
              <a:rPr lang="en-US" sz="1700" dirty="0">
                <a:latin typeface="Cascadia Code" panose="020B0609020000020004" pitchFamily="49" charset="0"/>
                <a:ea typeface="Cascadia Code" panose="020B0609020000020004" pitchFamily="49" charset="0"/>
                <a:cs typeface="Cascadia Code" panose="020B0609020000020004" pitchFamily="49" charset="0"/>
              </a:rPr>
              <a:t>text = "This is a sample text with some rare words like xylophone, and other common words."</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tokens = </a:t>
            </a:r>
            <a:r>
              <a:rPr lang="en-US" sz="17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word_tokenize</a:t>
            </a:r>
            <a:r>
              <a:rPr lang="en-US" sz="17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(text)</a:t>
            </a:r>
          </a:p>
          <a:p>
            <a:r>
              <a:rPr lang="en-US"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Calculate word frequency distribution</a:t>
            </a:r>
          </a:p>
          <a:p>
            <a:r>
              <a:rPr lang="en-US" sz="1700" dirty="0" err="1">
                <a:latin typeface="Cascadia Code" panose="020B0609020000020004" pitchFamily="49" charset="0"/>
                <a:ea typeface="Cascadia Code" panose="020B0609020000020004" pitchFamily="49" charset="0"/>
                <a:cs typeface="Cascadia Code" panose="020B0609020000020004" pitchFamily="49" charset="0"/>
              </a:rPr>
              <a:t>fdist</a:t>
            </a:r>
            <a:r>
              <a:rPr lang="en-US" sz="1700" dirty="0">
                <a:latin typeface="Cascadia Code" panose="020B0609020000020004" pitchFamily="49" charset="0"/>
                <a:ea typeface="Cascadia Code" panose="020B0609020000020004" pitchFamily="49" charset="0"/>
                <a:cs typeface="Cascadia Code" panose="020B0609020000020004" pitchFamily="49" charset="0"/>
              </a:rPr>
              <a:t> = </a:t>
            </a:r>
            <a:r>
              <a:rPr lang="en-US" sz="17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FreqDist</a:t>
            </a:r>
            <a:r>
              <a:rPr lang="en-US" sz="17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(tokens)</a:t>
            </a:r>
          </a:p>
          <a:p>
            <a:r>
              <a:rPr lang="en-US"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Set a frequency threshold (e.g., remove words that appear less than 2 times)</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threshold = 2</a:t>
            </a:r>
          </a:p>
          <a:p>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r>
              <a:rPr lang="en-US" sz="1700" dirty="0" err="1">
                <a:latin typeface="Cascadia Code" panose="020B0609020000020004" pitchFamily="49" charset="0"/>
                <a:ea typeface="Cascadia Code" panose="020B0609020000020004" pitchFamily="49" charset="0"/>
                <a:cs typeface="Cascadia Code" panose="020B0609020000020004" pitchFamily="49" charset="0"/>
              </a:rPr>
              <a:t>filtered_tokens</a:t>
            </a:r>
            <a:r>
              <a:rPr lang="en-US" sz="1700" dirty="0">
                <a:latin typeface="Cascadia Code" panose="020B0609020000020004" pitchFamily="49" charset="0"/>
                <a:ea typeface="Cascadia Code" panose="020B0609020000020004" pitchFamily="49" charset="0"/>
                <a:cs typeface="Cascadia Code" panose="020B0609020000020004" pitchFamily="49" charset="0"/>
              </a:rPr>
              <a:t> = []</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for word in tokens:</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    if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fdist</a:t>
            </a:r>
            <a:r>
              <a:rPr lang="en-US" sz="1700" dirty="0">
                <a:latin typeface="Cascadia Code" panose="020B0609020000020004" pitchFamily="49" charset="0"/>
                <a:ea typeface="Cascadia Code" panose="020B0609020000020004" pitchFamily="49" charset="0"/>
                <a:cs typeface="Cascadia Code" panose="020B0609020000020004" pitchFamily="49" charset="0"/>
              </a:rPr>
              <a:t>[word] &gt;= threshold:</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        </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filtered_tokens.append</a:t>
            </a:r>
            <a:r>
              <a:rPr lang="en-US" sz="1700" dirty="0">
                <a:latin typeface="Cascadia Code" panose="020B0609020000020004" pitchFamily="49" charset="0"/>
                <a:ea typeface="Cascadia Code" panose="020B0609020000020004" pitchFamily="49" charset="0"/>
                <a:cs typeface="Cascadia Code" panose="020B0609020000020004" pitchFamily="49" charset="0"/>
              </a:rPr>
              <a:t>(word)</a:t>
            </a:r>
          </a:p>
          <a:p>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r>
              <a:rPr lang="en-US" sz="1700" dirty="0">
                <a:latin typeface="Cascadia Code" panose="020B0609020000020004" pitchFamily="49" charset="0"/>
                <a:ea typeface="Cascadia Code" panose="020B0609020000020004" pitchFamily="49" charset="0"/>
                <a:cs typeface="Cascadia Code" panose="020B0609020000020004" pitchFamily="49" charset="0"/>
              </a:rPr>
              <a:t>print("Original Text:")</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print(text)</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print("\</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nFiltered</a:t>
            </a:r>
            <a:r>
              <a:rPr lang="en-US" sz="1700" dirty="0">
                <a:latin typeface="Cascadia Code" panose="020B0609020000020004" pitchFamily="49" charset="0"/>
                <a:ea typeface="Cascadia Code" panose="020B0609020000020004" pitchFamily="49" charset="0"/>
                <a:cs typeface="Cascadia Code" panose="020B0609020000020004" pitchFamily="49" charset="0"/>
              </a:rPr>
              <a:t> Text (after removing rare words):")</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print(</a:t>
            </a:r>
            <a:r>
              <a:rPr lang="en-US" sz="1700" dirty="0" err="1">
                <a:latin typeface="Cascadia Code" panose="020B0609020000020004" pitchFamily="49" charset="0"/>
                <a:ea typeface="Cascadia Code" panose="020B0609020000020004" pitchFamily="49" charset="0"/>
                <a:cs typeface="Cascadia Code" panose="020B0609020000020004" pitchFamily="49" charset="0"/>
              </a:rPr>
              <a:t>filtered_tokens</a:t>
            </a:r>
            <a:r>
              <a:rPr lang="en-US" sz="1700" dirty="0">
                <a:latin typeface="Cascadia Code" panose="020B0609020000020004" pitchFamily="49" charset="0"/>
                <a:ea typeface="Cascadia Code" panose="020B0609020000020004" pitchFamily="49" charset="0"/>
                <a:cs typeface="Cascadia Code" panose="020B0609020000020004" pitchFamily="49" charset="0"/>
              </a:rPr>
              <a:t>)</a:t>
            </a:r>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457825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63D6D-A5FF-5FCE-FCA9-C3691D454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A0E89-6C7C-40B4-34D0-CB5FE9059D75}"/>
              </a:ext>
            </a:extLst>
          </p:cNvPr>
          <p:cNvSpPr>
            <a:spLocks noGrp="1"/>
          </p:cNvSpPr>
          <p:nvPr>
            <p:ph type="title"/>
          </p:nvPr>
        </p:nvSpPr>
        <p:spPr>
          <a:xfrm>
            <a:off x="838200" y="-122851"/>
            <a:ext cx="10515600" cy="672421"/>
          </a:xfrm>
        </p:spPr>
        <p:txBody>
          <a:bodyPr>
            <a:normAutofit/>
          </a:bodyPr>
          <a:lstStyle/>
          <a:p>
            <a:pPr marL="0" indent="0" algn="ctr">
              <a:lnSpc>
                <a:spcPct val="100000"/>
              </a:lnSpc>
              <a:buNone/>
            </a:pPr>
            <a:r>
              <a:rPr lang="en-US" sz="3600" b="1" dirty="0">
                <a:solidFill>
                  <a:srgbClr val="FF0000"/>
                </a:solidFill>
              </a:rPr>
              <a:t>Rare word removal</a:t>
            </a:r>
            <a:endParaRPr lang="en-IN" sz="3600" dirty="0">
              <a:solidFill>
                <a:srgbClr val="FF0000"/>
              </a:solidFill>
              <a:effectLst/>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a16="http://schemas.microsoft.com/office/drawing/2014/main" id="{3BE68976-10C2-F4BF-7D21-1D3A6F64B5F5}"/>
              </a:ext>
            </a:extLst>
          </p:cNvPr>
          <p:cNvSpPr>
            <a:spLocks noGrp="1"/>
          </p:cNvSpPr>
          <p:nvPr>
            <p:ph idx="1"/>
          </p:nvPr>
        </p:nvSpPr>
        <p:spPr>
          <a:xfrm>
            <a:off x="142240" y="549570"/>
            <a:ext cx="12049760" cy="6095070"/>
          </a:xfrm>
        </p:spPr>
        <p:txBody>
          <a:bodyPr>
            <a:noAutofit/>
          </a:bodyPr>
          <a:lstStyle/>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import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nltk</a:t>
            </a: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from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nltk.probability</a:t>
            </a:r>
            <a:r>
              <a:rPr lang="en-US" sz="1600" dirty="0">
                <a:latin typeface="Cascadia Code" panose="020B0609020000020004" pitchFamily="49" charset="0"/>
                <a:ea typeface="Cascadia Code" panose="020B0609020000020004" pitchFamily="49" charset="0"/>
                <a:cs typeface="Cascadia Code" panose="020B0609020000020004" pitchFamily="49" charset="0"/>
              </a:rPr>
              <a:t> import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FreqDist</a:t>
            </a: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from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nltk.tokenize</a:t>
            </a:r>
            <a:r>
              <a:rPr lang="en-US" sz="1600" dirty="0">
                <a:latin typeface="Cascadia Code" panose="020B0609020000020004" pitchFamily="49" charset="0"/>
                <a:ea typeface="Cascadia Code" panose="020B0609020000020004" pitchFamily="49" charset="0"/>
                <a:cs typeface="Cascadia Code" panose="020B0609020000020004" pitchFamily="49" charset="0"/>
              </a:rPr>
              <a:t> import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word_tokenize</a:t>
            </a: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doc = [</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"This is the first document.",</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"This document is the second document.",</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"And this is the third one.",</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"Is this the first document?"</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200"/>
              </a:spcBef>
              <a:buNone/>
            </a:pPr>
            <a:r>
              <a:rPr lang="en-US"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Tokenize all documents in the corpus</a:t>
            </a:r>
          </a:p>
          <a:p>
            <a:pPr marL="0" indent="0" algn="just">
              <a:spcBef>
                <a:spcPts val="200"/>
              </a:spcBef>
              <a:buNone/>
            </a:pPr>
            <a:r>
              <a:rPr lang="en-US" sz="1600" dirty="0" err="1">
                <a:latin typeface="Cascadia Code" panose="020B0609020000020004" pitchFamily="49" charset="0"/>
                <a:ea typeface="Cascadia Code" panose="020B0609020000020004" pitchFamily="49" charset="0"/>
                <a:cs typeface="Cascadia Code" panose="020B0609020000020004" pitchFamily="49" charset="0"/>
              </a:rPr>
              <a:t>all_tokens</a:t>
            </a:r>
            <a:r>
              <a:rPr lang="en-US" sz="1600" dirty="0">
                <a:latin typeface="Cascadia Code" panose="020B0609020000020004" pitchFamily="49" charset="0"/>
                <a:ea typeface="Cascadia Code" panose="020B0609020000020004" pitchFamily="49" charset="0"/>
                <a:cs typeface="Cascadia Code" panose="020B0609020000020004" pitchFamily="49" charset="0"/>
              </a:rPr>
              <a:t> = []</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for line in doc:</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all_tokens.extend</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word_tokenize</a:t>
            </a:r>
            <a:r>
              <a:rPr lang="en-US" sz="1600" dirty="0">
                <a:latin typeface="Cascadia Code" panose="020B0609020000020004" pitchFamily="49" charset="0"/>
                <a:ea typeface="Cascadia Code" panose="020B0609020000020004" pitchFamily="49" charset="0"/>
                <a:cs typeface="Cascadia Code" panose="020B0609020000020004" pitchFamily="49" charset="0"/>
              </a:rPr>
              <a:t>(line))</a:t>
            </a:r>
          </a:p>
          <a:p>
            <a:pPr marL="0" indent="0" algn="just">
              <a:spcBef>
                <a:spcPts val="200"/>
              </a:spcBef>
              <a:buNone/>
            </a:pPr>
            <a:endParaRPr lang="en-US"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200"/>
              </a:spcBef>
              <a:buNone/>
            </a:pPr>
            <a:r>
              <a:rPr lang="en-US"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Calculate word frequencies across the entire corpus</a:t>
            </a:r>
          </a:p>
          <a:p>
            <a:pPr marL="0" indent="0" algn="just">
              <a:spcBef>
                <a:spcPts val="200"/>
              </a:spcBef>
              <a:buNone/>
            </a:pPr>
            <a:r>
              <a:rPr lang="en-US" sz="1600" dirty="0" err="1">
                <a:latin typeface="Cascadia Code" panose="020B0609020000020004" pitchFamily="49" charset="0"/>
                <a:ea typeface="Cascadia Code" panose="020B0609020000020004" pitchFamily="49" charset="0"/>
                <a:cs typeface="Cascadia Code" panose="020B0609020000020004" pitchFamily="49" charset="0"/>
              </a:rPr>
              <a:t>fdist_all</a:t>
            </a:r>
            <a:r>
              <a:rPr lang="en-US" sz="1600" dirty="0">
                <a:latin typeface="Cascadia Code" panose="020B0609020000020004" pitchFamily="49" charset="0"/>
                <a:ea typeface="Cascadia Code" panose="020B0609020000020004" pitchFamily="49" charset="0"/>
                <a:cs typeface="Cascadia Code" panose="020B0609020000020004" pitchFamily="49" charset="0"/>
              </a:rPr>
              <a: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FreqDist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all_tokens</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threshold = 2</a:t>
            </a:r>
          </a:p>
          <a:p>
            <a:pPr marL="0" indent="0" algn="just">
              <a:spcBef>
                <a:spcPts val="200"/>
              </a:spcBef>
              <a:buNone/>
            </a:pPr>
            <a:r>
              <a:rPr lang="en-US" sz="1600" dirty="0" err="1">
                <a:latin typeface="Cascadia Code" panose="020B0609020000020004" pitchFamily="49" charset="0"/>
                <a:ea typeface="Cascadia Code" panose="020B0609020000020004" pitchFamily="49" charset="0"/>
                <a:cs typeface="Cascadia Code" panose="020B0609020000020004" pitchFamily="49" charset="0"/>
              </a:rPr>
              <a:t>filtered_tokens_doc</a:t>
            </a:r>
            <a:r>
              <a:rPr lang="en-US" sz="1600" dirty="0">
                <a:latin typeface="Cascadia Code" panose="020B0609020000020004" pitchFamily="49" charset="0"/>
                <a:ea typeface="Cascadia Code" panose="020B0609020000020004" pitchFamily="49" charset="0"/>
                <a:cs typeface="Cascadia Code" panose="020B0609020000020004" pitchFamily="49" charset="0"/>
              </a:rPr>
              <a:t> = []</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for word in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all_tokens</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if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fdist_all</a:t>
            </a:r>
            <a:r>
              <a:rPr lang="en-US" sz="1600" dirty="0">
                <a:latin typeface="Cascadia Code" panose="020B0609020000020004" pitchFamily="49" charset="0"/>
                <a:ea typeface="Cascadia Code" panose="020B0609020000020004" pitchFamily="49" charset="0"/>
                <a:cs typeface="Cascadia Code" panose="020B0609020000020004" pitchFamily="49" charset="0"/>
              </a:rPr>
              <a:t>[word] &gt;= threshold:</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filtered_tokens_doc.append</a:t>
            </a:r>
            <a:r>
              <a:rPr lang="en-US" sz="1600" dirty="0">
                <a:latin typeface="Cascadia Code" panose="020B0609020000020004" pitchFamily="49" charset="0"/>
                <a:ea typeface="Cascadia Code" panose="020B0609020000020004" pitchFamily="49" charset="0"/>
                <a:cs typeface="Cascadia Code" panose="020B0609020000020004" pitchFamily="49" charset="0"/>
              </a:rPr>
              <a:t>(word)</a:t>
            </a:r>
          </a:p>
          <a:p>
            <a:pPr marL="0" indent="0" algn="just">
              <a:spcBef>
                <a:spcPts val="200"/>
              </a:spcBef>
              <a:buNone/>
            </a:pP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200"/>
              </a:spcBef>
              <a:buNone/>
            </a:pPr>
            <a:r>
              <a:rPr lang="en-US" sz="1600" dirty="0" err="1">
                <a:latin typeface="Cascadia Code" panose="020B0609020000020004" pitchFamily="49" charset="0"/>
                <a:ea typeface="Cascadia Code" panose="020B0609020000020004" pitchFamily="49" charset="0"/>
                <a:cs typeface="Cascadia Code" panose="020B0609020000020004" pitchFamily="49" charset="0"/>
              </a:rPr>
              <a:t>filtered_text_doc</a:t>
            </a:r>
            <a:r>
              <a:rPr lang="en-US" sz="1600" dirty="0">
                <a:latin typeface="Cascadia Code" panose="020B0609020000020004" pitchFamily="49" charset="0"/>
                <a:ea typeface="Cascadia Code" panose="020B0609020000020004" pitchFamily="49" charset="0"/>
                <a:cs typeface="Cascadia Code" panose="020B0609020000020004" pitchFamily="49" charset="0"/>
              </a:rPr>
              <a:t> = " ".join(</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filtered_tokens_doc</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print("Filtered Text (after removing rare words in the corpus):")</a:t>
            </a:r>
          </a:p>
          <a:p>
            <a:pPr marL="0" indent="0" algn="just">
              <a:spcBef>
                <a:spcPts val="20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print(</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filtered_text_doc</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7" name="TextBox 6">
            <a:extLst>
              <a:ext uri="{FF2B5EF4-FFF2-40B4-BE49-F238E27FC236}">
                <a16:creationId xmlns:a16="http://schemas.microsoft.com/office/drawing/2014/main" id="{55C1C699-59D9-2256-B2E7-7ACA92AB1890}"/>
              </a:ext>
            </a:extLst>
          </p:cNvPr>
          <p:cNvSpPr txBox="1"/>
          <p:nvPr/>
        </p:nvSpPr>
        <p:spPr>
          <a:xfrm>
            <a:off x="6360160" y="4684375"/>
            <a:ext cx="5831840" cy="1015663"/>
          </a:xfrm>
          <a:prstGeom prst="rect">
            <a:avLst/>
          </a:prstGeom>
          <a:noFill/>
        </p:spPr>
        <p:txBody>
          <a:bodyPr wrap="square">
            <a:spAutoFit/>
          </a:bodyPr>
          <a:lstStyle/>
          <a:p>
            <a:r>
              <a:rPr lang="en-US" sz="2000" dirty="0">
                <a:solidFill>
                  <a:srgbClr val="C00000"/>
                </a:solidFill>
              </a:rPr>
              <a:t>Filtered Text (after removing rare words in the corpus):</a:t>
            </a:r>
          </a:p>
          <a:p>
            <a:r>
              <a:rPr lang="en-US" sz="2000" dirty="0">
                <a:solidFill>
                  <a:srgbClr val="7030A0"/>
                </a:solidFill>
              </a:rPr>
              <a:t>This is the first document . This document is the document . this is the . this the first document</a:t>
            </a:r>
            <a:endParaRPr lang="en-IN" sz="2000" dirty="0">
              <a:solidFill>
                <a:srgbClr val="7030A0"/>
              </a:solidFill>
            </a:endParaRPr>
          </a:p>
        </p:txBody>
      </p:sp>
    </p:spTree>
    <p:extLst>
      <p:ext uri="{BB962C8B-B14F-4D97-AF65-F5344CB8AC3E}">
        <p14:creationId xmlns:p14="http://schemas.microsoft.com/office/powerpoint/2010/main" val="1921397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6DDF5-F274-387E-0E46-BC1A4CA40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F0E92-36B9-C457-31DA-D8356F26AD62}"/>
              </a:ext>
            </a:extLst>
          </p:cNvPr>
          <p:cNvSpPr>
            <a:spLocks noGrp="1"/>
          </p:cNvSpPr>
          <p:nvPr>
            <p:ph type="title"/>
          </p:nvPr>
        </p:nvSpPr>
        <p:spPr>
          <a:xfrm>
            <a:off x="838200" y="-122851"/>
            <a:ext cx="10515600" cy="672421"/>
          </a:xfrm>
        </p:spPr>
        <p:txBody>
          <a:bodyPr>
            <a:noAutofit/>
          </a:bodyPr>
          <a:lstStyle/>
          <a:p>
            <a:pPr marL="0" indent="0" algn="ctr">
              <a:lnSpc>
                <a:spcPct val="100000"/>
              </a:lnSpc>
              <a:buNone/>
            </a:pPr>
            <a:r>
              <a:rPr lang="en-IN" sz="4000" dirty="0">
                <a:solidFill>
                  <a:srgbClr val="FF0000"/>
                </a:solidFill>
                <a:effectLst/>
                <a:latin typeface="Times New Roman" panose="02020603050405020304" pitchFamily="18" charset="0"/>
                <a:ea typeface="Calibri" panose="020F0502020204030204" pitchFamily="34" charset="0"/>
              </a:rPr>
              <a:t>stemming</a:t>
            </a:r>
          </a:p>
        </p:txBody>
      </p:sp>
      <p:sp>
        <p:nvSpPr>
          <p:cNvPr id="3" name="Content Placeholder 2">
            <a:extLst>
              <a:ext uri="{FF2B5EF4-FFF2-40B4-BE49-F238E27FC236}">
                <a16:creationId xmlns:a16="http://schemas.microsoft.com/office/drawing/2014/main" id="{7F4491DD-137F-6D92-74A0-7D453C601182}"/>
              </a:ext>
            </a:extLst>
          </p:cNvPr>
          <p:cNvSpPr>
            <a:spLocks noGrp="1"/>
          </p:cNvSpPr>
          <p:nvPr>
            <p:ph idx="1"/>
          </p:nvPr>
        </p:nvSpPr>
        <p:spPr>
          <a:xfrm>
            <a:off x="142240" y="549570"/>
            <a:ext cx="11897360" cy="6095070"/>
          </a:xfrm>
        </p:spPr>
        <p:txBody>
          <a:bodyPr>
            <a:noAutofit/>
          </a:bodyPr>
          <a:lstStyle/>
          <a:p>
            <a:pPr algn="just"/>
            <a:r>
              <a:rPr lang="en-US" sz="2400" b="1" dirty="0"/>
              <a:t>Stemming</a:t>
            </a:r>
            <a:r>
              <a:rPr lang="en-US" sz="2400" dirty="0"/>
              <a:t> in </a:t>
            </a:r>
            <a:r>
              <a:rPr lang="en-US" sz="2400" b="1" dirty="0"/>
              <a:t>NLP</a:t>
            </a:r>
            <a:r>
              <a:rPr lang="en-US" sz="2400" dirty="0"/>
              <a:t> is the process of reducing a word to its root form (or base form) by stripping off prefixes, suffixes, and other derivational affixes. </a:t>
            </a:r>
          </a:p>
          <a:p>
            <a:pPr marL="0" indent="0" algn="just">
              <a:buNone/>
            </a:pPr>
            <a:r>
              <a:rPr lang="en-US" sz="2400" dirty="0"/>
              <a:t>For example:  </a:t>
            </a:r>
            <a:r>
              <a:rPr lang="en-US" sz="2400" b="1" dirty="0"/>
              <a:t>"running," "runs," "runner"</a:t>
            </a:r>
            <a:r>
              <a:rPr lang="en-US" sz="2400" dirty="0"/>
              <a:t> → </a:t>
            </a:r>
            <a:r>
              <a:rPr lang="en-US" sz="2400" b="1" dirty="0"/>
              <a:t>"run"</a:t>
            </a:r>
            <a:endParaRPr lang="en-US" sz="2400" dirty="0"/>
          </a:p>
          <a:p>
            <a:pPr algn="just"/>
            <a:r>
              <a:rPr lang="en-US" sz="2400" dirty="0"/>
              <a:t>However, stemming does not always produce an actual dictionary word; it simply trims words based on predefined rules.</a:t>
            </a:r>
          </a:p>
          <a:p>
            <a:pPr marL="0" indent="0">
              <a:buNone/>
            </a:pPr>
            <a:r>
              <a:rPr lang="en-US" sz="2400" b="1" dirty="0"/>
              <a:t>Why is Stemming Important?</a:t>
            </a:r>
          </a:p>
          <a:p>
            <a:pPr>
              <a:buFont typeface="+mj-lt"/>
              <a:buAutoNum type="arabicPeriod"/>
            </a:pPr>
            <a:r>
              <a:rPr lang="en-US" sz="2400" b="1" dirty="0"/>
              <a:t>Reduces Redundancy</a:t>
            </a:r>
            <a:r>
              <a:rPr lang="en-US" sz="2400" dirty="0"/>
              <a:t>: Different forms of the same word are treated as one, helping improve efficiency.</a:t>
            </a:r>
          </a:p>
          <a:p>
            <a:pPr>
              <a:buFont typeface="+mj-lt"/>
              <a:buAutoNum type="arabicPeriod"/>
            </a:pPr>
            <a:r>
              <a:rPr lang="en-US" sz="2400" b="1" dirty="0"/>
              <a:t>Simplifies Text Analysis</a:t>
            </a:r>
            <a:r>
              <a:rPr lang="en-US" sz="2400" dirty="0"/>
              <a:t>: Reduces the total number of unique words, leading to faster and easier analysis.</a:t>
            </a:r>
          </a:p>
          <a:p>
            <a:pPr marL="0" indent="0">
              <a:buNone/>
            </a:pPr>
            <a:r>
              <a:rPr lang="en-IN" sz="2400" b="1" dirty="0"/>
              <a:t>Common Stemming Algorithms</a:t>
            </a:r>
          </a:p>
          <a:p>
            <a:pPr lvl="1"/>
            <a:r>
              <a:rPr lang="en-IN" i="0" dirty="0">
                <a:solidFill>
                  <a:srgbClr val="222222"/>
                </a:solidFill>
                <a:effectLst/>
              </a:rPr>
              <a:t>Porter Stemmer </a:t>
            </a:r>
          </a:p>
          <a:p>
            <a:pPr lvl="1"/>
            <a:r>
              <a:rPr lang="en-IN" i="0" dirty="0">
                <a:solidFill>
                  <a:srgbClr val="222222"/>
                </a:solidFill>
                <a:effectLst/>
              </a:rPr>
              <a:t>Lancaster Stemmer</a:t>
            </a:r>
          </a:p>
          <a:p>
            <a:pPr lvl="1"/>
            <a:r>
              <a:rPr lang="en-IN" i="0" dirty="0">
                <a:solidFill>
                  <a:srgbClr val="222222"/>
                </a:solidFill>
                <a:effectLst/>
              </a:rPr>
              <a:t>Snowball Stemmer </a:t>
            </a:r>
          </a:p>
          <a:p>
            <a:pPr lvl="1"/>
            <a:r>
              <a:rPr lang="en-IN" i="0" dirty="0" err="1">
                <a:solidFill>
                  <a:srgbClr val="222222"/>
                </a:solidFill>
                <a:effectLst/>
              </a:rPr>
              <a:t>Regexp</a:t>
            </a:r>
            <a:r>
              <a:rPr lang="en-IN" i="0" dirty="0">
                <a:solidFill>
                  <a:srgbClr val="222222"/>
                </a:solidFill>
                <a:effectLst/>
              </a:rPr>
              <a:t> Stemmer</a:t>
            </a:r>
          </a:p>
          <a:p>
            <a:pPr marL="0" indent="0" algn="just">
              <a:buNone/>
            </a:pPr>
            <a:endParaRPr lang="en-US" sz="2300" dirty="0"/>
          </a:p>
          <a:p>
            <a:pPr marL="0" indent="0" algn="just">
              <a:spcBef>
                <a:spcPts val="200"/>
              </a:spcBef>
              <a:buNone/>
            </a:pPr>
            <a:endParaRPr lang="en-US" sz="2300" dirty="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715320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A06E1-E711-EF1F-5DB9-81D4789FF4D9}"/>
              </a:ext>
            </a:extLst>
          </p:cNvPr>
          <p:cNvSpPr>
            <a:spLocks noGrp="1"/>
          </p:cNvSpPr>
          <p:nvPr>
            <p:ph type="title"/>
          </p:nvPr>
        </p:nvSpPr>
        <p:spPr>
          <a:xfrm>
            <a:off x="838200" y="0"/>
            <a:ext cx="10515600" cy="923331"/>
          </a:xfrm>
        </p:spPr>
        <p:txBody>
          <a:bodyPr/>
          <a:lstStyle/>
          <a:p>
            <a:r>
              <a:rPr lang="en-IN" b="1" dirty="0"/>
              <a:t>Porter Stemmer Example</a:t>
            </a:r>
          </a:p>
        </p:txBody>
      </p:sp>
      <p:sp>
        <p:nvSpPr>
          <p:cNvPr id="5" name="TextBox 4">
            <a:extLst>
              <a:ext uri="{FF2B5EF4-FFF2-40B4-BE49-F238E27FC236}">
                <a16:creationId xmlns:a16="http://schemas.microsoft.com/office/drawing/2014/main" id="{F0BCC244-B9BC-A528-7788-222E7016403F}"/>
              </a:ext>
            </a:extLst>
          </p:cNvPr>
          <p:cNvSpPr txBox="1"/>
          <p:nvPr/>
        </p:nvSpPr>
        <p:spPr>
          <a:xfrm>
            <a:off x="193040" y="923331"/>
            <a:ext cx="6898640" cy="424731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from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nltk.stem</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import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PorterStemmer</a:t>
            </a:r>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from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nltk.tokenize</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import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word_tokenize</a:t>
            </a:r>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Initialize the stemmer</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porter = </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PorterStemmer</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words = ["running", "flies", "easily", "played"]</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Apply stemming</a:t>
            </a:r>
          </a:p>
          <a:p>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for word in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stemmed_words.append</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porter.stem</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(word))</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print("Original Words: ",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print("Stemmed Words: ",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9" name="TextBox 8">
            <a:extLst>
              <a:ext uri="{FF2B5EF4-FFF2-40B4-BE49-F238E27FC236}">
                <a16:creationId xmlns:a16="http://schemas.microsoft.com/office/drawing/2014/main" id="{B9863B6C-405A-A2DF-8D5A-F61F7632A5F7}"/>
              </a:ext>
            </a:extLst>
          </p:cNvPr>
          <p:cNvSpPr txBox="1"/>
          <p:nvPr/>
        </p:nvSpPr>
        <p:spPr>
          <a:xfrm>
            <a:off x="4165600" y="6211669"/>
            <a:ext cx="7955280"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a:latin typeface="Cascadia Code" panose="020B0609020000020004" pitchFamily="49" charset="0"/>
                <a:ea typeface="Cascadia Code" panose="020B0609020000020004" pitchFamily="49" charset="0"/>
                <a:cs typeface="Cascadia Code" panose="020B0609020000020004" pitchFamily="49" charset="0"/>
              </a:rPr>
              <a:t>Original Words:  ['running', 'flies', 'easily', 'played']</a:t>
            </a:r>
          </a:p>
          <a:p>
            <a:r>
              <a:rPr lang="en-IN" dirty="0">
                <a:latin typeface="Cascadia Code" panose="020B0609020000020004" pitchFamily="49" charset="0"/>
                <a:ea typeface="Cascadia Code" panose="020B0609020000020004" pitchFamily="49" charset="0"/>
                <a:cs typeface="Cascadia Code" panose="020B0609020000020004" pitchFamily="49" charset="0"/>
              </a:rPr>
              <a:t>Stemmed Words:  ['run', '</a:t>
            </a:r>
            <a:r>
              <a:rPr lang="en-IN" dirty="0" err="1">
                <a:latin typeface="Cascadia Code" panose="020B0609020000020004" pitchFamily="49" charset="0"/>
                <a:ea typeface="Cascadia Code" panose="020B0609020000020004" pitchFamily="49" charset="0"/>
                <a:cs typeface="Cascadia Code" panose="020B0609020000020004" pitchFamily="49" charset="0"/>
              </a:rPr>
              <a:t>fli</a:t>
            </a:r>
            <a:r>
              <a:rPr lang="en-IN" dirty="0">
                <a:latin typeface="Cascadia Code" panose="020B0609020000020004" pitchFamily="49" charset="0"/>
                <a:ea typeface="Cascadia Code" panose="020B0609020000020004" pitchFamily="49" charset="0"/>
                <a:cs typeface="Cascadia Code" panose="020B0609020000020004" pitchFamily="49" charset="0"/>
              </a:rPr>
              <a:t>', '</a:t>
            </a:r>
            <a:r>
              <a:rPr lang="en-IN" dirty="0" err="1">
                <a:latin typeface="Cascadia Code" panose="020B0609020000020004" pitchFamily="49" charset="0"/>
                <a:ea typeface="Cascadia Code" panose="020B0609020000020004" pitchFamily="49" charset="0"/>
                <a:cs typeface="Cascadia Code" panose="020B0609020000020004" pitchFamily="49" charset="0"/>
              </a:rPr>
              <a:t>easili</a:t>
            </a:r>
            <a:r>
              <a:rPr lang="en-IN" dirty="0">
                <a:latin typeface="Cascadia Code" panose="020B0609020000020004" pitchFamily="49" charset="0"/>
                <a:ea typeface="Cascadia Code" panose="020B0609020000020004" pitchFamily="49" charset="0"/>
                <a:cs typeface="Cascadia Code" panose="020B0609020000020004" pitchFamily="49" charset="0"/>
              </a:rPr>
              <a:t>', 'play']</a:t>
            </a:r>
          </a:p>
        </p:txBody>
      </p:sp>
    </p:spTree>
    <p:extLst>
      <p:ext uri="{BB962C8B-B14F-4D97-AF65-F5344CB8AC3E}">
        <p14:creationId xmlns:p14="http://schemas.microsoft.com/office/powerpoint/2010/main" val="1445865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C797-A2CD-2152-DFB9-3400B2474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501D4-8F0A-09ED-F58D-23364A447C89}"/>
              </a:ext>
            </a:extLst>
          </p:cNvPr>
          <p:cNvSpPr>
            <a:spLocks noGrp="1"/>
          </p:cNvSpPr>
          <p:nvPr>
            <p:ph type="title"/>
          </p:nvPr>
        </p:nvSpPr>
        <p:spPr>
          <a:xfrm>
            <a:off x="838200" y="0"/>
            <a:ext cx="10515600" cy="923331"/>
          </a:xfrm>
        </p:spPr>
        <p:txBody>
          <a:bodyPr>
            <a:normAutofit/>
          </a:bodyPr>
          <a:lstStyle/>
          <a:p>
            <a:r>
              <a:rPr lang="en-IN" b="1" i="0" dirty="0">
                <a:solidFill>
                  <a:srgbClr val="222222"/>
                </a:solidFill>
                <a:effectLst/>
              </a:rPr>
              <a:t>Lancaster Stemmer </a:t>
            </a:r>
            <a:r>
              <a:rPr lang="en-IN" b="1" dirty="0"/>
              <a:t>Example</a:t>
            </a:r>
          </a:p>
        </p:txBody>
      </p:sp>
      <p:sp>
        <p:nvSpPr>
          <p:cNvPr id="5" name="TextBox 4">
            <a:extLst>
              <a:ext uri="{FF2B5EF4-FFF2-40B4-BE49-F238E27FC236}">
                <a16:creationId xmlns:a16="http://schemas.microsoft.com/office/drawing/2014/main" id="{C62DCD6A-89C4-E8A3-8F7D-F7FC929891D7}"/>
              </a:ext>
            </a:extLst>
          </p:cNvPr>
          <p:cNvSpPr txBox="1"/>
          <p:nvPr/>
        </p:nvSpPr>
        <p:spPr>
          <a:xfrm>
            <a:off x="356037" y="1217621"/>
            <a:ext cx="6898640" cy="397031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from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nltk.stem</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import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LancasterStemmer</a:t>
            </a:r>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Initialize the stemmer</a:t>
            </a:r>
          </a:p>
          <a:p>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lancaster</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LancasterStemmer</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Example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words = ["running", "flies", "easily", "played",]</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for word in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stemmed_words.append</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lancaster.stem</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(word))</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print("Original Words: ",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print("Stemmed Words: ",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9" name="TextBox 8">
            <a:extLst>
              <a:ext uri="{FF2B5EF4-FFF2-40B4-BE49-F238E27FC236}">
                <a16:creationId xmlns:a16="http://schemas.microsoft.com/office/drawing/2014/main" id="{B590DDDC-66AE-1CE9-C7B3-0EDF086C71F0}"/>
              </a:ext>
            </a:extLst>
          </p:cNvPr>
          <p:cNvSpPr txBox="1"/>
          <p:nvPr/>
        </p:nvSpPr>
        <p:spPr>
          <a:xfrm>
            <a:off x="2432969" y="5816980"/>
            <a:ext cx="9643417"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a:latin typeface="Cascadia Code" panose="020B0609020000020004" pitchFamily="49" charset="0"/>
                <a:ea typeface="Cascadia Code" panose="020B0609020000020004" pitchFamily="49" charset="0"/>
                <a:cs typeface="Cascadia Code" panose="020B0609020000020004" pitchFamily="49" charset="0"/>
              </a:rPr>
              <a:t>Original Words:  ['running', 'flies', 'easily', 'played', 'running']</a:t>
            </a:r>
          </a:p>
          <a:p>
            <a:r>
              <a:rPr lang="en-IN" dirty="0">
                <a:latin typeface="Cascadia Code" panose="020B0609020000020004" pitchFamily="49" charset="0"/>
                <a:ea typeface="Cascadia Code" panose="020B0609020000020004" pitchFamily="49" charset="0"/>
                <a:cs typeface="Cascadia Code" panose="020B0609020000020004" pitchFamily="49" charset="0"/>
              </a:rPr>
              <a:t>Stemmed Words:  ['run', '</a:t>
            </a:r>
            <a:r>
              <a:rPr lang="en-IN" dirty="0" err="1">
                <a:latin typeface="Cascadia Code" panose="020B0609020000020004" pitchFamily="49" charset="0"/>
                <a:ea typeface="Cascadia Code" panose="020B0609020000020004" pitchFamily="49" charset="0"/>
                <a:cs typeface="Cascadia Code" panose="020B0609020000020004" pitchFamily="49" charset="0"/>
              </a:rPr>
              <a:t>fli</a:t>
            </a:r>
            <a:r>
              <a:rPr lang="en-IN" dirty="0">
                <a:latin typeface="Cascadia Code" panose="020B0609020000020004" pitchFamily="49" charset="0"/>
                <a:ea typeface="Cascadia Code" panose="020B0609020000020004" pitchFamily="49" charset="0"/>
                <a:cs typeface="Cascadia Code" panose="020B0609020000020004" pitchFamily="49" charset="0"/>
              </a:rPr>
              <a:t>', 'easy', 'play', 'run']</a:t>
            </a:r>
          </a:p>
        </p:txBody>
      </p:sp>
    </p:spTree>
    <p:extLst>
      <p:ext uri="{BB962C8B-B14F-4D97-AF65-F5344CB8AC3E}">
        <p14:creationId xmlns:p14="http://schemas.microsoft.com/office/powerpoint/2010/main" val="3353833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0A90-8A78-9BB3-2843-C06D21C10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63231-44C9-E76C-1E6B-51829908BA89}"/>
              </a:ext>
            </a:extLst>
          </p:cNvPr>
          <p:cNvSpPr>
            <a:spLocks noGrp="1"/>
          </p:cNvSpPr>
          <p:nvPr>
            <p:ph type="title"/>
          </p:nvPr>
        </p:nvSpPr>
        <p:spPr>
          <a:xfrm>
            <a:off x="838200" y="0"/>
            <a:ext cx="10515600" cy="923331"/>
          </a:xfrm>
        </p:spPr>
        <p:txBody>
          <a:bodyPr>
            <a:normAutofit/>
          </a:bodyPr>
          <a:lstStyle/>
          <a:p>
            <a:r>
              <a:rPr lang="en-IN" sz="4000" dirty="0">
                <a:solidFill>
                  <a:schemeClr val="tx1"/>
                </a:solidFill>
                <a:effectLst/>
                <a:latin typeface="+mn-lt"/>
                <a:ea typeface="Cascadia Code" panose="020B0609020000020004" pitchFamily="49" charset="0"/>
                <a:cs typeface="Cascadia Code" panose="020B0609020000020004" pitchFamily="49" charset="0"/>
              </a:rPr>
              <a:t>Snowball Stemmer </a:t>
            </a:r>
            <a:r>
              <a:rPr lang="en-IN" sz="4000" dirty="0">
                <a:latin typeface="+mn-lt"/>
              </a:rPr>
              <a:t>Example</a:t>
            </a:r>
          </a:p>
        </p:txBody>
      </p:sp>
      <p:sp>
        <p:nvSpPr>
          <p:cNvPr id="5" name="TextBox 4">
            <a:extLst>
              <a:ext uri="{FF2B5EF4-FFF2-40B4-BE49-F238E27FC236}">
                <a16:creationId xmlns:a16="http://schemas.microsoft.com/office/drawing/2014/main" id="{A82752DB-0F5B-231D-628C-9AE80A0B0714}"/>
              </a:ext>
            </a:extLst>
          </p:cNvPr>
          <p:cNvSpPr txBox="1"/>
          <p:nvPr/>
        </p:nvSpPr>
        <p:spPr>
          <a:xfrm>
            <a:off x="356036" y="1217621"/>
            <a:ext cx="8808283" cy="34163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from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nltk.stem</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import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SnowballStemmer</a:t>
            </a:r>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Initialize the Snowball Stemmer for English</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snowball = </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SnowballStemmer</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english</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words = ["running", "flies", "easily", "played", "running"]</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for word in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stemmed_words.append</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snowball.stem</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(word))</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print("Original Words: ",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print("Stemmed Words: ",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9" name="TextBox 8">
            <a:extLst>
              <a:ext uri="{FF2B5EF4-FFF2-40B4-BE49-F238E27FC236}">
                <a16:creationId xmlns:a16="http://schemas.microsoft.com/office/drawing/2014/main" id="{12B7C13E-C850-B472-A9FF-E1378F9B6836}"/>
              </a:ext>
            </a:extLst>
          </p:cNvPr>
          <p:cNvSpPr txBox="1"/>
          <p:nvPr/>
        </p:nvSpPr>
        <p:spPr>
          <a:xfrm>
            <a:off x="2432969" y="5816980"/>
            <a:ext cx="9643417"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a:latin typeface="Cascadia Code" panose="020B0609020000020004" pitchFamily="49" charset="0"/>
                <a:ea typeface="Cascadia Code" panose="020B0609020000020004" pitchFamily="49" charset="0"/>
                <a:cs typeface="Cascadia Code" panose="020B0609020000020004" pitchFamily="49" charset="0"/>
              </a:rPr>
              <a:t>Original Words:  ['running', 'flies', 'easily', 'played', 'running']</a:t>
            </a:r>
          </a:p>
          <a:p>
            <a:r>
              <a:rPr lang="en-IN" dirty="0">
                <a:latin typeface="Cascadia Code" panose="020B0609020000020004" pitchFamily="49" charset="0"/>
                <a:ea typeface="Cascadia Code" panose="020B0609020000020004" pitchFamily="49" charset="0"/>
                <a:cs typeface="Cascadia Code" panose="020B0609020000020004" pitchFamily="49" charset="0"/>
              </a:rPr>
              <a:t>Stemmed Words:  ['run', '</a:t>
            </a:r>
            <a:r>
              <a:rPr lang="en-IN" dirty="0" err="1">
                <a:latin typeface="Cascadia Code" panose="020B0609020000020004" pitchFamily="49" charset="0"/>
                <a:ea typeface="Cascadia Code" panose="020B0609020000020004" pitchFamily="49" charset="0"/>
                <a:cs typeface="Cascadia Code" panose="020B0609020000020004" pitchFamily="49" charset="0"/>
              </a:rPr>
              <a:t>fli</a:t>
            </a:r>
            <a:r>
              <a:rPr lang="en-IN" dirty="0">
                <a:latin typeface="Cascadia Code" panose="020B0609020000020004" pitchFamily="49" charset="0"/>
                <a:ea typeface="Cascadia Code" panose="020B0609020000020004" pitchFamily="49" charset="0"/>
                <a:cs typeface="Cascadia Code" panose="020B0609020000020004" pitchFamily="49" charset="0"/>
              </a:rPr>
              <a:t>', '</a:t>
            </a:r>
            <a:r>
              <a:rPr lang="en-IN" dirty="0" err="1">
                <a:latin typeface="Cascadia Code" panose="020B0609020000020004" pitchFamily="49" charset="0"/>
                <a:ea typeface="Cascadia Code" panose="020B0609020000020004" pitchFamily="49" charset="0"/>
                <a:cs typeface="Cascadia Code" panose="020B0609020000020004" pitchFamily="49" charset="0"/>
              </a:rPr>
              <a:t>easili</a:t>
            </a:r>
            <a:r>
              <a:rPr lang="en-IN" dirty="0">
                <a:latin typeface="Cascadia Code" panose="020B0609020000020004" pitchFamily="49" charset="0"/>
                <a:ea typeface="Cascadia Code" panose="020B0609020000020004" pitchFamily="49" charset="0"/>
                <a:cs typeface="Cascadia Code" panose="020B0609020000020004" pitchFamily="49" charset="0"/>
              </a:rPr>
              <a:t>', 'play', 'run']</a:t>
            </a:r>
          </a:p>
        </p:txBody>
      </p:sp>
    </p:spTree>
    <p:extLst>
      <p:ext uri="{BB962C8B-B14F-4D97-AF65-F5344CB8AC3E}">
        <p14:creationId xmlns:p14="http://schemas.microsoft.com/office/powerpoint/2010/main" val="1529657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BC2E0-9927-4EED-9080-56F6993BF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6E254-DC5E-F94D-2B95-C12C6E2EFEF8}"/>
              </a:ext>
            </a:extLst>
          </p:cNvPr>
          <p:cNvSpPr>
            <a:spLocks noGrp="1"/>
          </p:cNvSpPr>
          <p:nvPr>
            <p:ph type="title"/>
          </p:nvPr>
        </p:nvSpPr>
        <p:spPr>
          <a:xfrm>
            <a:off x="838200" y="0"/>
            <a:ext cx="10515600" cy="923331"/>
          </a:xfrm>
        </p:spPr>
        <p:txBody>
          <a:bodyPr>
            <a:normAutofit/>
          </a:bodyPr>
          <a:lstStyle/>
          <a:p>
            <a:r>
              <a:rPr lang="en-IN" sz="4000" b="0" dirty="0" err="1">
                <a:effectLst/>
                <a:latin typeface="+mn-lt"/>
                <a:ea typeface="Cascadia Code" panose="020B0609020000020004" pitchFamily="49" charset="0"/>
                <a:cs typeface="Cascadia Code" panose="020B0609020000020004" pitchFamily="49" charset="0"/>
              </a:rPr>
              <a:t>RegexpStemmer</a:t>
            </a:r>
            <a:r>
              <a:rPr lang="en-IN" sz="4000" dirty="0">
                <a:effectLst/>
                <a:latin typeface="+mn-lt"/>
                <a:ea typeface="Cascadia Code" panose="020B0609020000020004" pitchFamily="49" charset="0"/>
                <a:cs typeface="Cascadia Code" panose="020B0609020000020004" pitchFamily="49" charset="0"/>
              </a:rPr>
              <a:t> Stemmer </a:t>
            </a:r>
            <a:r>
              <a:rPr lang="en-IN" sz="4000" dirty="0">
                <a:latin typeface="+mn-lt"/>
              </a:rPr>
              <a:t>Example</a:t>
            </a:r>
          </a:p>
        </p:txBody>
      </p:sp>
      <p:sp>
        <p:nvSpPr>
          <p:cNvPr id="5" name="TextBox 4">
            <a:extLst>
              <a:ext uri="{FF2B5EF4-FFF2-40B4-BE49-F238E27FC236}">
                <a16:creationId xmlns:a16="http://schemas.microsoft.com/office/drawing/2014/main" id="{22168D96-C2CF-6BBE-8151-01CC0FE839F4}"/>
              </a:ext>
            </a:extLst>
          </p:cNvPr>
          <p:cNvSpPr txBox="1"/>
          <p:nvPr/>
        </p:nvSpPr>
        <p:spPr>
          <a:xfrm>
            <a:off x="356036" y="1217621"/>
            <a:ext cx="11602284" cy="397031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from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nltk.stem</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import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RegexpStemmer</a:t>
            </a:r>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Define a </a:t>
            </a:r>
            <a:r>
              <a:rPr lang="en-IN" b="0" dirty="0" err="1">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RegexpStemmer</a:t>
            </a:r>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to remove common suffixes like '</a:t>
            </a:r>
            <a:r>
              <a:rPr lang="en-IN" b="0" dirty="0" err="1">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ing</a:t>
            </a:r>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IN" b="0" dirty="0" err="1">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ly</a:t>
            </a:r>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'ed', 's'</a:t>
            </a:r>
          </a:p>
          <a:p>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regstemmer</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RegexpStemmer</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(r'(</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ing</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ly</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$|ed$|s$)')</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words = ["running", "played", "happily", "studies", "cars", "faster"]</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Stem each word</a:t>
            </a:r>
          </a:p>
          <a:p>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for word in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stemmed_words.append</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IN" b="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regstemmer.stem</a:t>
            </a:r>
            <a:r>
              <a:rPr lang="en-IN" b="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(word))</a:t>
            </a:r>
          </a:p>
          <a:p>
            <a:endPar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print("Original Words: ", words)</a:t>
            </a:r>
          </a:p>
          <a:p>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print("Stemmed Words: ", </a:t>
            </a:r>
            <a:r>
              <a:rPr lang="en-IN" b="0" dirty="0" err="1">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stemmed_words</a:t>
            </a:r>
            <a:r>
              <a:rPr lang="en-IN" b="0" dirty="0">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9" name="TextBox 8">
            <a:extLst>
              <a:ext uri="{FF2B5EF4-FFF2-40B4-BE49-F238E27FC236}">
                <a16:creationId xmlns:a16="http://schemas.microsoft.com/office/drawing/2014/main" id="{874EB6D3-A057-59FD-AB46-D26F132E0FCF}"/>
              </a:ext>
            </a:extLst>
          </p:cNvPr>
          <p:cNvSpPr txBox="1"/>
          <p:nvPr/>
        </p:nvSpPr>
        <p:spPr>
          <a:xfrm>
            <a:off x="1595121" y="5816980"/>
            <a:ext cx="10481266"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a:latin typeface="Cascadia Code" panose="020B0609020000020004" pitchFamily="49" charset="0"/>
                <a:ea typeface="Cascadia Code" panose="020B0609020000020004" pitchFamily="49" charset="0"/>
                <a:cs typeface="Cascadia Code" panose="020B0609020000020004" pitchFamily="49" charset="0"/>
              </a:rPr>
              <a:t>Original Words:  ['running', 'played', 'happily', 'studies', '</a:t>
            </a:r>
            <a:r>
              <a:rPr lang="en-IN" dirty="0" err="1">
                <a:latin typeface="Cascadia Code" panose="020B0609020000020004" pitchFamily="49" charset="0"/>
                <a:ea typeface="Cascadia Code" panose="020B0609020000020004" pitchFamily="49" charset="0"/>
                <a:cs typeface="Cascadia Code" panose="020B0609020000020004" pitchFamily="49" charset="0"/>
              </a:rPr>
              <a:t>cars','faster</a:t>
            </a:r>
            <a:r>
              <a:rPr lang="en-IN" dirty="0">
                <a:latin typeface="Cascadia Code" panose="020B0609020000020004" pitchFamily="49" charset="0"/>
                <a:ea typeface="Cascadia Code" panose="020B0609020000020004" pitchFamily="49" charset="0"/>
                <a:cs typeface="Cascadia Code" panose="020B0609020000020004" pitchFamily="49" charset="0"/>
              </a:rPr>
              <a:t>']</a:t>
            </a:r>
          </a:p>
          <a:p>
            <a:r>
              <a:rPr lang="en-IN" dirty="0">
                <a:latin typeface="Cascadia Code" panose="020B0609020000020004" pitchFamily="49" charset="0"/>
                <a:ea typeface="Cascadia Code" panose="020B0609020000020004" pitchFamily="49" charset="0"/>
                <a:cs typeface="Cascadia Code" panose="020B0609020000020004" pitchFamily="49" charset="0"/>
              </a:rPr>
              <a:t>Stemmed Words:  ['</a:t>
            </a:r>
            <a:r>
              <a:rPr lang="en-IN" dirty="0" err="1">
                <a:latin typeface="Cascadia Code" panose="020B0609020000020004" pitchFamily="49" charset="0"/>
                <a:ea typeface="Cascadia Code" panose="020B0609020000020004" pitchFamily="49" charset="0"/>
                <a:cs typeface="Cascadia Code" panose="020B0609020000020004" pitchFamily="49" charset="0"/>
              </a:rPr>
              <a:t>runn</a:t>
            </a:r>
            <a:r>
              <a:rPr lang="en-IN" dirty="0">
                <a:latin typeface="Cascadia Code" panose="020B0609020000020004" pitchFamily="49" charset="0"/>
                <a:ea typeface="Cascadia Code" panose="020B0609020000020004" pitchFamily="49" charset="0"/>
                <a:cs typeface="Cascadia Code" panose="020B0609020000020004" pitchFamily="49" charset="0"/>
              </a:rPr>
              <a:t>', 'play', '</a:t>
            </a:r>
            <a:r>
              <a:rPr lang="en-IN" dirty="0" err="1">
                <a:latin typeface="Cascadia Code" panose="020B0609020000020004" pitchFamily="49" charset="0"/>
                <a:ea typeface="Cascadia Code" panose="020B0609020000020004" pitchFamily="49" charset="0"/>
                <a:cs typeface="Cascadia Code" panose="020B0609020000020004" pitchFamily="49" charset="0"/>
              </a:rPr>
              <a:t>happi</a:t>
            </a:r>
            <a:r>
              <a:rPr lang="en-IN" dirty="0">
                <a:latin typeface="Cascadia Code" panose="020B0609020000020004" pitchFamily="49" charset="0"/>
                <a:ea typeface="Cascadia Code" panose="020B0609020000020004" pitchFamily="49" charset="0"/>
                <a:cs typeface="Cascadia Code" panose="020B0609020000020004" pitchFamily="49" charset="0"/>
              </a:rPr>
              <a:t>', '</a:t>
            </a:r>
            <a:r>
              <a:rPr lang="en-IN" dirty="0" err="1">
                <a:latin typeface="Cascadia Code" panose="020B0609020000020004" pitchFamily="49" charset="0"/>
                <a:ea typeface="Cascadia Code" panose="020B0609020000020004" pitchFamily="49" charset="0"/>
                <a:cs typeface="Cascadia Code" panose="020B0609020000020004" pitchFamily="49" charset="0"/>
              </a:rPr>
              <a:t>studie</a:t>
            </a:r>
            <a:r>
              <a:rPr lang="en-IN" dirty="0">
                <a:latin typeface="Cascadia Code" panose="020B0609020000020004" pitchFamily="49" charset="0"/>
                <a:ea typeface="Cascadia Code" panose="020B0609020000020004" pitchFamily="49" charset="0"/>
                <a:cs typeface="Cascadia Code" panose="020B0609020000020004" pitchFamily="49" charset="0"/>
              </a:rPr>
              <a:t>', 'car', 'faster']</a:t>
            </a:r>
          </a:p>
        </p:txBody>
      </p:sp>
    </p:spTree>
    <p:extLst>
      <p:ext uri="{BB962C8B-B14F-4D97-AF65-F5344CB8AC3E}">
        <p14:creationId xmlns:p14="http://schemas.microsoft.com/office/powerpoint/2010/main" val="787246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994E0-293B-8656-B4AC-7F61C26F6503}"/>
              </a:ext>
            </a:extLst>
          </p:cNvPr>
          <p:cNvSpPr>
            <a:spLocks noGrp="1"/>
          </p:cNvSpPr>
          <p:nvPr>
            <p:ph type="title"/>
          </p:nvPr>
        </p:nvSpPr>
        <p:spPr>
          <a:xfrm>
            <a:off x="920517" y="0"/>
            <a:ext cx="10515600" cy="1071563"/>
          </a:xfrm>
        </p:spPr>
        <p:txBody>
          <a:bodyPr/>
          <a:lstStyle/>
          <a:p>
            <a:pPr algn="ctr"/>
            <a:r>
              <a:rPr lang="en-IN" b="1" dirty="0">
                <a:solidFill>
                  <a:srgbClr val="FF0000"/>
                </a:solidFill>
              </a:rPr>
              <a:t>lemmatization</a:t>
            </a:r>
          </a:p>
        </p:txBody>
      </p:sp>
      <p:sp>
        <p:nvSpPr>
          <p:cNvPr id="3" name="Content Placeholder 2">
            <a:extLst>
              <a:ext uri="{FF2B5EF4-FFF2-40B4-BE49-F238E27FC236}">
                <a16:creationId xmlns:a16="http://schemas.microsoft.com/office/drawing/2014/main" id="{0885A232-D8CD-6CC9-0C6D-54385ADD8ECD}"/>
              </a:ext>
            </a:extLst>
          </p:cNvPr>
          <p:cNvSpPr>
            <a:spLocks noGrp="1"/>
          </p:cNvSpPr>
          <p:nvPr>
            <p:ph idx="1"/>
          </p:nvPr>
        </p:nvSpPr>
        <p:spPr>
          <a:xfrm>
            <a:off x="162560" y="1027518"/>
            <a:ext cx="11765280" cy="5576482"/>
          </a:xfrm>
        </p:spPr>
        <p:txBody>
          <a:bodyPr>
            <a:noAutofit/>
          </a:bodyPr>
          <a:lstStyle/>
          <a:p>
            <a:r>
              <a:rPr lang="en-US" sz="2400" b="1" dirty="0"/>
              <a:t>Lemmatization</a:t>
            </a:r>
            <a:r>
              <a:rPr lang="en-US" sz="2400" dirty="0"/>
              <a:t> in </a:t>
            </a:r>
            <a:r>
              <a:rPr lang="en-US" sz="2400" b="1" dirty="0"/>
              <a:t>NLP</a:t>
            </a:r>
            <a:r>
              <a:rPr lang="en-US" sz="2400" dirty="0"/>
              <a:t> is the process of </a:t>
            </a:r>
            <a:r>
              <a:rPr lang="en-US" sz="2400" dirty="0">
                <a:solidFill>
                  <a:srgbClr val="7030A0"/>
                </a:solidFill>
              </a:rPr>
              <a:t>reducing a word to its </a:t>
            </a:r>
            <a:r>
              <a:rPr lang="en-US" sz="2400" b="1" dirty="0">
                <a:solidFill>
                  <a:srgbClr val="7030A0"/>
                </a:solidFill>
              </a:rPr>
              <a:t>base form</a:t>
            </a:r>
            <a:r>
              <a:rPr lang="en-US" sz="2400" dirty="0">
                <a:solidFill>
                  <a:srgbClr val="7030A0"/>
                </a:solidFill>
              </a:rPr>
              <a:t> </a:t>
            </a:r>
            <a:r>
              <a:rPr lang="en-US" sz="2400" dirty="0"/>
              <a:t>(known as the </a:t>
            </a:r>
            <a:r>
              <a:rPr lang="en-US" sz="2400" i="1" dirty="0"/>
              <a:t>lemma</a:t>
            </a:r>
            <a:r>
              <a:rPr lang="en-US" sz="2400" dirty="0"/>
              <a:t>) by considering its </a:t>
            </a:r>
            <a:r>
              <a:rPr lang="en-US" sz="2400" b="1" dirty="0"/>
              <a:t>meaning</a:t>
            </a:r>
            <a:r>
              <a:rPr lang="en-US" sz="2400" dirty="0"/>
              <a:t> and </a:t>
            </a:r>
            <a:r>
              <a:rPr lang="en-US" sz="2400" b="1" dirty="0"/>
              <a:t>part of speech (POS)</a:t>
            </a:r>
            <a:r>
              <a:rPr lang="en-US" sz="2400" dirty="0"/>
              <a:t>. </a:t>
            </a:r>
          </a:p>
          <a:p>
            <a:r>
              <a:rPr lang="en-US" sz="2400" dirty="0"/>
              <a:t>Unlike stemming, lemmatization produces </a:t>
            </a:r>
            <a:r>
              <a:rPr lang="en-US" sz="2400" dirty="0">
                <a:solidFill>
                  <a:srgbClr val="7030A0"/>
                </a:solidFill>
              </a:rPr>
              <a:t>valid dictionary words.</a:t>
            </a:r>
          </a:p>
          <a:p>
            <a:r>
              <a:rPr lang="en-US" sz="2400" dirty="0"/>
              <a:t>It produces meaningful root words, unlike stemming, which can create non-existent words.</a:t>
            </a:r>
          </a:p>
          <a:p>
            <a:r>
              <a:rPr lang="en-US" sz="2400" dirty="0"/>
              <a:t>For example:</a:t>
            </a:r>
          </a:p>
          <a:p>
            <a:pPr lvl="1"/>
            <a:r>
              <a:rPr lang="en-US" sz="2000" b="1" dirty="0"/>
              <a:t>"studies"</a:t>
            </a:r>
            <a:r>
              <a:rPr lang="en-US" sz="2000" dirty="0"/>
              <a:t> → </a:t>
            </a:r>
            <a:r>
              <a:rPr lang="en-US" sz="2000" b="1" dirty="0"/>
              <a:t>"study“</a:t>
            </a:r>
          </a:p>
          <a:p>
            <a:pPr marL="0" indent="0">
              <a:buNone/>
            </a:pPr>
            <a:r>
              <a:rPr lang="en-US" sz="2400" b="1" dirty="0"/>
              <a:t>Why is Lemmatization Important?</a:t>
            </a:r>
          </a:p>
          <a:p>
            <a:pPr>
              <a:buFont typeface="+mj-lt"/>
              <a:buAutoNum type="arabicPeriod"/>
            </a:pPr>
            <a:r>
              <a:rPr lang="en-US" sz="2400" b="1" dirty="0"/>
              <a:t>Reduces Redundancy</a:t>
            </a:r>
            <a:r>
              <a:rPr lang="en-US" sz="2400" dirty="0"/>
              <a:t>.</a:t>
            </a:r>
          </a:p>
          <a:p>
            <a:pPr>
              <a:buFont typeface="+mj-lt"/>
              <a:buAutoNum type="arabicPeriod"/>
            </a:pPr>
            <a:r>
              <a:rPr lang="en-US" sz="2400" b="1" dirty="0"/>
              <a:t>Improves Text Processing</a:t>
            </a:r>
            <a:endParaRPr lang="en-US" sz="2400" dirty="0"/>
          </a:p>
          <a:p>
            <a:pPr marL="0" indent="0">
              <a:buNone/>
            </a:pPr>
            <a:endParaRPr lang="en-IN" sz="2400" b="0" i="1"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2471818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5A13A-ADA0-051C-22E0-B11BC55A2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69C0D-AF92-4DBA-ACA0-F33AB893C450}"/>
              </a:ext>
            </a:extLst>
          </p:cNvPr>
          <p:cNvSpPr>
            <a:spLocks noGrp="1"/>
          </p:cNvSpPr>
          <p:nvPr>
            <p:ph type="title"/>
          </p:nvPr>
        </p:nvSpPr>
        <p:spPr>
          <a:xfrm>
            <a:off x="940837" y="1"/>
            <a:ext cx="10515600" cy="802640"/>
          </a:xfrm>
        </p:spPr>
        <p:txBody>
          <a:bodyPr/>
          <a:lstStyle/>
          <a:p>
            <a:pPr algn="ctr"/>
            <a:r>
              <a:rPr lang="en-IN" b="1" dirty="0"/>
              <a:t>lemmatization</a:t>
            </a:r>
          </a:p>
        </p:txBody>
      </p:sp>
      <p:sp>
        <p:nvSpPr>
          <p:cNvPr id="3" name="Content Placeholder 2">
            <a:extLst>
              <a:ext uri="{FF2B5EF4-FFF2-40B4-BE49-F238E27FC236}">
                <a16:creationId xmlns:a16="http://schemas.microsoft.com/office/drawing/2014/main" id="{FA2B6689-6D4D-0759-81B1-676528744A35}"/>
              </a:ext>
            </a:extLst>
          </p:cNvPr>
          <p:cNvSpPr>
            <a:spLocks noGrp="1"/>
          </p:cNvSpPr>
          <p:nvPr>
            <p:ph idx="1"/>
          </p:nvPr>
        </p:nvSpPr>
        <p:spPr>
          <a:xfrm>
            <a:off x="0" y="640759"/>
            <a:ext cx="11765280" cy="5576482"/>
          </a:xfrm>
        </p:spPr>
        <p:txBody>
          <a:bodyPr>
            <a:noAutofit/>
          </a:bodyPr>
          <a:lstStyle/>
          <a:p>
            <a:pPr algn="just"/>
            <a:r>
              <a:rPr lang="en-US" sz="2400" dirty="0"/>
              <a:t>NLTK provides the </a:t>
            </a:r>
            <a:r>
              <a:rPr lang="en-US" sz="2400" b="1" dirty="0">
                <a:solidFill>
                  <a:srgbClr val="7030A0"/>
                </a:solidFill>
              </a:rPr>
              <a:t>WordNet </a:t>
            </a:r>
            <a:r>
              <a:rPr lang="en-US" sz="2400" b="1" dirty="0" err="1">
                <a:solidFill>
                  <a:srgbClr val="7030A0"/>
                </a:solidFill>
              </a:rPr>
              <a:t>Lemmatizer</a:t>
            </a:r>
            <a:r>
              <a:rPr lang="en-US" sz="2400" dirty="0">
                <a:solidFill>
                  <a:srgbClr val="7030A0"/>
                </a:solidFill>
              </a:rPr>
              <a:t> </a:t>
            </a:r>
            <a:r>
              <a:rPr lang="en-US" sz="2400" dirty="0"/>
              <a:t>for this task, which uses the </a:t>
            </a:r>
            <a:r>
              <a:rPr lang="en-US" sz="2400" b="1" dirty="0">
                <a:solidFill>
                  <a:srgbClr val="7030A0"/>
                </a:solidFill>
              </a:rPr>
              <a:t>WordNet</a:t>
            </a:r>
            <a:r>
              <a:rPr lang="en-US" sz="2400" dirty="0"/>
              <a:t> lexical database to find the lemma of a word. </a:t>
            </a:r>
          </a:p>
        </p:txBody>
      </p:sp>
      <p:sp>
        <p:nvSpPr>
          <p:cNvPr id="6" name="TextBox 5">
            <a:extLst>
              <a:ext uri="{FF2B5EF4-FFF2-40B4-BE49-F238E27FC236}">
                <a16:creationId xmlns:a16="http://schemas.microsoft.com/office/drawing/2014/main" id="{8BA30CDD-B5EC-0237-FA5F-739DD2436B98}"/>
              </a:ext>
            </a:extLst>
          </p:cNvPr>
          <p:cNvSpPr txBox="1"/>
          <p:nvPr/>
        </p:nvSpPr>
        <p:spPr>
          <a:xfrm>
            <a:off x="302683" y="1555159"/>
            <a:ext cx="7376160"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dirty="0">
                <a:latin typeface="Cascadia Code" panose="020B0609020000020004" pitchFamily="49" charset="0"/>
                <a:ea typeface="Cascadia Code" panose="020B0609020000020004" pitchFamily="49" charset="0"/>
                <a:cs typeface="Cascadia Code" panose="020B0609020000020004" pitchFamily="49" charset="0"/>
              </a:rPr>
              <a:t>from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nltk.stem</a:t>
            </a:r>
            <a:r>
              <a:rPr lang="en-IN" sz="1600" dirty="0">
                <a:latin typeface="Cascadia Code" panose="020B0609020000020004" pitchFamily="49" charset="0"/>
                <a:ea typeface="Cascadia Code" panose="020B0609020000020004" pitchFamily="49" charset="0"/>
                <a:cs typeface="Cascadia Code" panose="020B0609020000020004" pitchFamily="49" charset="0"/>
              </a:rPr>
              <a:t> import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WordNetLemmatizer</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import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nltk</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Download WordNet if not done yet</a:t>
            </a: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nltk.</a:t>
            </a:r>
            <a:r>
              <a:rPr lang="en-IN" sz="16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download</a:t>
            </a:r>
            <a:r>
              <a:rPr lang="en-IN" sz="16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('wordnet')</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Initialize the WordNet </a:t>
            </a:r>
            <a:r>
              <a:rPr lang="en-IN" sz="1600" dirty="0" err="1">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Lemmatizer</a:t>
            </a:r>
            <a:endParaRPr lang="en-IN"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lemmatizer</a:t>
            </a:r>
            <a:r>
              <a:rPr lang="en-IN" sz="1600" dirty="0">
                <a:latin typeface="Cascadia Code" panose="020B0609020000020004" pitchFamily="49" charset="0"/>
                <a:ea typeface="Cascadia Code" panose="020B0609020000020004" pitchFamily="49" charset="0"/>
                <a:cs typeface="Cascadia Code" panose="020B0609020000020004" pitchFamily="49" charset="0"/>
              </a:rPr>
              <a:t> = </a:t>
            </a:r>
            <a:r>
              <a:rPr lang="en-IN" sz="16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WordNetLemmatizer</a:t>
            </a:r>
            <a:r>
              <a:rPr lang="en-IN" sz="16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words = ["plays", "flies", "studies", "better", "cars"]</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lemmatized_words</a:t>
            </a:r>
            <a:r>
              <a:rPr lang="en-IN" sz="1600" dirty="0">
                <a:latin typeface="Cascadia Code" panose="020B0609020000020004" pitchFamily="49" charset="0"/>
                <a:ea typeface="Cascadia Code" panose="020B0609020000020004" pitchFamily="49" charset="0"/>
                <a:cs typeface="Cascadia Code" panose="020B0609020000020004" pitchFamily="49" charset="0"/>
              </a:rPr>
              <a:t> = []</a:t>
            </a: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stemmed_words</a:t>
            </a:r>
            <a:r>
              <a:rPr lang="en-IN" sz="1600" dirty="0">
                <a:latin typeface="Cascadia Code" panose="020B0609020000020004" pitchFamily="49" charset="0"/>
                <a:ea typeface="Cascadia Code" panose="020B0609020000020004" pitchFamily="49" charset="0"/>
                <a:cs typeface="Cascadia Code" panose="020B0609020000020004" pitchFamily="49" charset="0"/>
              </a:rPr>
              <a:t> = []</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for word in words:</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lemmatized_words.append</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r>
              <a:rPr lang="en-IN" sz="16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lemmatizer.lemmatize</a:t>
            </a:r>
            <a:r>
              <a:rPr lang="en-IN" sz="16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(word))</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print("Original Words: ", words)</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print("Lemmatized Words: ",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lemmatized_words</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7" name="TextBox 6">
            <a:extLst>
              <a:ext uri="{FF2B5EF4-FFF2-40B4-BE49-F238E27FC236}">
                <a16:creationId xmlns:a16="http://schemas.microsoft.com/office/drawing/2014/main" id="{21E142C6-BEF2-AF58-5821-B2AB318EAEA6}"/>
              </a:ext>
            </a:extLst>
          </p:cNvPr>
          <p:cNvSpPr txBox="1"/>
          <p:nvPr/>
        </p:nvSpPr>
        <p:spPr>
          <a:xfrm>
            <a:off x="4173643" y="6273225"/>
            <a:ext cx="8018357" cy="58477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sz="1600" dirty="0">
                <a:latin typeface="Cascadia Code" panose="020B0609020000020004" pitchFamily="49" charset="0"/>
                <a:ea typeface="Cascadia Code" panose="020B0609020000020004" pitchFamily="49" charset="0"/>
                <a:cs typeface="Cascadia Code" panose="020B0609020000020004" pitchFamily="49" charset="0"/>
              </a:rPr>
              <a:t>Original Words:  ['plays', 'flies', 'studies', 'better', 'cars']</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Lemmatized Words:  ['play', 'fly', 'study', 'better', 'car']</a:t>
            </a:r>
          </a:p>
        </p:txBody>
      </p:sp>
    </p:spTree>
    <p:extLst>
      <p:ext uri="{BB962C8B-B14F-4D97-AF65-F5344CB8AC3E}">
        <p14:creationId xmlns:p14="http://schemas.microsoft.com/office/powerpoint/2010/main" val="946590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F426-FC4D-73BF-EFF6-B8780013AFD0}"/>
              </a:ext>
            </a:extLst>
          </p:cNvPr>
          <p:cNvSpPr>
            <a:spLocks noGrp="1"/>
          </p:cNvSpPr>
          <p:nvPr>
            <p:ph type="title"/>
          </p:nvPr>
        </p:nvSpPr>
        <p:spPr>
          <a:xfrm>
            <a:off x="838200" y="192405"/>
            <a:ext cx="10515600" cy="605259"/>
          </a:xfrm>
        </p:spPr>
        <p:txBody>
          <a:bodyPr>
            <a:normAutofit fontScale="90000"/>
          </a:bodyPr>
          <a:lstStyle/>
          <a:p>
            <a:pPr>
              <a:lnSpc>
                <a:spcPct val="100000"/>
              </a:lnSpc>
            </a:pPr>
            <a:r>
              <a:rPr lang="en-IN" sz="4400" dirty="0">
                <a:solidFill>
                  <a:srgbClr val="FF0000"/>
                </a:solidFill>
                <a:effectLst/>
                <a:ea typeface="Calibri" panose="020F0502020204030204" pitchFamily="34" charset="0"/>
              </a:rPr>
              <a:t>spell correction using </a:t>
            </a:r>
            <a:r>
              <a:rPr lang="en-IN" dirty="0">
                <a:solidFill>
                  <a:srgbClr val="FF0000"/>
                </a:solidFill>
              </a:rPr>
              <a:t>Edit distance method</a:t>
            </a:r>
            <a:endParaRPr lang="en-IN" sz="4400" dirty="0">
              <a:solidFill>
                <a:srgbClr val="FF0000"/>
              </a:solidFill>
              <a:effectLst/>
              <a:ea typeface="Calibri" panose="020F0502020204030204" pitchFamily="34" charset="0"/>
            </a:endParaRPr>
          </a:p>
        </p:txBody>
      </p:sp>
      <p:sp>
        <p:nvSpPr>
          <p:cNvPr id="3" name="Content Placeholder 2">
            <a:extLst>
              <a:ext uri="{FF2B5EF4-FFF2-40B4-BE49-F238E27FC236}">
                <a16:creationId xmlns:a16="http://schemas.microsoft.com/office/drawing/2014/main" id="{524E7B86-CE3E-1F37-1994-454E21C93912}"/>
              </a:ext>
            </a:extLst>
          </p:cNvPr>
          <p:cNvSpPr>
            <a:spLocks noGrp="1"/>
          </p:cNvSpPr>
          <p:nvPr>
            <p:ph idx="1"/>
          </p:nvPr>
        </p:nvSpPr>
        <p:spPr>
          <a:xfrm>
            <a:off x="604520" y="1253331"/>
            <a:ext cx="11242040" cy="4351338"/>
          </a:xfrm>
        </p:spPr>
        <p:txBody>
          <a:bodyPr>
            <a:normAutofit/>
          </a:bodyPr>
          <a:lstStyle/>
          <a:p>
            <a:pPr algn="just"/>
            <a:r>
              <a:rPr lang="en-IN" sz="2400" dirty="0"/>
              <a:t>Spelling corrections are important phase of text cleaning process, since misspelled words will leads a wrong prediction during machine learning process.</a:t>
            </a:r>
          </a:p>
          <a:p>
            <a:pPr algn="just"/>
            <a:r>
              <a:rPr lang="en-IN" sz="2400" b="0" i="0" dirty="0">
                <a:effectLst/>
              </a:rPr>
              <a:t>Edit Distance measures </a:t>
            </a:r>
            <a:r>
              <a:rPr lang="en-US" sz="2400" b="0" i="0" dirty="0">
                <a:effectLst/>
              </a:rPr>
              <a:t>the </a:t>
            </a:r>
            <a:r>
              <a:rPr lang="en-US" sz="2400" b="0" i="0" dirty="0">
                <a:solidFill>
                  <a:srgbClr val="7030A0"/>
                </a:solidFill>
                <a:effectLst/>
              </a:rPr>
              <a:t>minimum number of edits </a:t>
            </a:r>
            <a:r>
              <a:rPr lang="en-US" sz="2400" b="0" i="0" dirty="0">
                <a:effectLst/>
              </a:rPr>
              <a:t>(insertions, deletions, substitutions, or transpositions) required to transform one word into another. </a:t>
            </a:r>
          </a:p>
          <a:p>
            <a:pPr algn="just"/>
            <a:r>
              <a:rPr lang="en-US" sz="2400" b="0" i="0" dirty="0">
                <a:effectLst/>
              </a:rPr>
              <a:t>Words with </a:t>
            </a:r>
            <a:r>
              <a:rPr lang="en-US" sz="2400" b="0" i="0" dirty="0">
                <a:solidFill>
                  <a:srgbClr val="7030A0"/>
                </a:solidFill>
                <a:effectLst/>
              </a:rPr>
              <a:t>small edit distances to known words in the dictionary </a:t>
            </a:r>
            <a:r>
              <a:rPr lang="en-US" sz="2400" b="0" i="0" dirty="0">
                <a:effectLst/>
              </a:rPr>
              <a:t>can be suggested as corrections.</a:t>
            </a:r>
            <a:endParaRPr lang="en-IN" sz="2400" dirty="0"/>
          </a:p>
        </p:txBody>
      </p:sp>
    </p:spTree>
    <p:extLst>
      <p:ext uri="{BB962C8B-B14F-4D97-AF65-F5344CB8AC3E}">
        <p14:creationId xmlns:p14="http://schemas.microsoft.com/office/powerpoint/2010/main" val="1880577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7B6DF-EE6C-6897-5302-FB9063696A9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6413DC-79D8-A6E2-0000-9F57E83A98E6}"/>
              </a:ext>
            </a:extLst>
          </p:cNvPr>
          <p:cNvSpPr txBox="1"/>
          <p:nvPr/>
        </p:nvSpPr>
        <p:spPr>
          <a:xfrm>
            <a:off x="142241" y="181957"/>
            <a:ext cx="6573519" cy="649408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import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nltk</a:t>
            </a: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from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nltk.metrics</a:t>
            </a:r>
            <a:r>
              <a:rPr lang="en-US" sz="1600" dirty="0">
                <a:latin typeface="Cascadia Code" panose="020B0609020000020004" pitchFamily="49" charset="0"/>
                <a:ea typeface="Cascadia Code" panose="020B0609020000020004" pitchFamily="49" charset="0"/>
                <a:cs typeface="Cascadia Code" panose="020B0609020000020004" pitchFamily="49" charset="0"/>
              </a:rPr>
              <a:t> import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edit_distance</a:t>
            </a: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from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nltk.corpus</a:t>
            </a:r>
            <a:r>
              <a:rPr lang="en-US" sz="1600" dirty="0">
                <a:latin typeface="Cascadia Code" panose="020B0609020000020004" pitchFamily="49" charset="0"/>
                <a:ea typeface="Cascadia Code" panose="020B0609020000020004" pitchFamily="49" charset="0"/>
                <a:cs typeface="Cascadia Code" panose="020B0609020000020004" pitchFamily="49" charset="0"/>
              </a:rPr>
              <a:t> import words</a:t>
            </a:r>
          </a:p>
          <a:p>
            <a:pPr marL="0" indent="0" algn="just">
              <a:spcBef>
                <a:spcPts val="0"/>
              </a:spcBef>
              <a:buNone/>
            </a:pPr>
            <a:r>
              <a:rPr lang="en-US"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Download the words dataset</a:t>
            </a:r>
          </a:p>
          <a:p>
            <a:pPr marL="0" indent="0" algn="just">
              <a:spcBef>
                <a:spcPts val="0"/>
              </a:spcBef>
              <a:buNone/>
            </a:pPr>
            <a:r>
              <a:rPr lang="en-US" sz="1600" dirty="0" err="1">
                <a:latin typeface="Cascadia Code" panose="020B0609020000020004" pitchFamily="49" charset="0"/>
                <a:ea typeface="Cascadia Code" panose="020B0609020000020004" pitchFamily="49" charset="0"/>
                <a:cs typeface="Cascadia Code" panose="020B0609020000020004" pitchFamily="49" charset="0"/>
              </a:rPr>
              <a:t>nltk.download</a:t>
            </a:r>
            <a:r>
              <a:rPr lang="en-US" sz="1600" dirty="0">
                <a:latin typeface="Cascadia Code" panose="020B0609020000020004" pitchFamily="49" charset="0"/>
                <a:ea typeface="Cascadia Code" panose="020B0609020000020004" pitchFamily="49" charset="0"/>
                <a:cs typeface="Cascadia Code" panose="020B0609020000020004" pitchFamily="49" charset="0"/>
              </a:rPr>
              <a:t>("words")</a:t>
            </a:r>
          </a:p>
          <a:p>
            <a:pPr marL="0" indent="0" algn="just">
              <a:spcBef>
                <a:spcPts val="0"/>
              </a:spcBef>
              <a:buNone/>
            </a:pPr>
            <a:r>
              <a:rPr lang="en-US"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Get the list of valid words</a:t>
            </a:r>
          </a:p>
          <a:p>
            <a:pPr marL="0" indent="0" algn="just">
              <a:spcBef>
                <a:spcPts val="0"/>
              </a:spcBef>
              <a:buNone/>
            </a:pPr>
            <a:r>
              <a:rPr lang="en-US" sz="1600" dirty="0" err="1">
                <a:latin typeface="Cascadia Code" panose="020B0609020000020004" pitchFamily="49" charset="0"/>
                <a:ea typeface="Cascadia Code" panose="020B0609020000020004" pitchFamily="49" charset="0"/>
                <a:cs typeface="Cascadia Code" panose="020B0609020000020004" pitchFamily="49" charset="0"/>
              </a:rPr>
              <a:t>valid_words</a:t>
            </a:r>
            <a:r>
              <a:rPr lang="en-US" sz="1600" dirty="0">
                <a:latin typeface="Cascadia Code" panose="020B0609020000020004" pitchFamily="49" charset="0"/>
                <a:ea typeface="Cascadia Code" panose="020B0609020000020004" pitchFamily="49" charset="0"/>
                <a:cs typeface="Cascadia Code" panose="020B0609020000020004" pitchFamily="49" charset="0"/>
              </a:rPr>
              <a:t> = set(</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words.words</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0"/>
              </a:spcBef>
              <a:buNone/>
            </a:pPr>
            <a:r>
              <a:rPr lang="en-US" sz="1600" dirty="0" err="1">
                <a:latin typeface="Cascadia Code" panose="020B0609020000020004" pitchFamily="49" charset="0"/>
                <a:ea typeface="Cascadia Code" panose="020B0609020000020004" pitchFamily="49" charset="0"/>
                <a:cs typeface="Cascadia Code" panose="020B0609020000020004" pitchFamily="49" charset="0"/>
              </a:rPr>
              <a:t>input_words</a:t>
            </a:r>
            <a:r>
              <a:rPr lang="en-US" sz="1600" dirty="0">
                <a:latin typeface="Cascadia Code" panose="020B0609020000020004" pitchFamily="49" charset="0"/>
                <a:ea typeface="Cascadia Code" panose="020B0609020000020004" pitchFamily="49" charset="0"/>
                <a:cs typeface="Cascadia Code" panose="020B0609020000020004" pitchFamily="49" charset="0"/>
              </a:rPr>
              <a: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exampl</a:t>
            </a: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runnig</a:t>
            </a: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crickt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0"/>
              </a:spcBef>
              <a:buNone/>
            </a:pPr>
            <a:r>
              <a:rPr lang="en-US" sz="1600" dirty="0" err="1">
                <a:latin typeface="Cascadia Code" panose="020B0609020000020004" pitchFamily="49" charset="0"/>
                <a:ea typeface="Cascadia Code" panose="020B0609020000020004" pitchFamily="49" charset="0"/>
                <a:cs typeface="Cascadia Code" panose="020B0609020000020004" pitchFamily="49" charset="0"/>
              </a:rPr>
              <a:t>corrected_words</a:t>
            </a:r>
            <a:r>
              <a:rPr lang="en-US" sz="1600" dirty="0">
                <a:latin typeface="Cascadia Code" panose="020B0609020000020004" pitchFamily="49" charset="0"/>
                <a:ea typeface="Cascadia Code" panose="020B0609020000020004" pitchFamily="49" charset="0"/>
                <a:cs typeface="Cascadia Code" panose="020B0609020000020004" pitchFamily="49" charset="0"/>
              </a:rPr>
              <a:t> = []</a:t>
            </a:r>
          </a:p>
          <a:p>
            <a:pPr marL="0" indent="0" algn="just">
              <a:spcBef>
                <a:spcPts val="0"/>
              </a:spcBef>
              <a:buNone/>
            </a:pP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0"/>
              </a:spcBef>
              <a:buNone/>
            </a:pPr>
            <a:r>
              <a:rPr lang="en-US"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Process each word</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for word in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input_words</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min_distance</a:t>
            </a:r>
            <a:r>
              <a:rPr lang="en-US" sz="1600" dirty="0">
                <a:latin typeface="Cascadia Code" panose="020B0609020000020004" pitchFamily="49" charset="0"/>
                <a:ea typeface="Cascadia Code" panose="020B0609020000020004" pitchFamily="49" charset="0"/>
                <a:cs typeface="Cascadia Code" panose="020B0609020000020004" pitchFamily="49" charset="0"/>
              </a:rPr>
              <a:t> = float('inf')</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best_match</a:t>
            </a:r>
            <a:r>
              <a:rPr lang="en-US" sz="1600" dirty="0">
                <a:latin typeface="Cascadia Code" panose="020B0609020000020004" pitchFamily="49" charset="0"/>
                <a:ea typeface="Cascadia Code" panose="020B0609020000020004" pitchFamily="49" charset="0"/>
                <a:cs typeface="Cascadia Code" panose="020B0609020000020004" pitchFamily="49" charset="0"/>
              </a:rPr>
              <a:t> = None</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p>
          <a:p>
            <a:pPr marL="0" indent="0" algn="just">
              <a:spcBef>
                <a:spcPts val="0"/>
              </a:spcBef>
              <a:buNone/>
            </a:pPr>
            <a:r>
              <a:rPr lang="en-US"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 Compare with each valid word</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for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valid_word</a:t>
            </a:r>
            <a:r>
              <a:rPr lang="en-US" sz="1600" dirty="0">
                <a:latin typeface="Cascadia Code" panose="020B0609020000020004" pitchFamily="49" charset="0"/>
                <a:ea typeface="Cascadia Code" panose="020B0609020000020004" pitchFamily="49" charset="0"/>
                <a:cs typeface="Cascadia Code" panose="020B0609020000020004" pitchFamily="49" charset="0"/>
              </a:rPr>
              <a:t> in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valid_words</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distance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edit_distance</a:t>
            </a:r>
            <a:r>
              <a:rPr lang="en-US" sz="1600" dirty="0">
                <a:latin typeface="Cascadia Code" panose="020B0609020000020004" pitchFamily="49" charset="0"/>
                <a:ea typeface="Cascadia Code" panose="020B0609020000020004" pitchFamily="49" charset="0"/>
                <a:cs typeface="Cascadia Code" panose="020B0609020000020004" pitchFamily="49" charset="0"/>
              </a:rPr>
              <a:t>(word,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valid_word</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if distance &lt;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min_distance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min_distance</a:t>
            </a:r>
            <a:r>
              <a:rPr lang="en-US" sz="1600" dirty="0">
                <a:latin typeface="Cascadia Code" panose="020B0609020000020004" pitchFamily="49" charset="0"/>
                <a:ea typeface="Cascadia Code" panose="020B0609020000020004" pitchFamily="49" charset="0"/>
                <a:cs typeface="Cascadia Code" panose="020B0609020000020004" pitchFamily="49" charset="0"/>
              </a:rPr>
              <a:t> = distance</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best_match</a:t>
            </a:r>
            <a:r>
              <a:rPr lang="en-US" sz="1600" dirty="0">
                <a:latin typeface="Cascadia Code" panose="020B0609020000020004" pitchFamily="49" charset="0"/>
                <a:ea typeface="Cascadia Code" panose="020B0609020000020004" pitchFamily="49" charset="0"/>
                <a:cs typeface="Cascadia Code" panose="020B0609020000020004" pitchFamily="49" charset="0"/>
              </a:rPr>
              <a: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valid_word</a:t>
            </a: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0"/>
              </a:spcBef>
              <a:buNone/>
            </a:pPr>
            <a:endParaRPr lang="en-US" sz="16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Append the best match to the corrected words</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corrected_words.append</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best_match</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print("Original Words:",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input_words</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0"/>
              </a:spcBef>
              <a:buNone/>
            </a:pPr>
            <a:r>
              <a:rPr lang="en-US" sz="1600" dirty="0">
                <a:latin typeface="Cascadia Code" panose="020B0609020000020004" pitchFamily="49" charset="0"/>
                <a:ea typeface="Cascadia Code" panose="020B0609020000020004" pitchFamily="49" charset="0"/>
                <a:cs typeface="Cascadia Code" panose="020B0609020000020004" pitchFamily="49" charset="0"/>
              </a:rPr>
              <a:t>print("Corrected Words:",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corrected_words</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TextBox 6">
            <a:extLst>
              <a:ext uri="{FF2B5EF4-FFF2-40B4-BE49-F238E27FC236}">
                <a16:creationId xmlns:a16="http://schemas.microsoft.com/office/drawing/2014/main" id="{8E0DDFDB-58FB-2892-341F-0AFE15F33C98}"/>
              </a:ext>
            </a:extLst>
          </p:cNvPr>
          <p:cNvSpPr txBox="1"/>
          <p:nvPr/>
        </p:nvSpPr>
        <p:spPr>
          <a:xfrm>
            <a:off x="6441441" y="6268238"/>
            <a:ext cx="5750559" cy="55399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500" dirty="0">
                <a:latin typeface="Cascadia Code" panose="020B0609020000020004" pitchFamily="49" charset="0"/>
                <a:ea typeface="Cascadia Code" panose="020B0609020000020004" pitchFamily="49" charset="0"/>
                <a:cs typeface="Cascadia Code" panose="020B0609020000020004" pitchFamily="49" charset="0"/>
              </a:rPr>
              <a:t>Original Words: ['</a:t>
            </a:r>
            <a:r>
              <a:rPr lang="en-US" sz="1500" dirty="0" err="1">
                <a:latin typeface="Cascadia Code" panose="020B0609020000020004" pitchFamily="49" charset="0"/>
                <a:ea typeface="Cascadia Code" panose="020B0609020000020004" pitchFamily="49" charset="0"/>
                <a:cs typeface="Cascadia Code" panose="020B0609020000020004" pitchFamily="49" charset="0"/>
              </a:rPr>
              <a:t>exampl</a:t>
            </a:r>
            <a:r>
              <a:rPr lang="en-US" sz="1500" dirty="0">
                <a:latin typeface="Cascadia Code" panose="020B0609020000020004" pitchFamily="49" charset="0"/>
                <a:ea typeface="Cascadia Code" panose="020B0609020000020004" pitchFamily="49" charset="0"/>
                <a:cs typeface="Cascadia Code" panose="020B0609020000020004" pitchFamily="49" charset="0"/>
              </a:rPr>
              <a:t>', '</a:t>
            </a:r>
            <a:r>
              <a:rPr lang="en-US" sz="1500" dirty="0" err="1">
                <a:latin typeface="Cascadia Code" panose="020B0609020000020004" pitchFamily="49" charset="0"/>
                <a:ea typeface="Cascadia Code" panose="020B0609020000020004" pitchFamily="49" charset="0"/>
                <a:cs typeface="Cascadia Code" panose="020B0609020000020004" pitchFamily="49" charset="0"/>
              </a:rPr>
              <a:t>runnig</a:t>
            </a:r>
            <a:r>
              <a:rPr lang="en-US" sz="1500" dirty="0">
                <a:latin typeface="Cascadia Code" panose="020B0609020000020004" pitchFamily="49" charset="0"/>
                <a:ea typeface="Cascadia Code" panose="020B0609020000020004" pitchFamily="49" charset="0"/>
                <a:cs typeface="Cascadia Code" panose="020B0609020000020004" pitchFamily="49" charset="0"/>
              </a:rPr>
              <a:t>', '</a:t>
            </a:r>
            <a:r>
              <a:rPr lang="en-US" sz="1500" dirty="0" err="1">
                <a:latin typeface="Cascadia Code" panose="020B0609020000020004" pitchFamily="49" charset="0"/>
                <a:ea typeface="Cascadia Code" panose="020B0609020000020004" pitchFamily="49" charset="0"/>
                <a:cs typeface="Cascadia Code" panose="020B0609020000020004" pitchFamily="49" charset="0"/>
              </a:rPr>
              <a:t>crickt</a:t>
            </a:r>
            <a:r>
              <a:rPr lang="en-US" sz="15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500" dirty="0">
                <a:latin typeface="Cascadia Code" panose="020B0609020000020004" pitchFamily="49" charset="0"/>
                <a:ea typeface="Cascadia Code" panose="020B0609020000020004" pitchFamily="49" charset="0"/>
                <a:cs typeface="Cascadia Code" panose="020B0609020000020004" pitchFamily="49" charset="0"/>
              </a:rPr>
              <a:t>Corrected Words: ['example', 'running', 'cricket']</a:t>
            </a:r>
          </a:p>
        </p:txBody>
      </p:sp>
    </p:spTree>
    <p:extLst>
      <p:ext uri="{BB962C8B-B14F-4D97-AF65-F5344CB8AC3E}">
        <p14:creationId xmlns:p14="http://schemas.microsoft.com/office/powerpoint/2010/main" val="40783308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1E6B4-BD93-A1C0-5D15-003FF5047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851D86-4023-3A93-B314-0D26C8498F5B}"/>
              </a:ext>
            </a:extLst>
          </p:cNvPr>
          <p:cNvSpPr>
            <a:spLocks noGrp="1"/>
          </p:cNvSpPr>
          <p:nvPr>
            <p:ph type="title"/>
          </p:nvPr>
        </p:nvSpPr>
        <p:spPr>
          <a:xfrm>
            <a:off x="137160" y="0"/>
            <a:ext cx="11917680" cy="605259"/>
          </a:xfrm>
        </p:spPr>
        <p:txBody>
          <a:bodyPr>
            <a:noAutofit/>
          </a:bodyPr>
          <a:lstStyle/>
          <a:p>
            <a:pPr>
              <a:lnSpc>
                <a:spcPct val="100000"/>
              </a:lnSpc>
            </a:pPr>
            <a:r>
              <a:rPr lang="en-US" sz="2400" b="1" dirty="0">
                <a:solidFill>
                  <a:srgbClr val="FF0000"/>
                </a:solidFill>
              </a:rPr>
              <a:t>Punctuation, Special Characters, HTML Tags, </a:t>
            </a:r>
            <a:r>
              <a:rPr lang="en-US" sz="2400" b="1" dirty="0" err="1">
                <a:solidFill>
                  <a:srgbClr val="FF0000"/>
                </a:solidFill>
              </a:rPr>
              <a:t>stopword</a:t>
            </a:r>
            <a:r>
              <a:rPr lang="en-US" sz="2400" b="1" dirty="0">
                <a:solidFill>
                  <a:srgbClr val="FF0000"/>
                </a:solidFill>
              </a:rPr>
              <a:t> and numbers Removal and </a:t>
            </a:r>
            <a:r>
              <a:rPr lang="en-IN" sz="2400" b="1" dirty="0">
                <a:solidFill>
                  <a:srgbClr val="FF0000"/>
                </a:solidFill>
              </a:rPr>
              <a:t>Lemmatization</a:t>
            </a:r>
            <a:endParaRPr lang="en-IN" sz="2400" dirty="0">
              <a:solidFill>
                <a:srgbClr val="FF0000"/>
              </a:solidFill>
              <a:effectLst/>
              <a:ea typeface="Calibri" panose="020F0502020204030204" pitchFamily="34" charset="0"/>
            </a:endParaRPr>
          </a:p>
        </p:txBody>
      </p:sp>
      <p:sp>
        <p:nvSpPr>
          <p:cNvPr id="6" name="TextBox 5">
            <a:extLst>
              <a:ext uri="{FF2B5EF4-FFF2-40B4-BE49-F238E27FC236}">
                <a16:creationId xmlns:a16="http://schemas.microsoft.com/office/drawing/2014/main" id="{610B8FB0-1959-7C4D-7CBE-CFC56ED9722A}"/>
              </a:ext>
            </a:extLst>
          </p:cNvPr>
          <p:cNvSpPr txBox="1"/>
          <p:nvPr/>
        </p:nvSpPr>
        <p:spPr>
          <a:xfrm>
            <a:off x="0" y="605259"/>
            <a:ext cx="9682480" cy="609397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500" dirty="0">
                <a:latin typeface="Cascadia Code" panose="020B0609020000020004" pitchFamily="49" charset="0"/>
                <a:ea typeface="Cascadia Code" panose="020B0609020000020004" pitchFamily="49" charset="0"/>
                <a:cs typeface="Cascadia Code" panose="020B0609020000020004" pitchFamily="49" charset="0"/>
              </a:rPr>
              <a:t>import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nltk</a:t>
            </a:r>
            <a:endParaRPr lang="en-IN" sz="1500" dirty="0">
              <a:latin typeface="Cascadia Code" panose="020B0609020000020004" pitchFamily="49" charset="0"/>
              <a:ea typeface="Cascadia Code" panose="020B0609020000020004" pitchFamily="49" charset="0"/>
              <a:cs typeface="Cascadia Code" panose="020B0609020000020004" pitchFamily="49" charset="0"/>
            </a:endParaRPr>
          </a:p>
          <a:p>
            <a:r>
              <a:rPr lang="en-IN" sz="1500" dirty="0">
                <a:latin typeface="Cascadia Code" panose="020B0609020000020004" pitchFamily="49" charset="0"/>
                <a:ea typeface="Cascadia Code" panose="020B0609020000020004" pitchFamily="49" charset="0"/>
                <a:cs typeface="Cascadia Code" panose="020B0609020000020004" pitchFamily="49" charset="0"/>
              </a:rPr>
              <a:t>from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nltk.tokenize</a:t>
            </a:r>
            <a:r>
              <a:rPr lang="en-IN" sz="1500" dirty="0">
                <a:latin typeface="Cascadia Code" panose="020B0609020000020004" pitchFamily="49" charset="0"/>
                <a:ea typeface="Cascadia Code" panose="020B0609020000020004" pitchFamily="49" charset="0"/>
                <a:cs typeface="Cascadia Code" panose="020B0609020000020004" pitchFamily="49" charset="0"/>
              </a:rPr>
              <a:t> import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word_tokenize</a:t>
            </a:r>
            <a:endParaRPr lang="en-IN" sz="1500" dirty="0">
              <a:latin typeface="Cascadia Code" panose="020B0609020000020004" pitchFamily="49" charset="0"/>
              <a:ea typeface="Cascadia Code" panose="020B0609020000020004" pitchFamily="49" charset="0"/>
              <a:cs typeface="Cascadia Code" panose="020B0609020000020004" pitchFamily="49" charset="0"/>
            </a:endParaRPr>
          </a:p>
          <a:p>
            <a:r>
              <a:rPr lang="en-IN" sz="1500" dirty="0">
                <a:latin typeface="Cascadia Code" panose="020B0609020000020004" pitchFamily="49" charset="0"/>
                <a:ea typeface="Cascadia Code" panose="020B0609020000020004" pitchFamily="49" charset="0"/>
                <a:cs typeface="Cascadia Code" panose="020B0609020000020004" pitchFamily="49" charset="0"/>
              </a:rPr>
              <a:t>from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nltk.corpus</a:t>
            </a:r>
            <a:r>
              <a:rPr lang="en-IN" sz="1500" dirty="0">
                <a:latin typeface="Cascadia Code" panose="020B0609020000020004" pitchFamily="49" charset="0"/>
                <a:ea typeface="Cascadia Code" panose="020B0609020000020004" pitchFamily="49" charset="0"/>
                <a:cs typeface="Cascadia Code" panose="020B0609020000020004" pitchFamily="49" charset="0"/>
              </a:rPr>
              <a:t> import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stopwords</a:t>
            </a:r>
            <a:endParaRPr lang="en-IN" sz="1500" dirty="0">
              <a:latin typeface="Cascadia Code" panose="020B0609020000020004" pitchFamily="49" charset="0"/>
              <a:ea typeface="Cascadia Code" panose="020B0609020000020004" pitchFamily="49" charset="0"/>
              <a:cs typeface="Cascadia Code" panose="020B0609020000020004" pitchFamily="49" charset="0"/>
            </a:endParaRPr>
          </a:p>
          <a:p>
            <a:r>
              <a:rPr lang="en-IN" sz="1500" dirty="0">
                <a:latin typeface="Cascadia Code" panose="020B0609020000020004" pitchFamily="49" charset="0"/>
                <a:ea typeface="Cascadia Code" panose="020B0609020000020004" pitchFamily="49" charset="0"/>
                <a:cs typeface="Cascadia Code" panose="020B0609020000020004" pitchFamily="49" charset="0"/>
              </a:rPr>
              <a:t>from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nltk.stem</a:t>
            </a:r>
            <a:r>
              <a:rPr lang="en-IN" sz="1500" dirty="0">
                <a:latin typeface="Cascadia Code" panose="020B0609020000020004" pitchFamily="49" charset="0"/>
                <a:ea typeface="Cascadia Code" panose="020B0609020000020004" pitchFamily="49" charset="0"/>
                <a:cs typeface="Cascadia Code" panose="020B0609020000020004" pitchFamily="49" charset="0"/>
              </a:rPr>
              <a:t> import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WordNetLemmatizer</a:t>
            </a:r>
            <a:endParaRPr lang="en-IN" sz="1500" dirty="0">
              <a:latin typeface="Cascadia Code" panose="020B0609020000020004" pitchFamily="49" charset="0"/>
              <a:ea typeface="Cascadia Code" panose="020B0609020000020004" pitchFamily="49" charset="0"/>
              <a:cs typeface="Cascadia Code" panose="020B0609020000020004" pitchFamily="49" charset="0"/>
            </a:endParaRPr>
          </a:p>
          <a:p>
            <a:r>
              <a:rPr lang="en-IN" sz="1500" dirty="0">
                <a:latin typeface="Cascadia Code" panose="020B0609020000020004" pitchFamily="49" charset="0"/>
                <a:ea typeface="Cascadia Code" panose="020B0609020000020004" pitchFamily="49" charset="0"/>
                <a:cs typeface="Cascadia Code" panose="020B0609020000020004" pitchFamily="49" charset="0"/>
              </a:rPr>
              <a:t>import re</a:t>
            </a:r>
          </a:p>
          <a:p>
            <a:r>
              <a:rPr lang="en-IN" sz="1500" dirty="0">
                <a:latin typeface="Cascadia Code" panose="020B0609020000020004" pitchFamily="49" charset="0"/>
                <a:ea typeface="Cascadia Code" panose="020B0609020000020004" pitchFamily="49" charset="0"/>
                <a:cs typeface="Cascadia Code" panose="020B0609020000020004" pitchFamily="49" charset="0"/>
              </a:rPr>
              <a:t>import string</a:t>
            </a:r>
          </a:p>
          <a:p>
            <a:r>
              <a:rPr lang="en-IN" sz="1500" dirty="0" err="1">
                <a:latin typeface="Cascadia Code" panose="020B0609020000020004" pitchFamily="49" charset="0"/>
                <a:ea typeface="Cascadia Code" panose="020B0609020000020004" pitchFamily="49" charset="0"/>
                <a:cs typeface="Cascadia Code" panose="020B0609020000020004" pitchFamily="49" charset="0"/>
              </a:rPr>
              <a:t>nltk.download</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stopwords</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500" dirty="0" err="1">
                <a:latin typeface="Cascadia Code" panose="020B0609020000020004" pitchFamily="49" charset="0"/>
                <a:ea typeface="Cascadia Code" panose="020B0609020000020004" pitchFamily="49" charset="0"/>
                <a:cs typeface="Cascadia Code" panose="020B0609020000020004" pitchFamily="49" charset="0"/>
              </a:rPr>
              <a:t>nltk.download</a:t>
            </a:r>
            <a:r>
              <a:rPr lang="en-IN" sz="1500" dirty="0">
                <a:latin typeface="Cascadia Code" panose="020B0609020000020004" pitchFamily="49" charset="0"/>
                <a:ea typeface="Cascadia Code" panose="020B0609020000020004" pitchFamily="49" charset="0"/>
                <a:cs typeface="Cascadia Code" panose="020B0609020000020004" pitchFamily="49" charset="0"/>
              </a:rPr>
              <a:t>('wordnet')</a:t>
            </a:r>
          </a:p>
          <a:p>
            <a:endParaRPr lang="en-IN" sz="1500" dirty="0">
              <a:latin typeface="Cascadia Code" panose="020B0609020000020004" pitchFamily="49" charset="0"/>
              <a:ea typeface="Cascadia Code" panose="020B0609020000020004" pitchFamily="49" charset="0"/>
              <a:cs typeface="Cascadia Code" panose="020B0609020000020004" pitchFamily="49" charset="0"/>
            </a:endParaRPr>
          </a:p>
          <a:p>
            <a:r>
              <a:rPr lang="en-IN" sz="1500" dirty="0">
                <a:latin typeface="Cascadia Code" panose="020B0609020000020004" pitchFamily="49" charset="0"/>
                <a:ea typeface="Cascadia Code" panose="020B0609020000020004" pitchFamily="49" charset="0"/>
                <a:cs typeface="Cascadia Code" panose="020B0609020000020004" pitchFamily="49" charset="0"/>
              </a:rPr>
              <a:t>text = """  </a:t>
            </a:r>
            <a:r>
              <a:rPr lang="en-IN" sz="1500" dirty="0">
                <a:solidFill>
                  <a:srgbClr val="C00000"/>
                </a:solidFill>
                <a:latin typeface="Cascadia Code" panose="020B0609020000020004" pitchFamily="49" charset="0"/>
                <a:ea typeface="Cascadia Code" panose="020B0609020000020004" pitchFamily="49" charset="0"/>
                <a:cs typeface="Cascadia Code" panose="020B0609020000020004" pitchFamily="49" charset="0"/>
              </a:rPr>
              <a:t>&lt;html&gt;&lt;body&gt;&lt;h1&gt;Welcome to NLP 101!&lt;/h1&gt;&lt;/body&gt;&lt;/html&gt;</a:t>
            </a:r>
          </a:p>
          <a:p>
            <a:r>
              <a:rPr lang="en-IN" sz="1500" dirty="0">
                <a:solidFill>
                  <a:srgbClr val="C00000"/>
                </a:solidFill>
                <a:latin typeface="Cascadia Code" panose="020B0609020000020004" pitchFamily="49" charset="0"/>
                <a:ea typeface="Cascadia Code" panose="020B0609020000020004" pitchFamily="49" charset="0"/>
                <a:cs typeface="Cascadia Code" panose="020B0609020000020004" pitchFamily="49" charset="0"/>
              </a:rPr>
              <a:t>    This is an example text!, full of #special characters &amp; numbers like 12345</a:t>
            </a:r>
            <a:r>
              <a:rPr lang="en-IN" sz="1500" dirty="0">
                <a:latin typeface="Cascadia Code" panose="020B0609020000020004" pitchFamily="49" charset="0"/>
                <a:ea typeface="Cascadia Code" panose="020B0609020000020004" pitchFamily="49" charset="0"/>
                <a:cs typeface="Cascadia Code" panose="020B0609020000020004" pitchFamily="49" charset="0"/>
              </a:rPr>
              <a:t>. """</a:t>
            </a:r>
          </a:p>
          <a:p>
            <a:r>
              <a:rPr lang="en-IN" sz="15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Step 1: Remove HTML tags</a:t>
            </a:r>
          </a:p>
          <a:p>
            <a:r>
              <a:rPr lang="en-IN" sz="1500" dirty="0">
                <a:latin typeface="Cascadia Code" panose="020B0609020000020004" pitchFamily="49" charset="0"/>
                <a:ea typeface="Cascadia Code" panose="020B0609020000020004" pitchFamily="49" charset="0"/>
                <a:cs typeface="Cascadia Code" panose="020B0609020000020004" pitchFamily="49" charset="0"/>
              </a:rPr>
              <a:t>text =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re.sub</a:t>
            </a:r>
            <a:r>
              <a:rPr lang="en-IN" sz="1500" dirty="0">
                <a:latin typeface="Cascadia Code" panose="020B0609020000020004" pitchFamily="49" charset="0"/>
                <a:ea typeface="Cascadia Code" panose="020B0609020000020004" pitchFamily="49" charset="0"/>
                <a:cs typeface="Cascadia Code" panose="020B0609020000020004" pitchFamily="49" charset="0"/>
              </a:rPr>
              <a:t>(r'&lt;.*?&gt;', '', text) </a:t>
            </a:r>
          </a:p>
          <a:p>
            <a:r>
              <a:rPr lang="en-IN" sz="15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Step 2: # Keeps only letters and spaces </a:t>
            </a:r>
          </a:p>
          <a:p>
            <a:r>
              <a:rPr lang="en-IN" sz="1500" dirty="0">
                <a:latin typeface="Cascadia Code" panose="020B0609020000020004" pitchFamily="49" charset="0"/>
                <a:ea typeface="Cascadia Code" panose="020B0609020000020004" pitchFamily="49" charset="0"/>
                <a:cs typeface="Cascadia Code" panose="020B0609020000020004" pitchFamily="49" charset="0"/>
              </a:rPr>
              <a:t>text =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re.sub</a:t>
            </a:r>
            <a:r>
              <a:rPr lang="en-IN" sz="1500" dirty="0">
                <a:latin typeface="Cascadia Code" panose="020B0609020000020004" pitchFamily="49" charset="0"/>
                <a:ea typeface="Cascadia Code" panose="020B0609020000020004" pitchFamily="49" charset="0"/>
                <a:cs typeface="Cascadia Code" panose="020B0609020000020004" pitchFamily="49" charset="0"/>
              </a:rPr>
              <a:t>(r'[^A-Za-z\s]', '', text)</a:t>
            </a:r>
          </a:p>
          <a:p>
            <a:endParaRPr lang="en-IN" sz="1500" dirty="0">
              <a:latin typeface="Cascadia Code" panose="020B0609020000020004" pitchFamily="49" charset="0"/>
              <a:ea typeface="Cascadia Code" panose="020B0609020000020004" pitchFamily="49" charset="0"/>
              <a:cs typeface="Cascadia Code" panose="020B0609020000020004" pitchFamily="49" charset="0"/>
            </a:endParaRPr>
          </a:p>
          <a:p>
            <a:r>
              <a:rPr lang="en-IN" sz="1500" dirty="0">
                <a:latin typeface="Cascadia Code" panose="020B0609020000020004" pitchFamily="49" charset="0"/>
                <a:ea typeface="Cascadia Code" panose="020B0609020000020004" pitchFamily="49" charset="0"/>
                <a:cs typeface="Cascadia Code" panose="020B0609020000020004" pitchFamily="49" charset="0"/>
              </a:rPr>
              <a:t>words =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word_tokenize</a:t>
            </a:r>
            <a:r>
              <a:rPr lang="en-IN" sz="1500" dirty="0">
                <a:latin typeface="Cascadia Code" panose="020B0609020000020004" pitchFamily="49" charset="0"/>
                <a:ea typeface="Cascadia Code" panose="020B0609020000020004" pitchFamily="49" charset="0"/>
                <a:cs typeface="Cascadia Code" panose="020B0609020000020004" pitchFamily="49" charset="0"/>
              </a:rPr>
              <a:t>(text)</a:t>
            </a:r>
          </a:p>
          <a:p>
            <a:r>
              <a:rPr lang="en-IN" sz="1500" dirty="0" err="1">
                <a:latin typeface="Cascadia Code" panose="020B0609020000020004" pitchFamily="49" charset="0"/>
                <a:ea typeface="Cascadia Code" panose="020B0609020000020004" pitchFamily="49" charset="0"/>
                <a:cs typeface="Cascadia Code" panose="020B0609020000020004" pitchFamily="49" charset="0"/>
              </a:rPr>
              <a:t>lemmatizer</a:t>
            </a:r>
            <a:r>
              <a:rPr lang="en-IN" sz="1500" dirty="0">
                <a:latin typeface="Cascadia Code" panose="020B0609020000020004" pitchFamily="49" charset="0"/>
                <a:ea typeface="Cascadia Code" panose="020B0609020000020004" pitchFamily="49" charset="0"/>
                <a:cs typeface="Cascadia Code" panose="020B0609020000020004" pitchFamily="49" charset="0"/>
              </a:rPr>
              <a:t> =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WordNetLemmatizer</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500" dirty="0" err="1">
                <a:latin typeface="Cascadia Code" panose="020B0609020000020004" pitchFamily="49" charset="0"/>
                <a:ea typeface="Cascadia Code" panose="020B0609020000020004" pitchFamily="49" charset="0"/>
                <a:cs typeface="Cascadia Code" panose="020B0609020000020004" pitchFamily="49" charset="0"/>
              </a:rPr>
              <a:t>stop_words</a:t>
            </a:r>
            <a:r>
              <a:rPr lang="en-IN" sz="1500" dirty="0">
                <a:latin typeface="Cascadia Code" panose="020B0609020000020004" pitchFamily="49" charset="0"/>
                <a:ea typeface="Cascadia Code" panose="020B0609020000020004" pitchFamily="49" charset="0"/>
                <a:cs typeface="Cascadia Code" panose="020B0609020000020004" pitchFamily="49" charset="0"/>
              </a:rPr>
              <a:t> = set(</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stopwords.words</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english</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500" dirty="0" err="1">
                <a:latin typeface="Cascadia Code" panose="020B0609020000020004" pitchFamily="49" charset="0"/>
                <a:ea typeface="Cascadia Code" panose="020B0609020000020004" pitchFamily="49" charset="0"/>
                <a:cs typeface="Cascadia Code" panose="020B0609020000020004" pitchFamily="49" charset="0"/>
              </a:rPr>
              <a:t>lemmatized_words</a:t>
            </a:r>
            <a:r>
              <a:rPr lang="en-IN" sz="1500" dirty="0">
                <a:latin typeface="Cascadia Code" panose="020B0609020000020004" pitchFamily="49" charset="0"/>
                <a:ea typeface="Cascadia Code" panose="020B0609020000020004" pitchFamily="49" charset="0"/>
                <a:cs typeface="Cascadia Code" panose="020B0609020000020004" pitchFamily="49" charset="0"/>
              </a:rPr>
              <a:t> = []</a:t>
            </a:r>
          </a:p>
          <a:p>
            <a:r>
              <a:rPr lang="en-IN" sz="1500" dirty="0">
                <a:latin typeface="Cascadia Code" panose="020B0609020000020004" pitchFamily="49" charset="0"/>
                <a:ea typeface="Cascadia Code" panose="020B0609020000020004" pitchFamily="49" charset="0"/>
                <a:cs typeface="Cascadia Code" panose="020B0609020000020004" pitchFamily="49" charset="0"/>
              </a:rPr>
              <a:t>for word in words:</a:t>
            </a:r>
          </a:p>
          <a:p>
            <a:r>
              <a:rPr lang="en-IN" sz="1500" dirty="0">
                <a:latin typeface="Cascadia Code" panose="020B0609020000020004" pitchFamily="49" charset="0"/>
                <a:ea typeface="Cascadia Code" panose="020B0609020000020004" pitchFamily="49" charset="0"/>
                <a:cs typeface="Cascadia Code" panose="020B0609020000020004" pitchFamily="49" charset="0"/>
              </a:rPr>
              <a:t>    if word not in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stop_words</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500" dirty="0">
                <a:latin typeface="Cascadia Code" panose="020B0609020000020004" pitchFamily="49" charset="0"/>
                <a:ea typeface="Cascadia Code" panose="020B0609020000020004" pitchFamily="49" charset="0"/>
                <a:cs typeface="Cascadia Code" panose="020B0609020000020004" pitchFamily="49" charset="0"/>
              </a:rPr>
              <a:t>              </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lemmatized_words.append</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lemmatizer.lemmatize</a:t>
            </a:r>
            <a:r>
              <a:rPr lang="en-IN" sz="1500" dirty="0">
                <a:latin typeface="Cascadia Code" panose="020B0609020000020004" pitchFamily="49" charset="0"/>
                <a:ea typeface="Cascadia Code" panose="020B0609020000020004" pitchFamily="49" charset="0"/>
                <a:cs typeface="Cascadia Code" panose="020B0609020000020004" pitchFamily="49" charset="0"/>
              </a:rPr>
              <a:t>(word)) </a:t>
            </a:r>
          </a:p>
          <a:p>
            <a:r>
              <a:rPr lang="en-IN" sz="1500" dirty="0">
                <a:latin typeface="Cascadia Code" panose="020B0609020000020004" pitchFamily="49" charset="0"/>
                <a:ea typeface="Cascadia Code" panose="020B0609020000020004" pitchFamily="49" charset="0"/>
                <a:cs typeface="Cascadia Code" panose="020B0609020000020004" pitchFamily="49" charset="0"/>
              </a:rPr>
              <a:t>                       </a:t>
            </a:r>
          </a:p>
          <a:p>
            <a:r>
              <a:rPr lang="en-IN" sz="1500" dirty="0" err="1">
                <a:latin typeface="Cascadia Code" panose="020B0609020000020004" pitchFamily="49" charset="0"/>
                <a:ea typeface="Cascadia Code" panose="020B0609020000020004" pitchFamily="49" charset="0"/>
                <a:cs typeface="Cascadia Code" panose="020B0609020000020004" pitchFamily="49" charset="0"/>
              </a:rPr>
              <a:t>lemmatized_words</a:t>
            </a:r>
            <a:r>
              <a:rPr lang="en-IN" sz="1500" dirty="0">
                <a:latin typeface="Cascadia Code" panose="020B0609020000020004" pitchFamily="49" charset="0"/>
                <a:ea typeface="Cascadia Code" panose="020B0609020000020004" pitchFamily="49" charset="0"/>
                <a:cs typeface="Cascadia Code" panose="020B0609020000020004" pitchFamily="49" charset="0"/>
              </a:rPr>
              <a:t>=' '.join(</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lemmatized_words</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500" dirty="0">
                <a:latin typeface="Cascadia Code" panose="020B0609020000020004" pitchFamily="49" charset="0"/>
                <a:ea typeface="Cascadia Code" panose="020B0609020000020004" pitchFamily="49" charset="0"/>
                <a:cs typeface="Cascadia Code" panose="020B0609020000020004" pitchFamily="49" charset="0"/>
              </a:rPr>
              <a:t>print(</a:t>
            </a:r>
            <a:r>
              <a:rPr lang="en-IN" sz="1500" dirty="0" err="1">
                <a:latin typeface="Cascadia Code" panose="020B0609020000020004" pitchFamily="49" charset="0"/>
                <a:ea typeface="Cascadia Code" panose="020B0609020000020004" pitchFamily="49" charset="0"/>
                <a:cs typeface="Cascadia Code" panose="020B0609020000020004" pitchFamily="49" charset="0"/>
              </a:rPr>
              <a:t>lemmatized_words</a:t>
            </a:r>
            <a:r>
              <a:rPr lang="en-IN" sz="15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7" name="TextBox 6">
            <a:extLst>
              <a:ext uri="{FF2B5EF4-FFF2-40B4-BE49-F238E27FC236}">
                <a16:creationId xmlns:a16="http://schemas.microsoft.com/office/drawing/2014/main" id="{79C83DFE-B173-FC83-B14D-AE34161709A8}"/>
              </a:ext>
            </a:extLst>
          </p:cNvPr>
          <p:cNvSpPr txBox="1"/>
          <p:nvPr/>
        </p:nvSpPr>
        <p:spPr>
          <a:xfrm>
            <a:off x="4744719" y="6518856"/>
            <a:ext cx="7447281" cy="32316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500" dirty="0">
                <a:latin typeface="Cascadia Code" panose="020B0609020000020004" pitchFamily="49" charset="0"/>
                <a:ea typeface="Cascadia Code" panose="020B0609020000020004" pitchFamily="49" charset="0"/>
                <a:cs typeface="Cascadia Code" panose="020B0609020000020004" pitchFamily="49" charset="0"/>
              </a:rPr>
              <a:t>Welcome NLP This example text full special character number like</a:t>
            </a:r>
          </a:p>
        </p:txBody>
      </p:sp>
    </p:spTree>
    <p:extLst>
      <p:ext uri="{BB962C8B-B14F-4D97-AF65-F5344CB8AC3E}">
        <p14:creationId xmlns:p14="http://schemas.microsoft.com/office/powerpoint/2010/main" val="2973368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A4978-F73C-5339-F5F6-1A1DA1B85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4ECEC-3EB3-BA03-35C9-08E7A2FCD22B}"/>
              </a:ext>
            </a:extLst>
          </p:cNvPr>
          <p:cNvSpPr>
            <a:spLocks noGrp="1"/>
          </p:cNvSpPr>
          <p:nvPr>
            <p:ph type="title"/>
          </p:nvPr>
        </p:nvSpPr>
        <p:spPr>
          <a:xfrm>
            <a:off x="838200" y="265611"/>
            <a:ext cx="10515600" cy="810532"/>
          </a:xfrm>
        </p:spPr>
        <p:txBody>
          <a:bodyPr>
            <a:normAutofit/>
          </a:bodyPr>
          <a:lstStyle/>
          <a:p>
            <a:pPr algn="ctr">
              <a:lnSpc>
                <a:spcPts val="3900"/>
              </a:lnSpc>
              <a:spcAft>
                <a:spcPts val="2400"/>
              </a:spcAft>
            </a:pPr>
            <a:r>
              <a:rPr lang="en-US" b="1" i="0" dirty="0">
                <a:solidFill>
                  <a:srgbClr val="242424"/>
                </a:solidFill>
                <a:effectLst/>
                <a:latin typeface="sohne"/>
              </a:rPr>
              <a:t>Text Representation in NLP</a:t>
            </a:r>
          </a:p>
        </p:txBody>
      </p:sp>
      <p:sp>
        <p:nvSpPr>
          <p:cNvPr id="3" name="Content Placeholder 2">
            <a:extLst>
              <a:ext uri="{FF2B5EF4-FFF2-40B4-BE49-F238E27FC236}">
                <a16:creationId xmlns:a16="http://schemas.microsoft.com/office/drawing/2014/main" id="{CEBDEF0F-BE7E-53CF-1B2F-D1206C518379}"/>
              </a:ext>
            </a:extLst>
          </p:cNvPr>
          <p:cNvSpPr>
            <a:spLocks noGrp="1"/>
          </p:cNvSpPr>
          <p:nvPr>
            <p:ph idx="1"/>
          </p:nvPr>
        </p:nvSpPr>
        <p:spPr>
          <a:xfrm>
            <a:off x="309880" y="1194318"/>
            <a:ext cx="11882120" cy="4992805"/>
          </a:xfrm>
        </p:spPr>
        <p:txBody>
          <a:bodyPr>
            <a:normAutofit/>
          </a:bodyPr>
          <a:lstStyle/>
          <a:p>
            <a:pPr algn="just">
              <a:lnSpc>
                <a:spcPct val="100000"/>
              </a:lnSpc>
            </a:pPr>
            <a:r>
              <a:rPr lang="en-US" sz="2400" b="0" i="0" dirty="0">
                <a:solidFill>
                  <a:srgbClr val="242424"/>
                </a:solidFill>
                <a:effectLst/>
              </a:rPr>
              <a:t>Text representation is a foundational aspect of NLP that involves </a:t>
            </a:r>
            <a:r>
              <a:rPr lang="en-US" sz="2400" b="0" i="0" dirty="0">
                <a:solidFill>
                  <a:srgbClr val="7030A0"/>
                </a:solidFill>
                <a:effectLst/>
              </a:rPr>
              <a:t>converting raw text into numerical vectors</a:t>
            </a:r>
            <a:r>
              <a:rPr lang="en-US" sz="2400" b="0" i="0" dirty="0">
                <a:solidFill>
                  <a:srgbClr val="242424"/>
                </a:solidFill>
                <a:effectLst/>
              </a:rPr>
              <a:t> that algorithms can process. </a:t>
            </a:r>
          </a:p>
          <a:p>
            <a:pPr algn="just">
              <a:lnSpc>
                <a:spcPct val="100000"/>
              </a:lnSpc>
            </a:pPr>
            <a:r>
              <a:rPr lang="en-US" sz="2400" dirty="0"/>
              <a:t>Since machine learning models and algorithms work with numerical data, text must be transformed into a mathematical representation.</a:t>
            </a:r>
            <a:endParaRPr lang="en-IN" sz="2400" dirty="0"/>
          </a:p>
        </p:txBody>
      </p:sp>
      <p:sp>
        <p:nvSpPr>
          <p:cNvPr id="5" name="TextBox 4">
            <a:extLst>
              <a:ext uri="{FF2B5EF4-FFF2-40B4-BE49-F238E27FC236}">
                <a16:creationId xmlns:a16="http://schemas.microsoft.com/office/drawing/2014/main" id="{622F804E-1E53-3274-FBF3-42C17FAE03E1}"/>
              </a:ext>
            </a:extLst>
          </p:cNvPr>
          <p:cNvSpPr txBox="1"/>
          <p:nvPr/>
        </p:nvSpPr>
        <p:spPr>
          <a:xfrm>
            <a:off x="39639" y="3176069"/>
            <a:ext cx="6438900" cy="3416320"/>
          </a:xfrm>
          <a:prstGeom prst="rect">
            <a:avLst/>
          </a:prstGeom>
          <a:noFill/>
        </p:spPr>
        <p:txBody>
          <a:bodyPr wrap="square">
            <a:spAutoFit/>
          </a:bodyPr>
          <a:lstStyle/>
          <a:p>
            <a:pPr algn="just"/>
            <a:r>
              <a:rPr lang="en-US" sz="2400" b="1" i="0" dirty="0">
                <a:effectLst/>
              </a:rPr>
              <a:t>Common Terms Used While Representing Text in NLP</a:t>
            </a:r>
          </a:p>
          <a:p>
            <a:pPr algn="just"/>
            <a:r>
              <a:rPr lang="en-US" sz="2400" b="1" i="0" dirty="0">
                <a:effectLst/>
              </a:rPr>
              <a:t>Corpus( C )</a:t>
            </a:r>
            <a:r>
              <a:rPr lang="en-US" sz="2400" b="0" i="0" dirty="0">
                <a:effectLst/>
              </a:rPr>
              <a:t>: </a:t>
            </a:r>
            <a:r>
              <a:rPr lang="en-US" sz="2400" b="0" i="0" dirty="0">
                <a:solidFill>
                  <a:srgbClr val="7030A0"/>
                </a:solidFill>
                <a:effectLst/>
              </a:rPr>
              <a:t>All the text data </a:t>
            </a:r>
            <a:r>
              <a:rPr lang="en-US" sz="2400" b="0" i="0" dirty="0">
                <a:effectLst/>
              </a:rPr>
              <a:t>or records of the dataset together are known as a corpus.</a:t>
            </a:r>
          </a:p>
          <a:p>
            <a:pPr algn="just"/>
            <a:r>
              <a:rPr lang="en-US" sz="2400" b="1" i="0" dirty="0">
                <a:effectLst/>
              </a:rPr>
              <a:t>Vocabulary(V)</a:t>
            </a:r>
            <a:r>
              <a:rPr lang="en-US" sz="2400" b="0" i="0" dirty="0">
                <a:effectLst/>
              </a:rPr>
              <a:t>: This consists of all the </a:t>
            </a:r>
            <a:r>
              <a:rPr lang="en-US" sz="2400" b="0" i="0" dirty="0">
                <a:solidFill>
                  <a:srgbClr val="7030A0"/>
                </a:solidFill>
                <a:effectLst/>
              </a:rPr>
              <a:t>unique words</a:t>
            </a:r>
            <a:r>
              <a:rPr lang="en-US" sz="2400" b="0" i="0" dirty="0">
                <a:effectLst/>
              </a:rPr>
              <a:t> present in the corpus.</a:t>
            </a:r>
          </a:p>
          <a:p>
            <a:pPr algn="just"/>
            <a:r>
              <a:rPr lang="en-US" sz="2400" b="1" i="0" dirty="0">
                <a:effectLst/>
              </a:rPr>
              <a:t>Document(D)</a:t>
            </a:r>
            <a:r>
              <a:rPr lang="en-US" sz="2400" b="0" i="0" dirty="0">
                <a:effectLst/>
              </a:rPr>
              <a:t>: </a:t>
            </a:r>
            <a:r>
              <a:rPr lang="en-US" sz="2400" b="0" i="0" dirty="0">
                <a:solidFill>
                  <a:srgbClr val="7030A0"/>
                </a:solidFill>
                <a:effectLst/>
              </a:rPr>
              <a:t>One single text record </a:t>
            </a:r>
            <a:r>
              <a:rPr lang="en-US" sz="2400" b="0" i="0" dirty="0">
                <a:effectLst/>
              </a:rPr>
              <a:t>of the dataset is a Document.</a:t>
            </a:r>
          </a:p>
          <a:p>
            <a:pPr algn="just"/>
            <a:r>
              <a:rPr lang="en-US" sz="2400" b="1" i="0" dirty="0">
                <a:effectLst/>
              </a:rPr>
              <a:t>Word(W)</a:t>
            </a:r>
            <a:r>
              <a:rPr lang="en-US" sz="2400" b="0" i="0" dirty="0">
                <a:effectLst/>
              </a:rPr>
              <a:t>: The </a:t>
            </a:r>
            <a:r>
              <a:rPr lang="en-US" sz="2400" b="0" i="0" dirty="0">
                <a:solidFill>
                  <a:srgbClr val="7030A0"/>
                </a:solidFill>
                <a:effectLst/>
              </a:rPr>
              <a:t>words</a:t>
            </a:r>
            <a:r>
              <a:rPr lang="en-US" sz="2400" b="0" i="0" dirty="0">
                <a:effectLst/>
              </a:rPr>
              <a:t> present in the vocabulary.</a:t>
            </a:r>
          </a:p>
        </p:txBody>
      </p:sp>
      <p:pic>
        <p:nvPicPr>
          <p:cNvPr id="7" name="Picture 6">
            <a:extLst>
              <a:ext uri="{FF2B5EF4-FFF2-40B4-BE49-F238E27FC236}">
                <a16:creationId xmlns:a16="http://schemas.microsoft.com/office/drawing/2014/main" id="{3EFA6C4A-F5E8-BB42-03F4-56C003CEC534}"/>
              </a:ext>
            </a:extLst>
          </p:cNvPr>
          <p:cNvPicPr>
            <a:picLocks noChangeAspect="1"/>
          </p:cNvPicPr>
          <p:nvPr/>
        </p:nvPicPr>
        <p:blipFill>
          <a:blip r:embed="rId2"/>
          <a:stretch>
            <a:fillRect/>
          </a:stretch>
        </p:blipFill>
        <p:spPr>
          <a:xfrm>
            <a:off x="6748780" y="3027680"/>
            <a:ext cx="5443220" cy="3830320"/>
          </a:xfrm>
          <a:prstGeom prst="rect">
            <a:avLst/>
          </a:prstGeom>
        </p:spPr>
      </p:pic>
    </p:spTree>
    <p:extLst>
      <p:ext uri="{BB962C8B-B14F-4D97-AF65-F5344CB8AC3E}">
        <p14:creationId xmlns:p14="http://schemas.microsoft.com/office/powerpoint/2010/main" val="3605572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DB07A-521B-AB4F-C413-6C247631F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30C7E-8285-1DC6-81F9-2F864AA5E2DB}"/>
              </a:ext>
            </a:extLst>
          </p:cNvPr>
          <p:cNvSpPr>
            <a:spLocks noGrp="1"/>
          </p:cNvSpPr>
          <p:nvPr>
            <p:ph type="title"/>
          </p:nvPr>
        </p:nvSpPr>
        <p:spPr>
          <a:xfrm>
            <a:off x="838200" y="265611"/>
            <a:ext cx="10515600" cy="810532"/>
          </a:xfrm>
        </p:spPr>
        <p:txBody>
          <a:bodyPr>
            <a:normAutofit/>
          </a:bodyPr>
          <a:lstStyle/>
          <a:p>
            <a:pPr algn="ctr">
              <a:lnSpc>
                <a:spcPts val="3900"/>
              </a:lnSpc>
            </a:pPr>
            <a:r>
              <a:rPr lang="en-IN" b="1" i="0" dirty="0">
                <a:solidFill>
                  <a:srgbClr val="242424"/>
                </a:solidFill>
                <a:effectLst/>
                <a:latin typeface="sohne"/>
              </a:rPr>
              <a:t>Text Representation Techniques</a:t>
            </a:r>
          </a:p>
        </p:txBody>
      </p:sp>
      <p:sp>
        <p:nvSpPr>
          <p:cNvPr id="3" name="Content Placeholder 2">
            <a:extLst>
              <a:ext uri="{FF2B5EF4-FFF2-40B4-BE49-F238E27FC236}">
                <a16:creationId xmlns:a16="http://schemas.microsoft.com/office/drawing/2014/main" id="{46F3107B-F126-8507-68B9-E66A94A30EDF}"/>
              </a:ext>
            </a:extLst>
          </p:cNvPr>
          <p:cNvSpPr>
            <a:spLocks noGrp="1"/>
          </p:cNvSpPr>
          <p:nvPr>
            <p:ph idx="1"/>
          </p:nvPr>
        </p:nvSpPr>
        <p:spPr>
          <a:xfrm>
            <a:off x="309880" y="1194318"/>
            <a:ext cx="11882120" cy="4992805"/>
          </a:xfrm>
        </p:spPr>
        <p:txBody>
          <a:bodyPr>
            <a:normAutofit/>
          </a:bodyPr>
          <a:lstStyle/>
          <a:p>
            <a:pPr marL="514350" indent="-514350">
              <a:buFont typeface="+mj-lt"/>
              <a:buAutoNum type="arabicPeriod"/>
            </a:pPr>
            <a:r>
              <a:rPr lang="en-US" kern="150" dirty="0">
                <a:solidFill>
                  <a:srgbClr val="000000"/>
                </a:solidFill>
                <a:effectLst/>
                <a:ea typeface="Calibri" panose="020F0502020204030204" pitchFamily="34" charset="0"/>
                <a:cs typeface="Times New Roman" panose="02020603050405020304" pitchFamily="18" charset="0"/>
              </a:rPr>
              <a:t>One Hot Encoding</a:t>
            </a:r>
          </a:p>
          <a:p>
            <a:pPr marL="514350" indent="-514350">
              <a:buFont typeface="+mj-lt"/>
              <a:buAutoNum type="arabicPeriod"/>
            </a:pPr>
            <a:r>
              <a:rPr lang="en-US" kern="150" dirty="0">
                <a:solidFill>
                  <a:srgbClr val="000000"/>
                </a:solidFill>
                <a:effectLst/>
                <a:ea typeface="Calibri" panose="020F0502020204030204" pitchFamily="34" charset="0"/>
                <a:cs typeface="Times New Roman" panose="02020603050405020304" pitchFamily="18" charset="0"/>
              </a:rPr>
              <a:t>Bag of Words (</a:t>
            </a:r>
            <a:r>
              <a:rPr lang="en-US" kern="150" dirty="0" err="1">
                <a:solidFill>
                  <a:srgbClr val="000000"/>
                </a:solidFill>
                <a:effectLst/>
                <a:ea typeface="Calibri" panose="020F0502020204030204" pitchFamily="34" charset="0"/>
                <a:cs typeface="Times New Roman" panose="02020603050405020304" pitchFamily="18" charset="0"/>
              </a:rPr>
              <a:t>BoW</a:t>
            </a:r>
            <a:r>
              <a:rPr lang="en-US" kern="150" dirty="0">
                <a:solidFill>
                  <a:srgbClr val="000000"/>
                </a:solidFill>
                <a:effectLst/>
                <a:ea typeface="Calibri" panose="020F0502020204030204" pitchFamily="34" charset="0"/>
                <a:cs typeface="Times New Roman" panose="02020603050405020304" pitchFamily="18" charset="0"/>
              </a:rPr>
              <a:t>)</a:t>
            </a:r>
          </a:p>
          <a:p>
            <a:pPr marL="514350" indent="-514350">
              <a:buFont typeface="+mj-lt"/>
              <a:buAutoNum type="arabicPeriod"/>
            </a:pPr>
            <a:r>
              <a:rPr lang="en-US" kern="150" dirty="0">
                <a:solidFill>
                  <a:srgbClr val="000000"/>
                </a:solidFill>
                <a:effectLst/>
                <a:ea typeface="Calibri" panose="020F0502020204030204" pitchFamily="34" charset="0"/>
                <a:cs typeface="Times New Roman" panose="02020603050405020304" pitchFamily="18" charset="0"/>
              </a:rPr>
              <a:t>TF-IDF  </a:t>
            </a:r>
            <a:endParaRPr lang="en-IN" kern="150" dirty="0">
              <a:effectLst/>
              <a:ea typeface="Calibri" panose="020F0502020204030204" pitchFamily="34" charset="0"/>
              <a:cs typeface="Times New Roman" panose="02020603050405020304" pitchFamily="18" charset="0"/>
            </a:endParaRPr>
          </a:p>
          <a:p>
            <a:pPr marL="514350" indent="-514350">
              <a:buFont typeface="+mj-lt"/>
              <a:buAutoNum type="arabicPeriod"/>
            </a:pPr>
            <a:r>
              <a:rPr lang="en-US" dirty="0">
                <a:effectLst/>
                <a:ea typeface="Calibri" panose="020F0502020204030204" pitchFamily="34" charset="0"/>
              </a:rPr>
              <a:t>word embeddings</a:t>
            </a:r>
          </a:p>
          <a:p>
            <a:pPr marL="1371600" lvl="2" indent="-457200">
              <a:buFont typeface="+mj-lt"/>
              <a:buAutoNum type="alphaLcPeriod"/>
            </a:pPr>
            <a:r>
              <a:rPr lang="en-US" sz="2400" dirty="0">
                <a:effectLst/>
                <a:ea typeface="Calibri" panose="020F0502020204030204" pitchFamily="34" charset="0"/>
              </a:rPr>
              <a:t>Word2vec</a:t>
            </a:r>
          </a:p>
          <a:p>
            <a:pPr marL="1371600" lvl="2" indent="-457200">
              <a:buFont typeface="+mj-lt"/>
              <a:buAutoNum type="alphaLcPeriod"/>
            </a:pPr>
            <a:r>
              <a:rPr lang="en-US" sz="2400" dirty="0" err="1">
                <a:effectLst/>
                <a:ea typeface="Calibri" panose="020F0502020204030204" pitchFamily="34" charset="0"/>
              </a:rPr>
              <a:t>GloVe</a:t>
            </a:r>
            <a:endParaRPr lang="en-US" sz="2400" dirty="0">
              <a:ea typeface="Calibri" panose="020F0502020204030204" pitchFamily="34" charset="0"/>
            </a:endParaRPr>
          </a:p>
          <a:p>
            <a:pPr marL="1371600" lvl="2" indent="-457200">
              <a:buFont typeface="+mj-lt"/>
              <a:buAutoNum type="alphaLcPeriod"/>
            </a:pPr>
            <a:r>
              <a:rPr lang="en-US" sz="2400" dirty="0">
                <a:effectLst/>
                <a:ea typeface="Calibri" panose="020F0502020204030204" pitchFamily="34" charset="0"/>
              </a:rPr>
              <a:t> </a:t>
            </a:r>
            <a:r>
              <a:rPr lang="en-US" sz="2400" dirty="0" err="1">
                <a:effectLst/>
                <a:ea typeface="Calibri" panose="020F0502020204030204" pitchFamily="34" charset="0"/>
              </a:rPr>
              <a:t>FastText</a:t>
            </a:r>
            <a:endParaRPr lang="en-IN" sz="2400" dirty="0"/>
          </a:p>
        </p:txBody>
      </p:sp>
    </p:spTree>
    <p:extLst>
      <p:ext uri="{BB962C8B-B14F-4D97-AF65-F5344CB8AC3E}">
        <p14:creationId xmlns:p14="http://schemas.microsoft.com/office/powerpoint/2010/main" val="3296805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11C11-F366-3332-3741-F0B831833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56F0BB-190B-21DF-77A6-9166E4EB96E5}"/>
              </a:ext>
            </a:extLst>
          </p:cNvPr>
          <p:cNvSpPr>
            <a:spLocks noGrp="1"/>
          </p:cNvSpPr>
          <p:nvPr>
            <p:ph type="title"/>
          </p:nvPr>
        </p:nvSpPr>
        <p:spPr>
          <a:xfrm>
            <a:off x="838200" y="103051"/>
            <a:ext cx="10515600" cy="810532"/>
          </a:xfrm>
        </p:spPr>
        <p:txBody>
          <a:bodyPr>
            <a:normAutofit/>
          </a:bodyPr>
          <a:lstStyle/>
          <a:p>
            <a:pPr algn="ctr"/>
            <a:r>
              <a:rPr lang="en-US" kern="150" dirty="0">
                <a:solidFill>
                  <a:srgbClr val="000000"/>
                </a:solidFill>
                <a:effectLst/>
                <a:ea typeface="Calibri" panose="020F0502020204030204" pitchFamily="34" charset="0"/>
                <a:cs typeface="Times New Roman" panose="02020603050405020304" pitchFamily="18" charset="0"/>
              </a:rPr>
              <a:t>One Hot Encoding</a:t>
            </a:r>
          </a:p>
        </p:txBody>
      </p:sp>
      <p:sp>
        <p:nvSpPr>
          <p:cNvPr id="3" name="Content Placeholder 2">
            <a:extLst>
              <a:ext uri="{FF2B5EF4-FFF2-40B4-BE49-F238E27FC236}">
                <a16:creationId xmlns:a16="http://schemas.microsoft.com/office/drawing/2014/main" id="{2EC79EB6-AB35-9FC7-AC50-DB8D0517F88F}"/>
              </a:ext>
            </a:extLst>
          </p:cNvPr>
          <p:cNvSpPr>
            <a:spLocks noGrp="1"/>
          </p:cNvSpPr>
          <p:nvPr>
            <p:ph idx="1"/>
          </p:nvPr>
        </p:nvSpPr>
        <p:spPr>
          <a:xfrm>
            <a:off x="309880" y="932597"/>
            <a:ext cx="11882120" cy="4992805"/>
          </a:xfrm>
        </p:spPr>
        <p:txBody>
          <a:bodyPr>
            <a:normAutofit/>
          </a:bodyPr>
          <a:lstStyle/>
          <a:p>
            <a:r>
              <a:rPr lang="en-US" sz="2400" dirty="0"/>
              <a:t>One-Hot Encoding is a technique used to represent words as binary vectors, where each word in the vocabulary is mapped to a unique vector with a single "1" and the rest of the entries as "0". </a:t>
            </a:r>
            <a:endParaRPr lang="en-US" sz="2400" kern="150" dirty="0">
              <a:solidFill>
                <a:srgbClr val="000000"/>
              </a:solidFill>
              <a:effectLst/>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293484E-0289-1E9D-119A-F15958251666}"/>
              </a:ext>
            </a:extLst>
          </p:cNvPr>
          <p:cNvSpPr txBox="1"/>
          <p:nvPr/>
        </p:nvSpPr>
        <p:spPr>
          <a:xfrm>
            <a:off x="154940" y="2023012"/>
            <a:ext cx="11882120" cy="3785652"/>
          </a:xfrm>
          <a:prstGeom prst="rect">
            <a:avLst/>
          </a:prstGeom>
          <a:noFill/>
        </p:spPr>
        <p:txBody>
          <a:bodyPr wrap="square">
            <a:spAutoFit/>
          </a:bodyPr>
          <a:lstStyle/>
          <a:p>
            <a:pPr algn="just"/>
            <a:r>
              <a:rPr lang="en-US" sz="2400" b="1" dirty="0"/>
              <a:t>Steps in One-Hot Encoding:</a:t>
            </a:r>
          </a:p>
          <a:p>
            <a:pPr algn="just">
              <a:buFont typeface="+mj-lt"/>
              <a:buAutoNum type="arabicPeriod"/>
            </a:pPr>
            <a:r>
              <a:rPr lang="en-US" sz="2400" b="1" dirty="0"/>
              <a:t>Tokenize the Text:</a:t>
            </a:r>
            <a:endParaRPr lang="en-US" sz="2400" dirty="0"/>
          </a:p>
          <a:p>
            <a:pPr marL="800100" lvl="1" indent="-342900" algn="just">
              <a:buFont typeface="Arial" panose="020B0604020202020204" pitchFamily="34" charset="0"/>
              <a:buChar char="•"/>
            </a:pPr>
            <a:r>
              <a:rPr lang="en-US" sz="2400" dirty="0"/>
              <a:t>The first step is to break down the text into words. For example:</a:t>
            </a:r>
          </a:p>
          <a:p>
            <a:pPr lvl="2" algn="just"/>
            <a:r>
              <a:rPr lang="en-US" sz="2400" dirty="0"/>
              <a:t>Text: "I love NLP"</a:t>
            </a:r>
          </a:p>
          <a:p>
            <a:pPr lvl="2" algn="just"/>
            <a:r>
              <a:rPr lang="en-US" sz="2400" dirty="0"/>
              <a:t>words: ['I', 'love', 'NLP']</a:t>
            </a:r>
          </a:p>
          <a:p>
            <a:pPr algn="just">
              <a:buFont typeface="+mj-lt"/>
              <a:buAutoNum type="arabicPeriod"/>
            </a:pPr>
            <a:r>
              <a:rPr lang="en-US" sz="2400" b="1" dirty="0"/>
              <a:t>Create a Vocabulary:</a:t>
            </a:r>
            <a:endParaRPr lang="en-US" sz="2400" dirty="0"/>
          </a:p>
          <a:p>
            <a:pPr marL="800100" lvl="1" indent="-342900" algn="just">
              <a:buFont typeface="Arial" panose="020B0604020202020204" pitchFamily="34" charset="0"/>
              <a:buChar char="•"/>
            </a:pPr>
            <a:r>
              <a:rPr lang="en-US" sz="2400" dirty="0"/>
              <a:t>Identify the unique words in the dataset (corpus). This list is called the vocabulary. For a larger dataset, you might apply additional preprocessing steps, such as removing </a:t>
            </a:r>
            <a:r>
              <a:rPr lang="en-US" sz="2400" dirty="0" err="1"/>
              <a:t>stopwords</a:t>
            </a:r>
            <a:r>
              <a:rPr lang="en-US" sz="2400" dirty="0"/>
              <a:t> or punctuation.</a:t>
            </a:r>
          </a:p>
          <a:p>
            <a:pPr lvl="2" algn="just"/>
            <a:r>
              <a:rPr lang="en-US" sz="2400" dirty="0"/>
              <a:t>Vocabulary: ['I', 'love', 'NLP']</a:t>
            </a:r>
          </a:p>
        </p:txBody>
      </p:sp>
    </p:spTree>
    <p:extLst>
      <p:ext uri="{BB962C8B-B14F-4D97-AF65-F5344CB8AC3E}">
        <p14:creationId xmlns:p14="http://schemas.microsoft.com/office/powerpoint/2010/main" val="14177943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AB03E-B77F-E7BA-98CA-3566F0AA7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8B575-3821-7273-BEA7-F6E660B88889}"/>
              </a:ext>
            </a:extLst>
          </p:cNvPr>
          <p:cNvSpPr>
            <a:spLocks noGrp="1"/>
          </p:cNvSpPr>
          <p:nvPr>
            <p:ph type="title"/>
          </p:nvPr>
        </p:nvSpPr>
        <p:spPr>
          <a:xfrm>
            <a:off x="838200" y="0"/>
            <a:ext cx="10515600" cy="810532"/>
          </a:xfrm>
        </p:spPr>
        <p:txBody>
          <a:bodyPr>
            <a:normAutofit/>
          </a:bodyPr>
          <a:lstStyle/>
          <a:p>
            <a:pPr algn="ctr"/>
            <a:r>
              <a:rPr lang="en-US" kern="150" dirty="0">
                <a:solidFill>
                  <a:srgbClr val="000000"/>
                </a:solidFill>
                <a:effectLst/>
                <a:ea typeface="Calibri" panose="020F0502020204030204" pitchFamily="34" charset="0"/>
                <a:cs typeface="Times New Roman" panose="02020603050405020304" pitchFamily="18" charset="0"/>
              </a:rPr>
              <a:t>One Hot Encoding</a:t>
            </a:r>
          </a:p>
        </p:txBody>
      </p:sp>
      <p:sp>
        <p:nvSpPr>
          <p:cNvPr id="3" name="Content Placeholder 2">
            <a:extLst>
              <a:ext uri="{FF2B5EF4-FFF2-40B4-BE49-F238E27FC236}">
                <a16:creationId xmlns:a16="http://schemas.microsoft.com/office/drawing/2014/main" id="{4879ED6B-CE63-ED64-E4A1-910BA4BF07D8}"/>
              </a:ext>
            </a:extLst>
          </p:cNvPr>
          <p:cNvSpPr>
            <a:spLocks noGrp="1"/>
          </p:cNvSpPr>
          <p:nvPr>
            <p:ph idx="1"/>
          </p:nvPr>
        </p:nvSpPr>
        <p:spPr>
          <a:xfrm>
            <a:off x="0" y="630622"/>
            <a:ext cx="12192000" cy="6227378"/>
          </a:xfrm>
        </p:spPr>
        <p:txBody>
          <a:bodyPr>
            <a:normAutofit fontScale="70000" lnSpcReduction="20000"/>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3400" b="1" i="0" u="none" strike="noStrike" cap="none" normalizeH="0" baseline="0" dirty="0">
                <a:ln>
                  <a:noFill/>
                </a:ln>
                <a:solidFill>
                  <a:schemeClr val="tx1"/>
                </a:solidFill>
                <a:effectLst/>
              </a:rPr>
              <a:t>3. Assign Indices:</a:t>
            </a:r>
            <a:endParaRPr kumimoji="0" lang="en-US" altLang="en-US" sz="3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Assign a unique integer index to each word in the vocabulary. This is essentially creating a mapping from each word to a position in a vector.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Example mapping: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'I' → 0</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'love' → 1</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'NLP' → 2</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400" b="1" i="0" u="none" strike="noStrike" cap="none" normalizeH="0" baseline="0" dirty="0">
                <a:ln>
                  <a:noFill/>
                </a:ln>
                <a:solidFill>
                  <a:schemeClr val="tx1"/>
                </a:solidFill>
                <a:effectLst/>
              </a:rPr>
              <a:t>4.Create the One-Hot Vectors:</a:t>
            </a:r>
            <a:endParaRPr kumimoji="0" lang="en-US" altLang="en-US" sz="3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For </a:t>
            </a:r>
            <a:r>
              <a:rPr kumimoji="0" lang="en-US" altLang="en-US" sz="3400" b="0" i="0" u="none" strike="noStrike" cap="none" normalizeH="0" baseline="0" dirty="0">
                <a:ln>
                  <a:noFill/>
                </a:ln>
                <a:solidFill>
                  <a:srgbClr val="7030A0"/>
                </a:solidFill>
                <a:effectLst/>
              </a:rPr>
              <a:t>each word </a:t>
            </a:r>
            <a:r>
              <a:rPr kumimoji="0" lang="en-US" altLang="en-US" sz="3400" b="0" i="0" u="none" strike="noStrike" cap="none" normalizeH="0" baseline="0" dirty="0">
                <a:ln>
                  <a:noFill/>
                </a:ln>
                <a:solidFill>
                  <a:schemeClr val="tx1"/>
                </a:solidFill>
                <a:effectLst/>
              </a:rPr>
              <a:t>in a given sentence, create a </a:t>
            </a:r>
            <a:r>
              <a:rPr kumimoji="0" lang="en-US" altLang="en-US" sz="3400" b="0" i="0" u="none" strike="noStrike" cap="none" normalizeH="0" baseline="0" dirty="0">
                <a:ln>
                  <a:noFill/>
                </a:ln>
                <a:solidFill>
                  <a:srgbClr val="7030A0"/>
                </a:solidFill>
                <a:effectLst/>
              </a:rPr>
              <a:t>binary vector </a:t>
            </a:r>
            <a:r>
              <a:rPr kumimoji="0" lang="en-US" altLang="en-US" sz="3400" b="0" i="0" u="none" strike="noStrike" cap="none" normalizeH="0" baseline="0" dirty="0">
                <a:ln>
                  <a:noFill/>
                </a:ln>
                <a:solidFill>
                  <a:schemeClr val="tx1"/>
                </a:solidFill>
                <a:effectLst/>
              </a:rPr>
              <a:t>with the length </a:t>
            </a:r>
            <a:r>
              <a:rPr kumimoji="0" lang="en-US" altLang="en-US" sz="3400" b="0" i="0" u="none" strike="noStrike" cap="none" normalizeH="0" baseline="0" dirty="0">
                <a:ln>
                  <a:noFill/>
                </a:ln>
                <a:solidFill>
                  <a:srgbClr val="7030A0"/>
                </a:solidFill>
                <a:effectLst/>
              </a:rPr>
              <a:t>equal to the size of the vocabulary</a:t>
            </a:r>
            <a:r>
              <a:rPr kumimoji="0" lang="en-US" altLang="en-US" sz="3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Set the position of the word (based on the index mapping) to 1, and all other positions to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'I' → Index</a:t>
            </a:r>
            <a:r>
              <a:rPr kumimoji="0" lang="en-US" altLang="en-US" sz="3400" b="0" i="0" u="none" strike="noStrike" cap="none" normalizeH="0" baseline="0" dirty="0">
                <a:ln>
                  <a:noFill/>
                </a:ln>
                <a:solidFill>
                  <a:srgbClr val="7030A0"/>
                </a:solidFill>
                <a:effectLst/>
              </a:rPr>
              <a:t> 0 </a:t>
            </a:r>
            <a:r>
              <a:rPr kumimoji="0" lang="en-US" altLang="en-US" sz="3400" b="0" i="0" u="none" strike="noStrike" cap="none" normalizeH="0" baseline="0" dirty="0">
                <a:ln>
                  <a:noFill/>
                </a:ln>
                <a:solidFill>
                  <a:schemeClr val="tx1"/>
                </a:solidFill>
                <a:effectLst/>
              </a:rPr>
              <a:t>→ One-hot vector: [1, 0,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'love' → Index </a:t>
            </a:r>
            <a:r>
              <a:rPr kumimoji="0" lang="en-US" altLang="en-US" sz="3400" b="0" i="0" u="none" strike="noStrike" cap="none" normalizeH="0" baseline="0" dirty="0">
                <a:ln>
                  <a:noFill/>
                </a:ln>
                <a:solidFill>
                  <a:srgbClr val="7030A0"/>
                </a:solidFill>
                <a:effectLst/>
              </a:rPr>
              <a:t>1</a:t>
            </a:r>
            <a:r>
              <a:rPr kumimoji="0" lang="en-US" altLang="en-US" sz="3400" b="0" i="0" u="none" strike="noStrike" cap="none" normalizeH="0" baseline="0" dirty="0">
                <a:ln>
                  <a:noFill/>
                </a:ln>
                <a:solidFill>
                  <a:schemeClr val="tx1"/>
                </a:solidFill>
                <a:effectLst/>
              </a:rPr>
              <a:t> → One-hot vector: [0, 1,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'NLP' → Index </a:t>
            </a:r>
            <a:r>
              <a:rPr kumimoji="0" lang="en-US" altLang="en-US" sz="3400" b="0" i="0" u="none" strike="noStrike" cap="none" normalizeH="0" baseline="0" dirty="0">
                <a:ln>
                  <a:noFill/>
                </a:ln>
                <a:solidFill>
                  <a:srgbClr val="7030A0"/>
                </a:solidFill>
                <a:effectLst/>
              </a:rPr>
              <a:t>2</a:t>
            </a:r>
            <a:r>
              <a:rPr kumimoji="0" lang="en-US" altLang="en-US" sz="3400" b="0" i="0" u="none" strike="noStrike" cap="none" normalizeH="0" baseline="0" dirty="0">
                <a:ln>
                  <a:noFill/>
                </a:ln>
                <a:solidFill>
                  <a:schemeClr val="tx1"/>
                </a:solidFill>
                <a:effectLst/>
              </a:rPr>
              <a:t> → One-hot vector: [0, 0, 1]</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400" b="1" i="0" u="none" strike="noStrike" cap="none" normalizeH="0" baseline="0" dirty="0">
                <a:ln>
                  <a:noFill/>
                </a:ln>
                <a:solidFill>
                  <a:schemeClr val="tx1"/>
                </a:solidFill>
                <a:effectLst/>
              </a:rPr>
              <a:t>5. Represent the Entire Sentence or Document:</a:t>
            </a:r>
            <a:endParaRPr kumimoji="0" lang="en-US" altLang="en-US" sz="3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After encoding each word, you can represent the entire sentence or document by concatenating the one-hot vectors of all words in the sentence. For example: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Sentence: "I love NLP"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One-hot vectors: [1, 0, 0], [0, 1, 0], [0, 0, 1]</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3400" b="0" i="0" u="none" strike="noStrike" cap="none" normalizeH="0" baseline="0" dirty="0">
                <a:ln>
                  <a:noFill/>
                </a:ln>
                <a:solidFill>
                  <a:schemeClr val="tx1"/>
                </a:solidFill>
                <a:effectLst/>
              </a:rPr>
              <a:t>Combined representation: [1, 0, 0, 0, 1, 0, 0, 0, 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13199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86E48-3ECA-7079-E7E2-9361B89BD5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86F343-C0A1-BAC0-C56A-8806D54548FD}"/>
              </a:ext>
            </a:extLst>
          </p:cNvPr>
          <p:cNvSpPr>
            <a:spLocks noGrp="1"/>
          </p:cNvSpPr>
          <p:nvPr>
            <p:ph idx="1"/>
          </p:nvPr>
        </p:nvSpPr>
        <p:spPr>
          <a:xfrm>
            <a:off x="0" y="0"/>
            <a:ext cx="12192000" cy="6858000"/>
          </a:xfrm>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endParaRPr lang="en-IN" sz="2400" dirty="0">
              <a:solidFill>
                <a:srgbClr val="FF0000"/>
              </a:solidFill>
            </a:endParaRPr>
          </a:p>
          <a:p>
            <a:pPr marL="0" marR="0" lvl="0" indent="0" algn="l" defTabSz="914400" rtl="0" eaLnBrk="0" fontAlgn="base" latinLnBrk="0" hangingPunct="0">
              <a:lnSpc>
                <a:spcPct val="100000"/>
              </a:lnSpc>
              <a:spcBef>
                <a:spcPct val="0"/>
              </a:spcBef>
              <a:spcAft>
                <a:spcPct val="0"/>
              </a:spcAft>
              <a:buClrTx/>
              <a:buSzTx/>
              <a:buNone/>
              <a:tabLst/>
            </a:pPr>
            <a:r>
              <a:rPr lang="en-IN" sz="2400" dirty="0">
                <a:solidFill>
                  <a:srgbClr val="FF0000"/>
                </a:solidFill>
              </a:rPr>
              <a:t>corpus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D1:"I love NLP"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D2:"NLP is amazing"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D3:"I enjoy learning NLP" </a:t>
            </a:r>
          </a:p>
        </p:txBody>
      </p:sp>
      <p:sp>
        <p:nvSpPr>
          <p:cNvPr id="9" name="TextBox 8">
            <a:extLst>
              <a:ext uri="{FF2B5EF4-FFF2-40B4-BE49-F238E27FC236}">
                <a16:creationId xmlns:a16="http://schemas.microsoft.com/office/drawing/2014/main" id="{B02FC0F3-5835-39D1-9B30-503C04579AE1}"/>
              </a:ext>
            </a:extLst>
          </p:cNvPr>
          <p:cNvSpPr txBox="1"/>
          <p:nvPr/>
        </p:nvSpPr>
        <p:spPr>
          <a:xfrm>
            <a:off x="3987800" y="74535"/>
            <a:ext cx="1864360" cy="3046988"/>
          </a:xfrm>
          <a:prstGeom prst="rect">
            <a:avLst/>
          </a:prstGeom>
          <a:noFill/>
        </p:spPr>
        <p:txBody>
          <a:bodyPr wrap="square">
            <a:spAutoFit/>
          </a:bodyPr>
          <a:lstStyle/>
          <a:p>
            <a:r>
              <a:rPr lang="en-US" sz="2400" dirty="0">
                <a:solidFill>
                  <a:srgbClr val="FF0000"/>
                </a:solidFill>
              </a:rPr>
              <a:t>vocabulary :</a:t>
            </a:r>
          </a:p>
          <a:p>
            <a:r>
              <a:rPr lang="en-US" sz="2400" dirty="0"/>
              <a:t> [I</a:t>
            </a:r>
          </a:p>
          <a:p>
            <a:r>
              <a:rPr lang="en-US" sz="2400" dirty="0"/>
              <a:t>love</a:t>
            </a:r>
          </a:p>
          <a:p>
            <a:r>
              <a:rPr lang="en-US" sz="2400" dirty="0"/>
              <a:t>NLP</a:t>
            </a:r>
          </a:p>
          <a:p>
            <a:r>
              <a:rPr lang="en-US" sz="2400" dirty="0"/>
              <a:t>is</a:t>
            </a:r>
          </a:p>
          <a:p>
            <a:r>
              <a:rPr lang="en-US" sz="2400" dirty="0"/>
              <a:t>amazing</a:t>
            </a:r>
          </a:p>
          <a:p>
            <a:r>
              <a:rPr lang="en-US" sz="2400" dirty="0"/>
              <a:t>enjoy</a:t>
            </a:r>
          </a:p>
          <a:p>
            <a:r>
              <a:rPr lang="en-US" sz="2400" dirty="0"/>
              <a:t>learning]</a:t>
            </a:r>
            <a:endParaRPr lang="en-IN" sz="2400" dirty="0"/>
          </a:p>
        </p:txBody>
      </p:sp>
      <p:sp>
        <p:nvSpPr>
          <p:cNvPr id="11" name="TextBox 10">
            <a:extLst>
              <a:ext uri="{FF2B5EF4-FFF2-40B4-BE49-F238E27FC236}">
                <a16:creationId xmlns:a16="http://schemas.microsoft.com/office/drawing/2014/main" id="{DBB30018-7EEA-F407-381A-2263E78D68E0}"/>
              </a:ext>
            </a:extLst>
          </p:cNvPr>
          <p:cNvSpPr txBox="1"/>
          <p:nvPr/>
        </p:nvSpPr>
        <p:spPr>
          <a:xfrm>
            <a:off x="7884160" y="85312"/>
            <a:ext cx="3129280"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IN" sz="2400" dirty="0">
                <a:solidFill>
                  <a:srgbClr val="FF0000"/>
                </a:solidFill>
              </a:rPr>
              <a:t>Assign Indices</a:t>
            </a:r>
            <a:endParaRPr kumimoji="0" lang="en-US" altLang="en-US" sz="24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I -&gt; 0</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love-&gt; 1</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NLP -&gt; 2</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is -&gt; 3</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amazing -&gt; 4</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enjoy -&gt; 5</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learning -&gt; 6 </a:t>
            </a:r>
          </a:p>
        </p:txBody>
      </p:sp>
      <p:sp>
        <p:nvSpPr>
          <p:cNvPr id="17" name="TextBox 16">
            <a:extLst>
              <a:ext uri="{FF2B5EF4-FFF2-40B4-BE49-F238E27FC236}">
                <a16:creationId xmlns:a16="http://schemas.microsoft.com/office/drawing/2014/main" id="{532EB3E4-C791-DE91-AE12-30135E7B686C}"/>
              </a:ext>
            </a:extLst>
          </p:cNvPr>
          <p:cNvSpPr txBox="1"/>
          <p:nvPr/>
        </p:nvSpPr>
        <p:spPr>
          <a:xfrm>
            <a:off x="104140" y="3429000"/>
            <a:ext cx="4853940" cy="3416320"/>
          </a:xfrm>
          <a:prstGeom prst="rect">
            <a:avLst/>
          </a:prstGeom>
          <a:noFill/>
        </p:spPr>
        <p:txBody>
          <a:bodyPr wrap="square">
            <a:spAutoFit/>
          </a:bodyPr>
          <a:lstStyle/>
          <a:p>
            <a:r>
              <a:rPr lang="en-US" sz="2400" dirty="0">
                <a:solidFill>
                  <a:srgbClr val="FF0000"/>
                </a:solidFill>
              </a:rPr>
              <a:t>Convert Words to One-Hot Vectors</a:t>
            </a:r>
          </a:p>
          <a:p>
            <a:endParaRPr lang="en-US" sz="2400" dirty="0">
              <a:solidFill>
                <a:srgbClr val="FF0000"/>
              </a:solidFill>
            </a:endParaRPr>
          </a:p>
          <a:p>
            <a:r>
              <a:rPr lang="en-US" sz="2400" dirty="0"/>
              <a:t>I -&gt; [1, 0, 0, 0, 0, 0, 0]</a:t>
            </a:r>
          </a:p>
          <a:p>
            <a:r>
              <a:rPr lang="en-US" sz="2400" dirty="0"/>
              <a:t>love-&gt; [0, 1, 0, 0, 0, 0, 0]</a:t>
            </a:r>
          </a:p>
          <a:p>
            <a:r>
              <a:rPr lang="en-US" sz="2400" dirty="0"/>
              <a:t>NLP-&gt; [0, 0, 1, 0, 0, 0, 0]</a:t>
            </a:r>
          </a:p>
          <a:p>
            <a:r>
              <a:rPr lang="en-US" sz="2400" dirty="0"/>
              <a:t>is -&gt; [0, 0, 0, 1, 0, 0, 0]</a:t>
            </a:r>
          </a:p>
          <a:p>
            <a:r>
              <a:rPr lang="en-US" sz="2400" dirty="0"/>
              <a:t>amazing-&gt; [0, 0, 0, 0, 1, 0, 0]</a:t>
            </a:r>
          </a:p>
          <a:p>
            <a:r>
              <a:rPr lang="en-US" sz="2400" dirty="0"/>
              <a:t>enjoy-&gt; [0, 0, 0, 0, 0, 1, 0]</a:t>
            </a:r>
          </a:p>
          <a:p>
            <a:r>
              <a:rPr lang="en-US" sz="2400" dirty="0"/>
              <a:t>learning -&gt; [0, 0, 0, 0, 0, 0, 1]</a:t>
            </a:r>
          </a:p>
        </p:txBody>
      </p:sp>
      <p:sp>
        <p:nvSpPr>
          <p:cNvPr id="25" name="TextBox 24">
            <a:extLst>
              <a:ext uri="{FF2B5EF4-FFF2-40B4-BE49-F238E27FC236}">
                <a16:creationId xmlns:a16="http://schemas.microsoft.com/office/drawing/2014/main" id="{CA826364-C4E1-6581-5416-11CC246B2246}"/>
              </a:ext>
            </a:extLst>
          </p:cNvPr>
          <p:cNvSpPr txBox="1"/>
          <p:nvPr/>
        </p:nvSpPr>
        <p:spPr>
          <a:xfrm>
            <a:off x="5351782" y="4690884"/>
            <a:ext cx="6715760" cy="1785104"/>
          </a:xfrm>
          <a:prstGeom prst="rect">
            <a:avLst/>
          </a:prstGeom>
          <a:noFill/>
        </p:spPr>
        <p:txBody>
          <a:bodyPr wrap="square">
            <a:spAutoFit/>
          </a:bodyPr>
          <a:lstStyle/>
          <a:p>
            <a:r>
              <a:rPr lang="en-US" sz="2200" dirty="0"/>
              <a:t>D1: [[1, 0, 0, 0, 0, 0, 0][0, 1, 0, 0, 0, 0, 0][0, 0, 1, 0, 0, 0, 0]]</a:t>
            </a:r>
          </a:p>
          <a:p>
            <a:r>
              <a:rPr lang="en-US" sz="2200" dirty="0"/>
              <a:t>D2:[[0, 0, 1, 0, 0, 0, 0][0, 0, 0, 1, 0, 0, 0][0, 0, 0, 0, 1, 0, 0]]</a:t>
            </a:r>
          </a:p>
          <a:p>
            <a:r>
              <a:rPr lang="en-US" sz="2200" dirty="0"/>
              <a:t>D3: [[1, 0, 0, 0, 0, 0, 0][0, 0, 0, 0, 0, 1, 0][0, 0, 0, 0, 0, 0, 1]     	[0, 0, 1, 0, 0, 0, 0]]</a:t>
            </a:r>
          </a:p>
          <a:p>
            <a:endParaRPr lang="en-US" sz="2200" dirty="0"/>
          </a:p>
        </p:txBody>
      </p:sp>
    </p:spTree>
    <p:extLst>
      <p:ext uri="{BB962C8B-B14F-4D97-AF65-F5344CB8AC3E}">
        <p14:creationId xmlns:p14="http://schemas.microsoft.com/office/powerpoint/2010/main" val="6997493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175F7-1241-5283-FE61-36AC99D3BA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B94019-53BA-D1F4-CD39-5C02E5A5F011}"/>
              </a:ext>
            </a:extLst>
          </p:cNvPr>
          <p:cNvSpPr>
            <a:spLocks noGrp="1"/>
          </p:cNvSpPr>
          <p:nvPr>
            <p:ph idx="1"/>
          </p:nvPr>
        </p:nvSpPr>
        <p:spPr>
          <a:xfrm>
            <a:off x="142240" y="0"/>
            <a:ext cx="12192000" cy="6227378"/>
          </a:xfrm>
        </p:spPr>
        <p:txBody>
          <a:bodyPr>
            <a:no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import </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a:t>
            </a: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from </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nltk.tokenize</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import </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word_tokenize</a:t>
            </a: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corpus = "I Love NLP"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Tokenize the text into words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tokens = </a:t>
            </a:r>
            <a:r>
              <a:rPr kumimoji="0" lang="en-US" altLang="en-US" sz="1600" i="0" u="none" strike="noStrike" cap="none" normalizeH="0" baseline="0" dirty="0" err="1">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word_tokenize</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corpus.</a:t>
            </a:r>
            <a:r>
              <a:rPr kumimoji="0" lang="en-US" altLang="en-US" sz="1600" i="0" u="none" strike="noStrike" cap="none" normalizeH="0" baseline="0" dirty="0" err="1">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lower</a:t>
            </a:r>
            <a:r>
              <a:rPr kumimoji="0" lang="en-US" altLang="en-US" sz="1600"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Tokenizing and converting to lowercase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Remove punctuation from the tokens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tokens = [word for word in tokens if </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a:t>
            </a:r>
            <a:r>
              <a:rPr kumimoji="0" lang="en-US" altLang="en-US" sz="1600" i="0" u="none" strike="noStrike" cap="none" normalizeH="0" baseline="0" dirty="0" err="1">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isalpha</a:t>
            </a:r>
            <a:r>
              <a:rPr kumimoji="0" lang="en-US" altLang="en-US" sz="1600"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sz="1600" i="0" u="none" strike="noStrike" cap="none" normalizeH="0" baseline="0" dirty="0">
                <a:ln>
                  <a:noFill/>
                </a:ln>
                <a:effectLst/>
                <a:latin typeface="Cascadia Code" panose="020B0609020000020004" pitchFamily="49" charset="0"/>
                <a:ea typeface="Cascadia Code" panose="020B0609020000020004" pitchFamily="49" charset="0"/>
                <a:cs typeface="Cascadia Code" panose="020B0609020000020004" pitchFamily="49"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Create a vocabulary (list of unique words)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vocabulary = list(</a:t>
            </a:r>
            <a:r>
              <a:rPr kumimoji="0" lang="en-US" altLang="en-US" sz="1600"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set</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(tokens))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print("Vocabulary:", vocabulary)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Manually assigning index to each word in the vocabulary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word_to_index</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{word: </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idx</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for </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idx</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word in enumerate(vocabulary)}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Create a one-hot encoding for each word in the tokenized text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one_hot_encoded</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for word in vocabulary: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encoding = [0] * len(vocabulary)  </a:t>
            </a:r>
            <a:r>
              <a:rPr kumimoji="0" lang="en-US" altLang="en-US" sz="1600" i="0" u="none" strike="noStrike" cap="none" normalizeH="0" baseline="0" dirty="0">
                <a:ln>
                  <a:noFill/>
                </a:ln>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Initialize a zero vector of length of vocabulary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encoding[</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word_to_index</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 = 1  </a:t>
            </a:r>
            <a:r>
              <a:rPr kumimoji="0" lang="en-US" altLang="en-US" sz="1600" i="0" u="none" strike="noStrike" cap="none" normalizeH="0" baseline="0" dirty="0">
                <a:ln>
                  <a:noFill/>
                </a:ln>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Set 1 at the index of the word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one_hot_encoded.append</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(encoding)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Print one-hot encoded vectors for the words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for word, encoding in zip(vocabulary, </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one_hot_encoded</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print(</a:t>
            </a:r>
            <a:r>
              <a:rPr kumimoji="0" lang="en-US" altLang="en-US" sz="160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f"Word</a:t>
            </a:r>
            <a:r>
              <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'{word}' -&gt; One-hot encoding: {encoding}")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7" name="Picture 6">
            <a:extLst>
              <a:ext uri="{FF2B5EF4-FFF2-40B4-BE49-F238E27FC236}">
                <a16:creationId xmlns:a16="http://schemas.microsoft.com/office/drawing/2014/main" id="{0AE17DCB-2BF6-05AD-2DA7-1F4DAF7407D8}"/>
              </a:ext>
            </a:extLst>
          </p:cNvPr>
          <p:cNvPicPr>
            <a:picLocks noChangeAspect="1"/>
          </p:cNvPicPr>
          <p:nvPr/>
        </p:nvPicPr>
        <p:blipFill>
          <a:blip r:embed="rId2"/>
          <a:stretch>
            <a:fillRect/>
          </a:stretch>
        </p:blipFill>
        <p:spPr>
          <a:xfrm>
            <a:off x="7244080" y="5926438"/>
            <a:ext cx="4947920" cy="931562"/>
          </a:xfrm>
          <a:prstGeom prst="rect">
            <a:avLst/>
          </a:prstGeom>
        </p:spPr>
      </p:pic>
    </p:spTree>
    <p:extLst>
      <p:ext uri="{BB962C8B-B14F-4D97-AF65-F5344CB8AC3E}">
        <p14:creationId xmlns:p14="http://schemas.microsoft.com/office/powerpoint/2010/main" val="3469630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80698-5235-A695-3004-EF4F5733F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77B25-BF45-3D7C-1F83-4E5E3DC68369}"/>
              </a:ext>
            </a:extLst>
          </p:cNvPr>
          <p:cNvSpPr>
            <a:spLocks noGrp="1"/>
          </p:cNvSpPr>
          <p:nvPr>
            <p:ph type="title"/>
          </p:nvPr>
        </p:nvSpPr>
        <p:spPr>
          <a:xfrm>
            <a:off x="838200" y="0"/>
            <a:ext cx="10515600" cy="630622"/>
          </a:xfrm>
        </p:spPr>
        <p:txBody>
          <a:bodyPr>
            <a:normAutofit/>
          </a:bodyPr>
          <a:lstStyle/>
          <a:p>
            <a:pPr algn="ctr"/>
            <a:r>
              <a:rPr lang="en-IN" sz="3600" dirty="0">
                <a:solidFill>
                  <a:srgbClr val="FF0000"/>
                </a:solidFill>
              </a:rPr>
              <a:t>disadvantages</a:t>
            </a:r>
            <a:endParaRPr lang="en-US" sz="3600" b="1" kern="150" dirty="0">
              <a:solidFill>
                <a:srgbClr val="FF0000"/>
              </a:solidFill>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AE6434-F720-4CD5-7D97-CC6B4F98344F}"/>
              </a:ext>
            </a:extLst>
          </p:cNvPr>
          <p:cNvSpPr>
            <a:spLocks noGrp="1"/>
          </p:cNvSpPr>
          <p:nvPr>
            <p:ph idx="1"/>
          </p:nvPr>
        </p:nvSpPr>
        <p:spPr>
          <a:xfrm>
            <a:off x="243840" y="630622"/>
            <a:ext cx="11948160" cy="6227378"/>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rgbClr val="FF0000"/>
                </a:solidFill>
                <a:effectLst/>
                <a:ea typeface="Cascadia Code" panose="020B0609020000020004" pitchFamily="49" charset="0"/>
                <a:cs typeface="Cascadia Code" panose="020B0609020000020004" pitchFamily="49" charset="0"/>
              </a:rPr>
              <a:t>High Dimensionality:</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One-hot encoding creates a </a:t>
            </a:r>
            <a:r>
              <a:rPr kumimoji="0" lang="en-US" altLang="en-US" sz="2400" i="0" u="none" strike="noStrike" cap="none" normalizeH="0" baseline="0" dirty="0">
                <a:ln>
                  <a:noFill/>
                </a:ln>
                <a:solidFill>
                  <a:srgbClr val="7030A0"/>
                </a:solidFill>
                <a:effectLst/>
                <a:ea typeface="Cascadia Code" panose="020B0609020000020004" pitchFamily="49" charset="0"/>
                <a:cs typeface="Cascadia Code" panose="020B0609020000020004" pitchFamily="49" charset="0"/>
              </a:rPr>
              <a:t>large vector for each word</a:t>
            </a: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 If the vocabulary is large (as in real-world text data), this leads to very </a:t>
            </a:r>
            <a:r>
              <a:rPr kumimoji="0" lang="en-US" altLang="en-US" sz="2400" i="0" u="none" strike="noStrike" cap="none" normalizeH="0" baseline="0" dirty="0">
                <a:ln>
                  <a:noFill/>
                </a:ln>
                <a:solidFill>
                  <a:srgbClr val="7030A0"/>
                </a:solidFill>
                <a:effectLst/>
                <a:ea typeface="Cascadia Code" panose="020B0609020000020004" pitchFamily="49" charset="0"/>
                <a:cs typeface="Cascadia Code" panose="020B0609020000020004" pitchFamily="49" charset="0"/>
              </a:rPr>
              <a:t>high-dimensional vectors</a:t>
            </a: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 which can be </a:t>
            </a:r>
            <a:r>
              <a:rPr kumimoji="0" lang="en-US" altLang="en-US" sz="2400" i="0" u="none" strike="noStrike" cap="none" normalizeH="0" baseline="0" dirty="0">
                <a:ln>
                  <a:noFill/>
                </a:ln>
                <a:solidFill>
                  <a:srgbClr val="7030A0"/>
                </a:solidFill>
                <a:effectLst/>
                <a:ea typeface="Cascadia Code" panose="020B0609020000020004" pitchFamily="49" charset="0"/>
                <a:cs typeface="Cascadia Code" panose="020B0609020000020004" pitchFamily="49" charset="0"/>
              </a:rPr>
              <a:t>computationally expensive and inefficient</a:t>
            </a: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rgbClr val="FF0000"/>
                </a:solidFill>
                <a:effectLst/>
                <a:ea typeface="Cascadia Code" panose="020B0609020000020004" pitchFamily="49" charset="0"/>
                <a:cs typeface="Cascadia Code" panose="020B0609020000020004" pitchFamily="49" charset="0"/>
              </a:rPr>
              <a:t>Sparse Representation:</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Most of the elements in a one-hot encoded vector are </a:t>
            </a:r>
            <a:r>
              <a:rPr kumimoji="0" lang="en-US" altLang="en-US" sz="2400" i="0" u="none" strike="noStrike" cap="none" normalizeH="0" baseline="0" dirty="0">
                <a:ln>
                  <a:noFill/>
                </a:ln>
                <a:solidFill>
                  <a:srgbClr val="7030A0"/>
                </a:solidFill>
                <a:effectLst/>
                <a:ea typeface="Cascadia Code" panose="020B0609020000020004" pitchFamily="49" charset="0"/>
                <a:cs typeface="Cascadia Code" panose="020B0609020000020004" pitchFamily="49" charset="0"/>
              </a:rPr>
              <a:t>zero</a:t>
            </a: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 leading to </a:t>
            </a:r>
            <a:r>
              <a:rPr kumimoji="0" lang="en-US" altLang="en-US" sz="2400" i="0" u="none" strike="noStrike" cap="none" normalizeH="0" baseline="0" dirty="0">
                <a:ln>
                  <a:noFill/>
                </a:ln>
                <a:solidFill>
                  <a:srgbClr val="7030A0"/>
                </a:solidFill>
                <a:effectLst/>
                <a:ea typeface="Cascadia Code" panose="020B0609020000020004" pitchFamily="49" charset="0"/>
                <a:cs typeface="Cascadia Code" panose="020B0609020000020004" pitchFamily="49" charset="0"/>
              </a:rPr>
              <a:t>sparse vectors</a:t>
            </a: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 Sparse vectors </a:t>
            </a:r>
            <a:r>
              <a:rPr kumimoji="0" lang="en-US" altLang="en-US" sz="2400" i="0" u="none" strike="noStrike" cap="none" normalizeH="0" baseline="0" dirty="0">
                <a:ln>
                  <a:noFill/>
                </a:ln>
                <a:solidFill>
                  <a:srgbClr val="7030A0"/>
                </a:solidFill>
                <a:effectLst/>
                <a:ea typeface="Cascadia Code" panose="020B0609020000020004" pitchFamily="49" charset="0"/>
                <a:cs typeface="Cascadia Code" panose="020B0609020000020004" pitchFamily="49" charset="0"/>
              </a:rPr>
              <a:t>are inefficient in terms of memory and computational resources</a:t>
            </a: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 especially when dealing with large datasets.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rgbClr val="FF0000"/>
                </a:solidFill>
                <a:effectLst/>
                <a:ea typeface="Cascadia Code" panose="020B0609020000020004" pitchFamily="49" charset="0"/>
                <a:cs typeface="Cascadia Code" panose="020B0609020000020004" pitchFamily="49" charset="0"/>
              </a:rPr>
              <a:t>Lack of Semantic Information:</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One-hot encoding does not capture any </a:t>
            </a:r>
            <a:r>
              <a:rPr kumimoji="0" lang="en-US" altLang="en-US" sz="2400" i="0" u="none" strike="noStrike" cap="none" normalizeH="0" baseline="0" dirty="0">
                <a:ln>
                  <a:noFill/>
                </a:ln>
                <a:solidFill>
                  <a:srgbClr val="7030A0"/>
                </a:solidFill>
                <a:effectLst/>
                <a:ea typeface="Cascadia Code" panose="020B0609020000020004" pitchFamily="49" charset="0"/>
                <a:cs typeface="Cascadia Code" panose="020B0609020000020004" pitchFamily="49" charset="0"/>
              </a:rPr>
              <a:t>semantic relationships between words</a:t>
            </a: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 For example, "cat" and "dog" would be represented as distinct, orthogonal vectors, even though they are semantically related. This limitation makes it difficult for the model to understand context or word similarity.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i="0" u="none" strike="noStrike" cap="none" normalizeH="0" baseline="0" dirty="0">
                <a:ln>
                  <a:noFill/>
                </a:ln>
                <a:solidFill>
                  <a:srgbClr val="FF0000"/>
                </a:solidFill>
                <a:effectLst/>
                <a:ea typeface="Cascadia Code" panose="020B0609020000020004" pitchFamily="49" charset="0"/>
                <a:cs typeface="Cascadia Code" panose="020B0609020000020004" pitchFamily="49" charset="0"/>
              </a:rPr>
              <a:t>No Contextual Information:</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Each word is treated as an independent token without considering its </a:t>
            </a:r>
            <a:r>
              <a:rPr kumimoji="0" lang="en-US" altLang="en-US" sz="2400" i="0" u="none" strike="noStrike" cap="none" normalizeH="0" baseline="0" dirty="0">
                <a:ln>
                  <a:noFill/>
                </a:ln>
                <a:solidFill>
                  <a:srgbClr val="7030A0"/>
                </a:solidFill>
                <a:effectLst/>
                <a:ea typeface="Cascadia Code" panose="020B0609020000020004" pitchFamily="49" charset="0"/>
                <a:cs typeface="Cascadia Code" panose="020B0609020000020004" pitchFamily="49" charset="0"/>
              </a:rPr>
              <a:t>context</a:t>
            </a:r>
            <a:r>
              <a:rPr kumimoji="0" lang="en-US" altLang="en-US" sz="2400" i="0" u="none" strike="noStrike" cap="none" normalizeH="0" baseline="0" dirty="0">
                <a:ln>
                  <a:noFill/>
                </a:ln>
                <a:solidFill>
                  <a:schemeClr val="tx1"/>
                </a:solidFill>
                <a:effectLst/>
                <a:ea typeface="Cascadia Code" panose="020B0609020000020004" pitchFamily="49" charset="0"/>
                <a:cs typeface="Cascadia Code" panose="020B0609020000020004" pitchFamily="49" charset="0"/>
              </a:rPr>
              <a:t>. For instance, the word "bank" could refer to a financial institution or the side of a river, but one-hot encoding doesn’t provide any indication of the word's contextual meaning.</a:t>
            </a:r>
          </a:p>
        </p:txBody>
      </p:sp>
    </p:spTree>
    <p:extLst>
      <p:ext uri="{BB962C8B-B14F-4D97-AF65-F5344CB8AC3E}">
        <p14:creationId xmlns:p14="http://schemas.microsoft.com/office/powerpoint/2010/main" val="39662092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C51DC-202E-3004-5EB8-ABA848A77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EDB59-3C94-007C-EAA1-A3A6F67D832B}"/>
              </a:ext>
            </a:extLst>
          </p:cNvPr>
          <p:cNvSpPr>
            <a:spLocks noGrp="1"/>
          </p:cNvSpPr>
          <p:nvPr>
            <p:ph type="title"/>
          </p:nvPr>
        </p:nvSpPr>
        <p:spPr>
          <a:xfrm>
            <a:off x="838200" y="0"/>
            <a:ext cx="10515600" cy="810532"/>
          </a:xfrm>
        </p:spPr>
        <p:txBody>
          <a:bodyPr>
            <a:normAutofit/>
          </a:bodyPr>
          <a:lstStyle/>
          <a:p>
            <a:pPr algn="ctr"/>
            <a:r>
              <a:rPr lang="en-US" sz="3600" b="1" kern="150" dirty="0">
                <a:solidFill>
                  <a:srgbClr val="FF0000"/>
                </a:solidFill>
                <a:effectLst/>
                <a:ea typeface="Calibri" panose="020F0502020204030204" pitchFamily="34" charset="0"/>
                <a:cs typeface="Times New Roman" panose="02020603050405020304" pitchFamily="18" charset="0"/>
              </a:rPr>
              <a:t>Bag of Words (</a:t>
            </a:r>
            <a:r>
              <a:rPr lang="en-US" sz="3600" b="1" kern="150" dirty="0" err="1">
                <a:solidFill>
                  <a:srgbClr val="FF0000"/>
                </a:solidFill>
                <a:effectLst/>
                <a:ea typeface="Calibri" panose="020F0502020204030204" pitchFamily="34" charset="0"/>
                <a:cs typeface="Times New Roman" panose="02020603050405020304" pitchFamily="18" charset="0"/>
              </a:rPr>
              <a:t>BoW</a:t>
            </a:r>
            <a:r>
              <a:rPr lang="en-US" sz="3600" b="1" kern="150" dirty="0">
                <a:solidFill>
                  <a:srgbClr val="000000"/>
                </a:solidFill>
                <a:effectLst/>
                <a:ea typeface="Calibri" panose="020F0502020204030204" pitchFamily="34"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277A571-E295-3FC2-65E6-4EDDF30DD742}"/>
              </a:ext>
            </a:extLst>
          </p:cNvPr>
          <p:cNvSpPr>
            <a:spLocks noGrp="1"/>
          </p:cNvSpPr>
          <p:nvPr>
            <p:ph idx="1"/>
          </p:nvPr>
        </p:nvSpPr>
        <p:spPr>
          <a:xfrm>
            <a:off x="223520" y="1026862"/>
            <a:ext cx="11968480" cy="6227378"/>
          </a:xfrm>
        </p:spPr>
        <p:txBody>
          <a:bodyPr>
            <a:noAutofit/>
          </a:bodyPr>
          <a:lstStyle/>
          <a:p>
            <a:pPr algn="just"/>
            <a:r>
              <a:rPr lang="en-US" sz="2400" b="0" i="0" dirty="0">
                <a:effectLst/>
              </a:rPr>
              <a:t>The Bag of Words (</a:t>
            </a:r>
            <a:r>
              <a:rPr lang="en-US" sz="2400" b="0" i="0" dirty="0" err="1">
                <a:effectLst/>
              </a:rPr>
              <a:t>BoW</a:t>
            </a:r>
            <a:r>
              <a:rPr lang="en-US" sz="2400" b="0" i="0" dirty="0">
                <a:effectLst/>
              </a:rPr>
              <a:t>) model is a representation technique used in NLP to convert text documents into numerical vectors.</a:t>
            </a:r>
          </a:p>
          <a:p>
            <a:pPr algn="just"/>
            <a:r>
              <a:rPr lang="en-US" sz="2400" b="0" i="0" dirty="0">
                <a:solidFill>
                  <a:srgbClr val="383838"/>
                </a:solidFill>
                <a:effectLst/>
              </a:rPr>
              <a:t>we can represent a </a:t>
            </a:r>
            <a:r>
              <a:rPr lang="en-US" sz="2400" b="0" i="0" dirty="0">
                <a:solidFill>
                  <a:srgbClr val="7030A0"/>
                </a:solidFill>
                <a:effectLst/>
              </a:rPr>
              <a:t>sentence as a bag of words vecto</a:t>
            </a:r>
            <a:r>
              <a:rPr lang="en-US" sz="2400" b="0" i="0" dirty="0">
                <a:solidFill>
                  <a:srgbClr val="383838"/>
                </a:solidFill>
                <a:effectLst/>
              </a:rPr>
              <a:t>r (a string of numbers).</a:t>
            </a:r>
            <a:endParaRPr lang="en-US" sz="2400" b="1" dirty="0"/>
          </a:p>
          <a:p>
            <a:pPr marL="0" indent="0" algn="just">
              <a:buNone/>
            </a:pPr>
            <a:r>
              <a:rPr lang="en-US" sz="2400" b="1" dirty="0"/>
              <a:t>How does Bag of Words work?</a:t>
            </a:r>
          </a:p>
          <a:p>
            <a:pPr marL="0" indent="0" algn="just">
              <a:buNone/>
            </a:pPr>
            <a:r>
              <a:rPr lang="en-US" sz="2400" b="1" dirty="0"/>
              <a:t>Tokenization</a:t>
            </a:r>
            <a:r>
              <a:rPr lang="en-US" sz="2400" dirty="0"/>
              <a:t>: Break the text into individual words or tokens.</a:t>
            </a:r>
            <a:r>
              <a:rPr lang="en-US" sz="2400" b="0" i="0" dirty="0">
                <a:effectLst/>
              </a:rPr>
              <a:t> </a:t>
            </a:r>
          </a:p>
          <a:p>
            <a:pPr marL="0" indent="0" algn="just">
              <a:buNone/>
            </a:pPr>
            <a:r>
              <a:rPr lang="en-US" sz="2400" b="1" dirty="0"/>
              <a:t>Vocabulary Creation</a:t>
            </a:r>
            <a:r>
              <a:rPr lang="en-US" sz="2400" dirty="0"/>
              <a:t>: Create a vocabulary (a list of unique words) from all the text.</a:t>
            </a:r>
          </a:p>
          <a:p>
            <a:pPr marL="0" indent="0" algn="just">
              <a:buNone/>
            </a:pPr>
            <a:r>
              <a:rPr lang="en-US" sz="2400" b="1" dirty="0"/>
              <a:t>Vector Representation</a:t>
            </a:r>
            <a:r>
              <a:rPr lang="en-US" sz="2400" dirty="0"/>
              <a:t>: For each document, represent it as a vector. </a:t>
            </a:r>
          </a:p>
          <a:p>
            <a:pPr marL="0" indent="0" algn="just">
              <a:buNone/>
            </a:pPr>
            <a:r>
              <a:rPr lang="en-US" sz="2400" dirty="0"/>
              <a:t>The </a:t>
            </a:r>
            <a:r>
              <a:rPr lang="en-US" sz="2400" dirty="0">
                <a:solidFill>
                  <a:srgbClr val="7030A0"/>
                </a:solidFill>
              </a:rPr>
              <a:t>vector's size will be equal to the number of unique words in the vocabulary</a:t>
            </a:r>
            <a:r>
              <a:rPr lang="en-US" sz="2400" dirty="0"/>
              <a:t>, and each element in the vector represents the frequency of the corresponding word in the document.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238684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37CB5-E4FA-7361-5C70-BA95B69E2C78}"/>
            </a:ext>
          </a:extLst>
        </p:cNvPr>
        <p:cNvGrpSpPr/>
        <p:nvPr/>
      </p:nvGrpSpPr>
      <p:grpSpPr>
        <a:xfrm>
          <a:off x="0" y="0"/>
          <a:ext cx="0" cy="0"/>
          <a:chOff x="0" y="0"/>
          <a:chExt cx="0" cy="0"/>
        </a:xfrm>
      </p:grpSpPr>
      <p:graphicFrame>
        <p:nvGraphicFramePr>
          <p:cNvPr id="16" name="Content Placeholder 15">
            <a:extLst>
              <a:ext uri="{FF2B5EF4-FFF2-40B4-BE49-F238E27FC236}">
                <a16:creationId xmlns:a16="http://schemas.microsoft.com/office/drawing/2014/main" id="{B61F7CFE-AF26-840D-09C7-E23213297E2D}"/>
              </a:ext>
            </a:extLst>
          </p:cNvPr>
          <p:cNvGraphicFramePr>
            <a:graphicFrameLocks noGrp="1"/>
          </p:cNvGraphicFramePr>
          <p:nvPr>
            <p:ph idx="1"/>
            <p:extLst>
              <p:ext uri="{D42A27DB-BD31-4B8C-83A1-F6EECF244321}">
                <p14:modId xmlns:p14="http://schemas.microsoft.com/office/powerpoint/2010/main" val="1171758762"/>
              </p:ext>
            </p:extLst>
          </p:nvPr>
        </p:nvGraphicFramePr>
        <p:xfrm>
          <a:off x="355600" y="2774553"/>
          <a:ext cx="10515596" cy="158496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3253251048"/>
                    </a:ext>
                  </a:extLst>
                </a:gridCol>
                <a:gridCol w="1502228">
                  <a:extLst>
                    <a:ext uri="{9D8B030D-6E8A-4147-A177-3AD203B41FA5}">
                      <a16:colId xmlns:a16="http://schemas.microsoft.com/office/drawing/2014/main" val="2640079877"/>
                    </a:ext>
                  </a:extLst>
                </a:gridCol>
                <a:gridCol w="1130660">
                  <a:extLst>
                    <a:ext uri="{9D8B030D-6E8A-4147-A177-3AD203B41FA5}">
                      <a16:colId xmlns:a16="http://schemas.microsoft.com/office/drawing/2014/main" val="1611326669"/>
                    </a:ext>
                  </a:extLst>
                </a:gridCol>
                <a:gridCol w="1873796">
                  <a:extLst>
                    <a:ext uri="{9D8B030D-6E8A-4147-A177-3AD203B41FA5}">
                      <a16:colId xmlns:a16="http://schemas.microsoft.com/office/drawing/2014/main" val="1454804769"/>
                    </a:ext>
                  </a:extLst>
                </a:gridCol>
                <a:gridCol w="1502228">
                  <a:extLst>
                    <a:ext uri="{9D8B030D-6E8A-4147-A177-3AD203B41FA5}">
                      <a16:colId xmlns:a16="http://schemas.microsoft.com/office/drawing/2014/main" val="1373722649"/>
                    </a:ext>
                  </a:extLst>
                </a:gridCol>
                <a:gridCol w="1502228">
                  <a:extLst>
                    <a:ext uri="{9D8B030D-6E8A-4147-A177-3AD203B41FA5}">
                      <a16:colId xmlns:a16="http://schemas.microsoft.com/office/drawing/2014/main" val="1552144200"/>
                    </a:ext>
                  </a:extLst>
                </a:gridCol>
                <a:gridCol w="1502228">
                  <a:extLst>
                    <a:ext uri="{9D8B030D-6E8A-4147-A177-3AD203B41FA5}">
                      <a16:colId xmlns:a16="http://schemas.microsoft.com/office/drawing/2014/main" val="4237644658"/>
                    </a:ext>
                  </a:extLst>
                </a:gridCol>
              </a:tblGrid>
              <a:tr h="370840">
                <a:tc>
                  <a:txBody>
                    <a:bodyPr/>
                    <a:lstStyle/>
                    <a:p>
                      <a:endParaRPr lang="en-IN" sz="2000" dirty="0"/>
                    </a:p>
                  </a:txBody>
                  <a:tcPr/>
                </a:tc>
                <a:tc>
                  <a:txBody>
                    <a:bodyPr/>
                    <a:lstStyle/>
                    <a:p>
                      <a:r>
                        <a:rPr lang="en-IN" sz="2000" dirty="0">
                          <a:solidFill>
                            <a:schemeClr val="bg1"/>
                          </a:solidFill>
                        </a:rPr>
                        <a:t>I</a:t>
                      </a:r>
                    </a:p>
                  </a:txBody>
                  <a:tcPr/>
                </a:tc>
                <a:tc>
                  <a:txBody>
                    <a:bodyPr/>
                    <a:lstStyle/>
                    <a:p>
                      <a:r>
                        <a:rPr lang="en-IN" sz="2000" dirty="0">
                          <a:solidFill>
                            <a:schemeClr val="bg1"/>
                          </a:solidFill>
                        </a:rPr>
                        <a:t>love</a:t>
                      </a:r>
                    </a:p>
                  </a:txBody>
                  <a:tcPr/>
                </a:tc>
                <a:tc>
                  <a:txBody>
                    <a:bodyPr/>
                    <a:lstStyle/>
                    <a:p>
                      <a:r>
                        <a:rPr kumimoji="0" lang="en-US" altLang="en-US" sz="2000" b="0" i="0" u="none" strike="noStrike" cap="none" normalizeH="0" baseline="0" dirty="0">
                          <a:ln>
                            <a:noFill/>
                          </a:ln>
                          <a:solidFill>
                            <a:schemeClr val="bg1"/>
                          </a:solidFill>
                          <a:effectLst/>
                          <a:latin typeface="Arial Unicode MS"/>
                        </a:rPr>
                        <a:t>programming</a:t>
                      </a:r>
                      <a:endParaRPr lang="en-IN" sz="2000" dirty="0">
                        <a:solidFill>
                          <a:schemeClr val="bg1"/>
                        </a:solidFill>
                      </a:endParaRPr>
                    </a:p>
                  </a:txBody>
                  <a:tcPr/>
                </a:tc>
                <a:tc>
                  <a:txBody>
                    <a:bodyPr/>
                    <a:lstStyle/>
                    <a:p>
                      <a:r>
                        <a:rPr lang="en-IN" sz="2000" dirty="0">
                          <a:solidFill>
                            <a:schemeClr val="bg1"/>
                          </a:solidFill>
                        </a:rPr>
                        <a:t>NLP</a:t>
                      </a:r>
                    </a:p>
                  </a:txBody>
                  <a:tcPr/>
                </a:tc>
                <a:tc>
                  <a:txBody>
                    <a:bodyPr/>
                    <a:lstStyle/>
                    <a:p>
                      <a:r>
                        <a:rPr lang="en-IN" sz="2000" dirty="0">
                          <a:solidFill>
                            <a:schemeClr val="bg1"/>
                          </a:solidFill>
                        </a:rPr>
                        <a:t>is</a:t>
                      </a:r>
                    </a:p>
                  </a:txBody>
                  <a:tcPr/>
                </a:tc>
                <a:tc>
                  <a:txBody>
                    <a:bodyPr/>
                    <a:lstStyle/>
                    <a:p>
                      <a:r>
                        <a:rPr lang="en-IN" sz="2000" dirty="0">
                          <a:solidFill>
                            <a:schemeClr val="bg1"/>
                          </a:solidFill>
                        </a:rPr>
                        <a:t>fun</a:t>
                      </a:r>
                    </a:p>
                  </a:txBody>
                  <a:tcPr/>
                </a:tc>
                <a:extLst>
                  <a:ext uri="{0D108BD9-81ED-4DB2-BD59-A6C34878D82A}">
                    <a16:rowId xmlns:a16="http://schemas.microsoft.com/office/drawing/2014/main" val="928649672"/>
                  </a:ext>
                </a:extLst>
              </a:tr>
              <a:tr h="370840">
                <a:tc>
                  <a:txBody>
                    <a:bodyPr/>
                    <a:lstStyle/>
                    <a:p>
                      <a:r>
                        <a:rPr lang="en-IN" sz="2000" dirty="0"/>
                        <a:t>Sentence 1</a:t>
                      </a:r>
                    </a:p>
                  </a:txBody>
                  <a:tcPr/>
                </a:tc>
                <a:tc>
                  <a:txBody>
                    <a:bodyPr/>
                    <a:lstStyle/>
                    <a:p>
                      <a:r>
                        <a:rPr lang="en-IN" sz="2000" dirty="0"/>
                        <a:t>1</a:t>
                      </a:r>
                    </a:p>
                  </a:txBody>
                  <a:tcPr/>
                </a:tc>
                <a:tc>
                  <a:txBody>
                    <a:bodyPr/>
                    <a:lstStyle/>
                    <a:p>
                      <a:r>
                        <a:rPr lang="en-IN" sz="2000" dirty="0"/>
                        <a:t>1</a:t>
                      </a:r>
                    </a:p>
                  </a:txBody>
                  <a:tcPr/>
                </a:tc>
                <a:tc>
                  <a:txBody>
                    <a:bodyPr/>
                    <a:lstStyle/>
                    <a:p>
                      <a:r>
                        <a:rPr lang="en-IN" sz="2000" dirty="0"/>
                        <a:t>1</a:t>
                      </a:r>
                    </a:p>
                  </a:txBody>
                  <a:tcPr/>
                </a:tc>
                <a:tc>
                  <a:txBody>
                    <a:bodyPr/>
                    <a:lstStyle/>
                    <a:p>
                      <a:r>
                        <a:rPr lang="en-IN" sz="2000" dirty="0"/>
                        <a:t>0</a:t>
                      </a:r>
                    </a:p>
                  </a:txBody>
                  <a:tcPr/>
                </a:tc>
                <a:tc>
                  <a:txBody>
                    <a:bodyPr/>
                    <a:lstStyle/>
                    <a:p>
                      <a:r>
                        <a:rPr lang="en-IN" sz="2000" dirty="0"/>
                        <a:t>0</a:t>
                      </a:r>
                    </a:p>
                  </a:txBody>
                  <a:tcPr/>
                </a:tc>
                <a:tc>
                  <a:txBody>
                    <a:bodyPr/>
                    <a:lstStyle/>
                    <a:p>
                      <a:r>
                        <a:rPr lang="en-IN" sz="2000" dirty="0"/>
                        <a:t>0</a:t>
                      </a:r>
                    </a:p>
                  </a:txBody>
                  <a:tcPr/>
                </a:tc>
                <a:extLst>
                  <a:ext uri="{0D108BD9-81ED-4DB2-BD59-A6C34878D82A}">
                    <a16:rowId xmlns:a16="http://schemas.microsoft.com/office/drawing/2014/main" val="2445057120"/>
                  </a:ext>
                </a:extLst>
              </a:tr>
              <a:tr h="370840">
                <a:tc>
                  <a:txBody>
                    <a:bodyPr/>
                    <a:lstStyle/>
                    <a:p>
                      <a:r>
                        <a:rPr lang="en-IN" sz="2000" dirty="0"/>
                        <a:t>Sentence 2</a:t>
                      </a:r>
                    </a:p>
                  </a:txBody>
                  <a:tcPr/>
                </a:tc>
                <a:tc>
                  <a:txBody>
                    <a:bodyPr/>
                    <a:lstStyle/>
                    <a:p>
                      <a:r>
                        <a:rPr lang="en-IN" sz="2000" dirty="0"/>
                        <a:t>1</a:t>
                      </a:r>
                    </a:p>
                  </a:txBody>
                  <a:tcPr/>
                </a:tc>
                <a:tc>
                  <a:txBody>
                    <a:bodyPr/>
                    <a:lstStyle/>
                    <a:p>
                      <a:r>
                        <a:rPr lang="en-IN" sz="2000" dirty="0"/>
                        <a:t>1</a:t>
                      </a:r>
                    </a:p>
                  </a:txBody>
                  <a:tcPr/>
                </a:tc>
                <a:tc>
                  <a:txBody>
                    <a:bodyPr/>
                    <a:lstStyle/>
                    <a:p>
                      <a:r>
                        <a:rPr lang="en-IN" sz="2000" dirty="0"/>
                        <a:t>0</a:t>
                      </a:r>
                    </a:p>
                  </a:txBody>
                  <a:tcPr/>
                </a:tc>
                <a:tc>
                  <a:txBody>
                    <a:bodyPr/>
                    <a:lstStyle/>
                    <a:p>
                      <a:r>
                        <a:rPr lang="en-IN" sz="2000" dirty="0"/>
                        <a:t>1</a:t>
                      </a:r>
                    </a:p>
                  </a:txBody>
                  <a:tcPr/>
                </a:tc>
                <a:tc>
                  <a:txBody>
                    <a:bodyPr/>
                    <a:lstStyle/>
                    <a:p>
                      <a:r>
                        <a:rPr lang="en-IN" sz="2000" dirty="0"/>
                        <a:t>0</a:t>
                      </a:r>
                    </a:p>
                  </a:txBody>
                  <a:tcPr/>
                </a:tc>
                <a:tc>
                  <a:txBody>
                    <a:bodyPr/>
                    <a:lstStyle/>
                    <a:p>
                      <a:r>
                        <a:rPr lang="en-IN" sz="2000" dirty="0"/>
                        <a:t>0</a:t>
                      </a:r>
                    </a:p>
                  </a:txBody>
                  <a:tcPr/>
                </a:tc>
                <a:extLst>
                  <a:ext uri="{0D108BD9-81ED-4DB2-BD59-A6C34878D82A}">
                    <a16:rowId xmlns:a16="http://schemas.microsoft.com/office/drawing/2014/main" val="1386392274"/>
                  </a:ext>
                </a:extLst>
              </a:tr>
              <a:tr h="370840">
                <a:tc>
                  <a:txBody>
                    <a:bodyPr/>
                    <a:lstStyle/>
                    <a:p>
                      <a:r>
                        <a:rPr lang="en-IN" sz="2000" dirty="0"/>
                        <a:t>Sentence 3</a:t>
                      </a:r>
                    </a:p>
                  </a:txBody>
                  <a:tcPr/>
                </a:tc>
                <a:tc>
                  <a:txBody>
                    <a:bodyPr/>
                    <a:lstStyle/>
                    <a:p>
                      <a:r>
                        <a:rPr lang="en-IN" sz="2000" dirty="0"/>
                        <a:t>0</a:t>
                      </a:r>
                    </a:p>
                  </a:txBody>
                  <a:tcPr/>
                </a:tc>
                <a:tc>
                  <a:txBody>
                    <a:bodyPr/>
                    <a:lstStyle/>
                    <a:p>
                      <a:r>
                        <a:rPr lang="en-IN" sz="2000" dirty="0"/>
                        <a:t>0</a:t>
                      </a:r>
                    </a:p>
                  </a:txBody>
                  <a:tcPr/>
                </a:tc>
                <a:tc>
                  <a:txBody>
                    <a:bodyPr/>
                    <a:lstStyle/>
                    <a:p>
                      <a:r>
                        <a:rPr lang="en-IN" sz="2000" dirty="0"/>
                        <a:t>1</a:t>
                      </a:r>
                    </a:p>
                  </a:txBody>
                  <a:tcPr/>
                </a:tc>
                <a:tc>
                  <a:txBody>
                    <a:bodyPr/>
                    <a:lstStyle/>
                    <a:p>
                      <a:r>
                        <a:rPr lang="en-IN" sz="2000" dirty="0"/>
                        <a:t>0</a:t>
                      </a:r>
                    </a:p>
                  </a:txBody>
                  <a:tcPr/>
                </a:tc>
                <a:tc>
                  <a:txBody>
                    <a:bodyPr/>
                    <a:lstStyle/>
                    <a:p>
                      <a:r>
                        <a:rPr lang="en-IN" sz="2000" dirty="0"/>
                        <a:t>1</a:t>
                      </a:r>
                    </a:p>
                  </a:txBody>
                  <a:tcPr/>
                </a:tc>
                <a:tc>
                  <a:txBody>
                    <a:bodyPr/>
                    <a:lstStyle/>
                    <a:p>
                      <a:r>
                        <a:rPr lang="en-IN" sz="2000" dirty="0"/>
                        <a:t>1</a:t>
                      </a:r>
                    </a:p>
                  </a:txBody>
                  <a:tcPr/>
                </a:tc>
                <a:extLst>
                  <a:ext uri="{0D108BD9-81ED-4DB2-BD59-A6C34878D82A}">
                    <a16:rowId xmlns:a16="http://schemas.microsoft.com/office/drawing/2014/main" val="1492721950"/>
                  </a:ext>
                </a:extLst>
              </a:tr>
            </a:tbl>
          </a:graphicData>
        </a:graphic>
      </p:graphicFrame>
      <p:sp>
        <p:nvSpPr>
          <p:cNvPr id="10" name="TextBox 9">
            <a:extLst>
              <a:ext uri="{FF2B5EF4-FFF2-40B4-BE49-F238E27FC236}">
                <a16:creationId xmlns:a16="http://schemas.microsoft.com/office/drawing/2014/main" id="{354CDFB7-1240-1342-9234-DD1998A5D1CB}"/>
              </a:ext>
            </a:extLst>
          </p:cNvPr>
          <p:cNvSpPr txBox="1"/>
          <p:nvPr/>
        </p:nvSpPr>
        <p:spPr>
          <a:xfrm>
            <a:off x="285747" y="638835"/>
            <a:ext cx="291592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FF0000"/>
                </a:solidFill>
                <a:effectLst/>
                <a:latin typeface="Arial" panose="020B0604020202020204" pitchFamily="34" charset="0"/>
              </a:rPr>
              <a:t>Corpus: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 love programming."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 love NLP."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"Programming is fun." </a:t>
            </a:r>
          </a:p>
        </p:txBody>
      </p:sp>
      <p:sp>
        <p:nvSpPr>
          <p:cNvPr id="13" name="TextBox 12">
            <a:extLst>
              <a:ext uri="{FF2B5EF4-FFF2-40B4-BE49-F238E27FC236}">
                <a16:creationId xmlns:a16="http://schemas.microsoft.com/office/drawing/2014/main" id="{E4CFC357-0F77-9AB1-9AA5-B25F57A5BB15}"/>
              </a:ext>
            </a:extLst>
          </p:cNvPr>
          <p:cNvSpPr txBox="1"/>
          <p:nvPr/>
        </p:nvSpPr>
        <p:spPr>
          <a:xfrm>
            <a:off x="8249920" y="731167"/>
            <a:ext cx="3942080"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rPr>
              <a:t>Vocabulary: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 ['I', 'love', 'programming', 'NLP', 'is', 'fun'] </a:t>
            </a:r>
          </a:p>
        </p:txBody>
      </p:sp>
      <p:sp>
        <p:nvSpPr>
          <p:cNvPr id="15" name="TextBox 14">
            <a:extLst>
              <a:ext uri="{FF2B5EF4-FFF2-40B4-BE49-F238E27FC236}">
                <a16:creationId xmlns:a16="http://schemas.microsoft.com/office/drawing/2014/main" id="{048AF7F7-FA76-3226-D324-E7429E463047}"/>
              </a:ext>
            </a:extLst>
          </p:cNvPr>
          <p:cNvSpPr txBox="1"/>
          <p:nvPr/>
        </p:nvSpPr>
        <p:spPr>
          <a:xfrm>
            <a:off x="378458" y="2183201"/>
            <a:ext cx="6096000" cy="430887"/>
          </a:xfrm>
          <a:prstGeom prst="rect">
            <a:avLst/>
          </a:prstGeom>
          <a:noFill/>
        </p:spPr>
        <p:txBody>
          <a:bodyPr wrap="square">
            <a:spAutoFit/>
          </a:bodyPr>
          <a:lstStyle/>
          <a:p>
            <a:r>
              <a:rPr lang="en-US" sz="2200" dirty="0">
                <a:solidFill>
                  <a:srgbClr val="FF0000"/>
                </a:solidFill>
              </a:rPr>
              <a:t>Represent each sentence as a vector</a:t>
            </a:r>
            <a:endParaRPr lang="en-IN" sz="2200" dirty="0">
              <a:solidFill>
                <a:srgbClr val="FF0000"/>
              </a:solidFill>
            </a:endParaRPr>
          </a:p>
        </p:txBody>
      </p:sp>
      <p:sp>
        <p:nvSpPr>
          <p:cNvPr id="19" name="TextBox 18">
            <a:extLst>
              <a:ext uri="{FF2B5EF4-FFF2-40B4-BE49-F238E27FC236}">
                <a16:creationId xmlns:a16="http://schemas.microsoft.com/office/drawing/2014/main" id="{44AD895F-3A09-6E2B-E4B4-2148F034F3EB}"/>
              </a:ext>
            </a:extLst>
          </p:cNvPr>
          <p:cNvSpPr txBox="1"/>
          <p:nvPr/>
        </p:nvSpPr>
        <p:spPr>
          <a:xfrm>
            <a:off x="3651249" y="667388"/>
            <a:ext cx="4373880" cy="1323439"/>
          </a:xfrm>
          <a:prstGeom prst="rect">
            <a:avLst/>
          </a:prstGeom>
          <a:noFill/>
        </p:spPr>
        <p:txBody>
          <a:bodyPr wrap="square">
            <a:spAutoFit/>
          </a:bodyPr>
          <a:lstStyle/>
          <a:p>
            <a:r>
              <a:rPr lang="en-IN" sz="2000" dirty="0">
                <a:solidFill>
                  <a:srgbClr val="FF0000"/>
                </a:solidFill>
              </a:rPr>
              <a:t>Tokenize the sentences</a:t>
            </a:r>
          </a:p>
          <a:p>
            <a:r>
              <a:rPr lang="en-IN" sz="2000" dirty="0"/>
              <a:t>Sentence 1: ['I', 'love', 'programming’]</a:t>
            </a:r>
          </a:p>
          <a:p>
            <a:r>
              <a:rPr lang="en-IN" sz="2000" dirty="0"/>
              <a:t>Sentence 2: ['I', 'love', 'NLP’]</a:t>
            </a:r>
          </a:p>
          <a:p>
            <a:r>
              <a:rPr lang="en-IN" sz="2000" dirty="0"/>
              <a:t>Sentence 3: ['Programming', 'is', 'fun']</a:t>
            </a:r>
          </a:p>
        </p:txBody>
      </p:sp>
      <p:sp>
        <p:nvSpPr>
          <p:cNvPr id="22" name="TextBox 21">
            <a:extLst>
              <a:ext uri="{FF2B5EF4-FFF2-40B4-BE49-F238E27FC236}">
                <a16:creationId xmlns:a16="http://schemas.microsoft.com/office/drawing/2014/main" id="{E3EAE089-8F89-0AAB-B8AD-D56BA4DB9968}"/>
              </a:ext>
            </a:extLst>
          </p:cNvPr>
          <p:cNvSpPr txBox="1"/>
          <p:nvPr/>
        </p:nvSpPr>
        <p:spPr>
          <a:xfrm>
            <a:off x="0" y="4838136"/>
            <a:ext cx="11785600"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Sentence 1: "I love programming."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Vector: </a:t>
            </a:r>
            <a:r>
              <a:rPr kumimoji="0" lang="en-US" altLang="en-US" sz="2000" b="0" i="0" u="none" strike="noStrike" cap="none" normalizeH="0" baseline="0" dirty="0">
                <a:ln>
                  <a:noFill/>
                </a:ln>
                <a:solidFill>
                  <a:schemeClr val="tx1"/>
                </a:solidFill>
                <a:effectLst/>
                <a:latin typeface="Arial Unicode MS"/>
              </a:rPr>
              <a:t>[1, 1, 1, 0, 0, 0]</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Sentence 2: "I love NLP."</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Vector: </a:t>
            </a:r>
            <a:r>
              <a:rPr kumimoji="0" lang="en-US" altLang="en-US" sz="2000" b="0" i="0" u="none" strike="noStrike" cap="none" normalizeH="0" baseline="0" dirty="0">
                <a:ln>
                  <a:noFill/>
                </a:ln>
                <a:solidFill>
                  <a:schemeClr val="tx1"/>
                </a:solidFill>
                <a:effectLst/>
                <a:latin typeface="Arial Unicode MS"/>
              </a:rPr>
              <a:t>[1, 1, 0, 1, 0, 0]</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Sentence 3: "Programming is fun."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Vector: </a:t>
            </a:r>
            <a:r>
              <a:rPr kumimoji="0" lang="en-US" altLang="en-US" sz="2000" b="0" i="0" u="none" strike="noStrike" cap="none" normalizeH="0" baseline="0" dirty="0">
                <a:ln>
                  <a:noFill/>
                </a:ln>
                <a:solidFill>
                  <a:schemeClr val="tx1"/>
                </a:solidFill>
                <a:effectLst/>
                <a:latin typeface="Arial Unicode MS"/>
              </a:rPr>
              <a:t>[0, 0, 1, 0, 1, 1]</a:t>
            </a:r>
            <a:endParaRPr kumimoji="0" lang="en-US" altLang="en-US" sz="2000" b="0" i="0" u="none" strike="noStrike" cap="none" normalizeH="0" baseline="0" dirty="0">
              <a:ln>
                <a:noFill/>
              </a:ln>
              <a:solidFill>
                <a:schemeClr val="tx1"/>
              </a:solidFill>
              <a:effectLst/>
            </a:endParaRPr>
          </a:p>
        </p:txBody>
      </p:sp>
      <p:sp>
        <p:nvSpPr>
          <p:cNvPr id="24" name="TextBox 23">
            <a:extLst>
              <a:ext uri="{FF2B5EF4-FFF2-40B4-BE49-F238E27FC236}">
                <a16:creationId xmlns:a16="http://schemas.microsoft.com/office/drawing/2014/main" id="{FA470858-52BB-35A6-9CBB-D5F221F01827}"/>
              </a:ext>
            </a:extLst>
          </p:cNvPr>
          <p:cNvSpPr txBox="1"/>
          <p:nvPr/>
        </p:nvSpPr>
        <p:spPr>
          <a:xfrm>
            <a:off x="4345936" y="-47075"/>
            <a:ext cx="2278384" cy="553998"/>
          </a:xfrm>
          <a:prstGeom prst="rect">
            <a:avLst/>
          </a:prstGeom>
          <a:noFill/>
        </p:spPr>
        <p:txBody>
          <a:bodyPr wrap="square">
            <a:spAutoFit/>
          </a:bodyPr>
          <a:lstStyle/>
          <a:p>
            <a:pPr algn="ctr"/>
            <a:r>
              <a:rPr kumimoji="0" lang="en-US" altLang="en-US" sz="3000" b="1" i="0" u="none" strike="noStrike" cap="none" normalizeH="0" baseline="0" dirty="0">
                <a:ln>
                  <a:noFill/>
                </a:ln>
                <a:solidFill>
                  <a:srgbClr val="FF0000"/>
                </a:solidFill>
                <a:effectLst/>
                <a:latin typeface="Arial" panose="020B0604020202020204" pitchFamily="34" charset="0"/>
              </a:rPr>
              <a:t>Example-1:</a:t>
            </a:r>
            <a:endParaRPr lang="en-IN" sz="3000" dirty="0">
              <a:solidFill>
                <a:srgbClr val="FF0000"/>
              </a:solidFill>
            </a:endParaRPr>
          </a:p>
        </p:txBody>
      </p:sp>
    </p:spTree>
    <p:extLst>
      <p:ext uri="{BB962C8B-B14F-4D97-AF65-F5344CB8AC3E}">
        <p14:creationId xmlns:p14="http://schemas.microsoft.com/office/powerpoint/2010/main" val="36669384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09A9D-410D-7412-31DD-6D48722E6EBB}"/>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2298DBCB-3B0C-3EF3-4876-452E8D3965C7}"/>
              </a:ext>
            </a:extLst>
          </p:cNvPr>
          <p:cNvSpPr txBox="1"/>
          <p:nvPr/>
        </p:nvSpPr>
        <p:spPr>
          <a:xfrm>
            <a:off x="0" y="667388"/>
            <a:ext cx="5717542" cy="105073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FF0000"/>
                </a:solidFill>
                <a:effectLst/>
              </a:rPr>
              <a:t>Corpus:</a:t>
            </a:r>
          </a:p>
          <a:p>
            <a:pPr algn="l">
              <a:lnSpc>
                <a:spcPts val="2400"/>
              </a:lnSpc>
            </a:pPr>
            <a:r>
              <a:rPr lang="en-US" sz="2400" b="0" i="0" dirty="0">
                <a:solidFill>
                  <a:srgbClr val="242424"/>
                </a:solidFill>
                <a:effectLst/>
                <a:latin typeface="source-serif-pro"/>
              </a:rPr>
              <a:t>“The cat sat on the mat.”</a:t>
            </a:r>
          </a:p>
          <a:p>
            <a:pPr algn="l">
              <a:lnSpc>
                <a:spcPts val="2400"/>
              </a:lnSpc>
            </a:pPr>
            <a:r>
              <a:rPr lang="en-US" sz="2400" b="0" i="0" dirty="0">
                <a:solidFill>
                  <a:srgbClr val="242424"/>
                </a:solidFill>
                <a:effectLst/>
                <a:latin typeface="source-serif-pro"/>
              </a:rPr>
              <a:t>“The dog played in the yard.”</a:t>
            </a:r>
          </a:p>
        </p:txBody>
      </p:sp>
      <p:sp>
        <p:nvSpPr>
          <p:cNvPr id="13" name="TextBox 12">
            <a:extLst>
              <a:ext uri="{FF2B5EF4-FFF2-40B4-BE49-F238E27FC236}">
                <a16:creationId xmlns:a16="http://schemas.microsoft.com/office/drawing/2014/main" id="{9FBFA8AE-CC23-C6D4-54BB-C48C59D7DCDB}"/>
              </a:ext>
            </a:extLst>
          </p:cNvPr>
          <p:cNvSpPr txBox="1"/>
          <p:nvPr/>
        </p:nvSpPr>
        <p:spPr>
          <a:xfrm>
            <a:off x="6400800" y="989173"/>
            <a:ext cx="5717542" cy="116955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FF0000"/>
                </a:solidFill>
                <a:effectLst/>
              </a:rPr>
              <a:t>Vocabulary:</a:t>
            </a:r>
          </a:p>
          <a:p>
            <a:pPr marL="0" marR="0" lvl="0" indent="0" algn="l" defTabSz="914400" rtl="0" eaLnBrk="0" fontAlgn="base" latinLnBrk="0" hangingPunct="0">
              <a:lnSpc>
                <a:spcPct val="100000"/>
              </a:lnSpc>
              <a:spcBef>
                <a:spcPct val="0"/>
              </a:spcBef>
              <a:spcAft>
                <a:spcPct val="0"/>
              </a:spcAft>
              <a:buClrTx/>
              <a:buSzTx/>
              <a:buFontTx/>
              <a:buNone/>
              <a:tabLst/>
            </a:pPr>
            <a:r>
              <a:rPr lang="en-US" sz="2400" b="0" i="0" dirty="0">
                <a:solidFill>
                  <a:srgbClr val="242424"/>
                </a:solidFill>
                <a:effectLst/>
                <a:latin typeface="source-serif-pro"/>
              </a:rPr>
              <a:t>[“the”, “cat”, “sat”, “on”, “mat”, “dog”, “played”, “in”, “yard”]</a:t>
            </a:r>
            <a:endParaRPr kumimoji="0" lang="en-US" altLang="en-US" sz="2200" b="0" i="0" u="none" strike="noStrike" cap="none" normalizeH="0" baseline="0" dirty="0">
              <a:ln>
                <a:noFill/>
              </a:ln>
              <a:solidFill>
                <a:schemeClr val="tx1"/>
              </a:solidFill>
              <a:effectLst/>
            </a:endParaRPr>
          </a:p>
        </p:txBody>
      </p:sp>
      <p:sp>
        <p:nvSpPr>
          <p:cNvPr id="15" name="TextBox 14">
            <a:extLst>
              <a:ext uri="{FF2B5EF4-FFF2-40B4-BE49-F238E27FC236}">
                <a16:creationId xmlns:a16="http://schemas.microsoft.com/office/drawing/2014/main" id="{44CAF3CB-0C22-3291-52B7-482F855CF8C0}"/>
              </a:ext>
            </a:extLst>
          </p:cNvPr>
          <p:cNvSpPr txBox="1"/>
          <p:nvPr/>
        </p:nvSpPr>
        <p:spPr>
          <a:xfrm>
            <a:off x="-113530" y="2376717"/>
            <a:ext cx="6096000" cy="430887"/>
          </a:xfrm>
          <a:prstGeom prst="rect">
            <a:avLst/>
          </a:prstGeom>
          <a:noFill/>
        </p:spPr>
        <p:txBody>
          <a:bodyPr wrap="square">
            <a:spAutoFit/>
          </a:bodyPr>
          <a:lstStyle/>
          <a:p>
            <a:r>
              <a:rPr lang="en-US" sz="2200" dirty="0">
                <a:solidFill>
                  <a:srgbClr val="FF0000"/>
                </a:solidFill>
              </a:rPr>
              <a:t>Represent each sentence as a vector</a:t>
            </a:r>
            <a:endParaRPr lang="en-IN" sz="2200" dirty="0">
              <a:solidFill>
                <a:srgbClr val="FF0000"/>
              </a:solidFill>
            </a:endParaRPr>
          </a:p>
        </p:txBody>
      </p:sp>
      <p:sp>
        <p:nvSpPr>
          <p:cNvPr id="24" name="TextBox 23">
            <a:extLst>
              <a:ext uri="{FF2B5EF4-FFF2-40B4-BE49-F238E27FC236}">
                <a16:creationId xmlns:a16="http://schemas.microsoft.com/office/drawing/2014/main" id="{AB6CC7F8-9D7B-D298-E21A-F0B1F26247EC}"/>
              </a:ext>
            </a:extLst>
          </p:cNvPr>
          <p:cNvSpPr txBox="1"/>
          <p:nvPr/>
        </p:nvSpPr>
        <p:spPr>
          <a:xfrm>
            <a:off x="4345936" y="-47075"/>
            <a:ext cx="2278384" cy="553998"/>
          </a:xfrm>
          <a:prstGeom prst="rect">
            <a:avLst/>
          </a:prstGeom>
          <a:noFill/>
        </p:spPr>
        <p:txBody>
          <a:bodyPr wrap="square">
            <a:spAutoFit/>
          </a:bodyPr>
          <a:lstStyle/>
          <a:p>
            <a:pPr algn="ctr"/>
            <a:r>
              <a:rPr kumimoji="0" lang="en-US" altLang="en-US" sz="3000" b="1" i="0" u="none" strike="noStrike" cap="none" normalizeH="0" baseline="0" dirty="0">
                <a:ln>
                  <a:noFill/>
                </a:ln>
                <a:solidFill>
                  <a:srgbClr val="FF0000"/>
                </a:solidFill>
                <a:effectLst/>
                <a:latin typeface="Arial" panose="020B0604020202020204" pitchFamily="34" charset="0"/>
              </a:rPr>
              <a:t>Example-2:</a:t>
            </a:r>
            <a:endParaRPr lang="en-IN" sz="3000" dirty="0">
              <a:solidFill>
                <a:srgbClr val="FF0000"/>
              </a:solidFill>
            </a:endParaRPr>
          </a:p>
        </p:txBody>
      </p:sp>
      <p:sp>
        <p:nvSpPr>
          <p:cNvPr id="5" name="TextBox 4">
            <a:extLst>
              <a:ext uri="{FF2B5EF4-FFF2-40B4-BE49-F238E27FC236}">
                <a16:creationId xmlns:a16="http://schemas.microsoft.com/office/drawing/2014/main" id="{EC3DF30C-E2C7-8588-9CD5-8665B9EA49E8}"/>
              </a:ext>
            </a:extLst>
          </p:cNvPr>
          <p:cNvSpPr txBox="1"/>
          <p:nvPr/>
        </p:nvSpPr>
        <p:spPr>
          <a:xfrm>
            <a:off x="502920" y="5204959"/>
            <a:ext cx="6121400" cy="1327736"/>
          </a:xfrm>
          <a:prstGeom prst="rect">
            <a:avLst/>
          </a:prstGeom>
          <a:noFill/>
        </p:spPr>
        <p:txBody>
          <a:bodyPr wrap="square">
            <a:spAutoFit/>
          </a:bodyPr>
          <a:lstStyle/>
          <a:p>
            <a:pPr algn="l">
              <a:lnSpc>
                <a:spcPts val="2400"/>
              </a:lnSpc>
            </a:pPr>
            <a:r>
              <a:rPr lang="en-US" sz="2400" b="0" i="0" dirty="0">
                <a:solidFill>
                  <a:srgbClr val="242424"/>
                </a:solidFill>
                <a:effectLst/>
                <a:latin typeface="source-serif-pro"/>
              </a:rPr>
              <a:t>Representing these sentences using </a:t>
            </a:r>
            <a:r>
              <a:rPr lang="en-US" sz="2400" b="0" i="0" dirty="0" err="1">
                <a:solidFill>
                  <a:srgbClr val="242424"/>
                </a:solidFill>
                <a:effectLst/>
                <a:latin typeface="source-serif-pro"/>
              </a:rPr>
              <a:t>BoW</a:t>
            </a:r>
            <a:r>
              <a:rPr lang="en-US" sz="2400" b="0" i="0" dirty="0">
                <a:solidFill>
                  <a:srgbClr val="242424"/>
                </a:solidFill>
                <a:effectLst/>
                <a:latin typeface="source-serif-pro"/>
              </a:rPr>
              <a:t>:</a:t>
            </a:r>
          </a:p>
          <a:p>
            <a:pPr algn="l">
              <a:lnSpc>
                <a:spcPts val="2400"/>
              </a:lnSpc>
              <a:buFont typeface="Arial" panose="020B0604020202020204" pitchFamily="34" charset="0"/>
              <a:buChar char="•"/>
            </a:pPr>
            <a:r>
              <a:rPr lang="en-US" sz="2400" b="0" i="0" dirty="0">
                <a:solidFill>
                  <a:srgbClr val="242424"/>
                </a:solidFill>
                <a:effectLst/>
                <a:latin typeface="source-serif-pro"/>
              </a:rPr>
              <a:t>Sentence 1: [2, 1, 1, 1, 1, 0, 0, 0, 0]</a:t>
            </a:r>
          </a:p>
          <a:p>
            <a:pPr algn="l">
              <a:lnSpc>
                <a:spcPts val="2400"/>
              </a:lnSpc>
              <a:buFont typeface="Arial" panose="020B0604020202020204" pitchFamily="34" charset="0"/>
              <a:buChar char="•"/>
            </a:pPr>
            <a:r>
              <a:rPr lang="en-US" sz="2400" b="0" i="0" dirty="0">
                <a:solidFill>
                  <a:srgbClr val="242424"/>
                </a:solidFill>
                <a:effectLst/>
                <a:latin typeface="source-serif-pro"/>
              </a:rPr>
              <a:t>Sentence 2: [2, 0, 0, 0, 0, 1, 1, 1, 1,]</a:t>
            </a:r>
          </a:p>
          <a:p>
            <a:pPr algn="l">
              <a:lnSpc>
                <a:spcPts val="2400"/>
              </a:lnSpc>
            </a:pPr>
            <a:endParaRPr lang="en-US" sz="2400" b="0" i="0" dirty="0">
              <a:solidFill>
                <a:srgbClr val="242424"/>
              </a:solidFill>
              <a:effectLst/>
              <a:latin typeface="source-serif-pro"/>
            </a:endParaRPr>
          </a:p>
        </p:txBody>
      </p:sp>
      <p:graphicFrame>
        <p:nvGraphicFramePr>
          <p:cNvPr id="3073" name="Table 3072">
            <a:extLst>
              <a:ext uri="{FF2B5EF4-FFF2-40B4-BE49-F238E27FC236}">
                <a16:creationId xmlns:a16="http://schemas.microsoft.com/office/drawing/2014/main" id="{2EC0CF64-30B3-C692-CCF6-1EAF2CC141B3}"/>
              </a:ext>
            </a:extLst>
          </p:cNvPr>
          <p:cNvGraphicFramePr>
            <a:graphicFrameLocks noGrp="1"/>
          </p:cNvGraphicFramePr>
          <p:nvPr>
            <p:extLst>
              <p:ext uri="{D42A27DB-BD31-4B8C-83A1-F6EECF244321}">
                <p14:modId xmlns:p14="http://schemas.microsoft.com/office/powerpoint/2010/main" val="3704292757"/>
              </p:ext>
            </p:extLst>
          </p:nvPr>
        </p:nvGraphicFramePr>
        <p:xfrm>
          <a:off x="1653542" y="2783175"/>
          <a:ext cx="8128000" cy="111252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399437417"/>
                    </a:ext>
                  </a:extLst>
                </a:gridCol>
                <a:gridCol w="812800">
                  <a:extLst>
                    <a:ext uri="{9D8B030D-6E8A-4147-A177-3AD203B41FA5}">
                      <a16:colId xmlns:a16="http://schemas.microsoft.com/office/drawing/2014/main" val="1023567835"/>
                    </a:ext>
                  </a:extLst>
                </a:gridCol>
                <a:gridCol w="812800">
                  <a:extLst>
                    <a:ext uri="{9D8B030D-6E8A-4147-A177-3AD203B41FA5}">
                      <a16:colId xmlns:a16="http://schemas.microsoft.com/office/drawing/2014/main" val="159022981"/>
                    </a:ext>
                  </a:extLst>
                </a:gridCol>
                <a:gridCol w="812800">
                  <a:extLst>
                    <a:ext uri="{9D8B030D-6E8A-4147-A177-3AD203B41FA5}">
                      <a16:colId xmlns:a16="http://schemas.microsoft.com/office/drawing/2014/main" val="4196398160"/>
                    </a:ext>
                  </a:extLst>
                </a:gridCol>
                <a:gridCol w="812800">
                  <a:extLst>
                    <a:ext uri="{9D8B030D-6E8A-4147-A177-3AD203B41FA5}">
                      <a16:colId xmlns:a16="http://schemas.microsoft.com/office/drawing/2014/main" val="1848733419"/>
                    </a:ext>
                  </a:extLst>
                </a:gridCol>
                <a:gridCol w="812800">
                  <a:extLst>
                    <a:ext uri="{9D8B030D-6E8A-4147-A177-3AD203B41FA5}">
                      <a16:colId xmlns:a16="http://schemas.microsoft.com/office/drawing/2014/main" val="1572162542"/>
                    </a:ext>
                  </a:extLst>
                </a:gridCol>
                <a:gridCol w="812800">
                  <a:extLst>
                    <a:ext uri="{9D8B030D-6E8A-4147-A177-3AD203B41FA5}">
                      <a16:colId xmlns:a16="http://schemas.microsoft.com/office/drawing/2014/main" val="1273366083"/>
                    </a:ext>
                  </a:extLst>
                </a:gridCol>
                <a:gridCol w="812800">
                  <a:extLst>
                    <a:ext uri="{9D8B030D-6E8A-4147-A177-3AD203B41FA5}">
                      <a16:colId xmlns:a16="http://schemas.microsoft.com/office/drawing/2014/main" val="3757546372"/>
                    </a:ext>
                  </a:extLst>
                </a:gridCol>
                <a:gridCol w="812800">
                  <a:extLst>
                    <a:ext uri="{9D8B030D-6E8A-4147-A177-3AD203B41FA5}">
                      <a16:colId xmlns:a16="http://schemas.microsoft.com/office/drawing/2014/main" val="2510843183"/>
                    </a:ext>
                  </a:extLst>
                </a:gridCol>
                <a:gridCol w="812800">
                  <a:extLst>
                    <a:ext uri="{9D8B030D-6E8A-4147-A177-3AD203B41FA5}">
                      <a16:colId xmlns:a16="http://schemas.microsoft.com/office/drawing/2014/main" val="2341881747"/>
                    </a:ext>
                  </a:extLst>
                </a:gridCol>
              </a:tblGrid>
              <a:tr h="370840">
                <a:tc>
                  <a:txBody>
                    <a:bodyPr/>
                    <a:lstStyle/>
                    <a:p>
                      <a:endParaRPr lang="en-IN" dirty="0"/>
                    </a:p>
                  </a:txBody>
                  <a:tcPr/>
                </a:tc>
                <a:tc>
                  <a:txBody>
                    <a:bodyPr/>
                    <a:lstStyle/>
                    <a:p>
                      <a:r>
                        <a:rPr lang="en-IN" dirty="0"/>
                        <a:t>the</a:t>
                      </a:r>
                    </a:p>
                  </a:txBody>
                  <a:tcPr/>
                </a:tc>
                <a:tc>
                  <a:txBody>
                    <a:bodyPr/>
                    <a:lstStyle/>
                    <a:p>
                      <a:r>
                        <a:rPr lang="en-IN" dirty="0"/>
                        <a:t>cat</a:t>
                      </a:r>
                    </a:p>
                  </a:txBody>
                  <a:tcPr/>
                </a:tc>
                <a:tc>
                  <a:txBody>
                    <a:bodyPr/>
                    <a:lstStyle/>
                    <a:p>
                      <a:r>
                        <a:rPr lang="en-IN" dirty="0"/>
                        <a:t>sat</a:t>
                      </a:r>
                    </a:p>
                  </a:txBody>
                  <a:tcPr/>
                </a:tc>
                <a:tc>
                  <a:txBody>
                    <a:bodyPr/>
                    <a:lstStyle/>
                    <a:p>
                      <a:r>
                        <a:rPr lang="en-IN" dirty="0"/>
                        <a:t>on</a:t>
                      </a:r>
                    </a:p>
                  </a:txBody>
                  <a:tcPr/>
                </a:tc>
                <a:tc>
                  <a:txBody>
                    <a:bodyPr/>
                    <a:lstStyle/>
                    <a:p>
                      <a:r>
                        <a:rPr lang="en-IN" dirty="0"/>
                        <a:t>mat</a:t>
                      </a:r>
                    </a:p>
                  </a:txBody>
                  <a:tcPr/>
                </a:tc>
                <a:tc>
                  <a:txBody>
                    <a:bodyPr/>
                    <a:lstStyle/>
                    <a:p>
                      <a:r>
                        <a:rPr lang="en-IN" dirty="0"/>
                        <a:t>dog</a:t>
                      </a:r>
                    </a:p>
                  </a:txBody>
                  <a:tcPr/>
                </a:tc>
                <a:tc>
                  <a:txBody>
                    <a:bodyPr/>
                    <a:lstStyle/>
                    <a:p>
                      <a:r>
                        <a:rPr lang="en-IN" dirty="0"/>
                        <a:t>played</a:t>
                      </a:r>
                    </a:p>
                  </a:txBody>
                  <a:tcPr/>
                </a:tc>
                <a:tc>
                  <a:txBody>
                    <a:bodyPr/>
                    <a:lstStyle/>
                    <a:p>
                      <a:r>
                        <a:rPr lang="en-IN" dirty="0"/>
                        <a:t>in</a:t>
                      </a:r>
                    </a:p>
                  </a:txBody>
                  <a:tcPr/>
                </a:tc>
                <a:tc>
                  <a:txBody>
                    <a:bodyPr/>
                    <a:lstStyle/>
                    <a:p>
                      <a:r>
                        <a:rPr lang="en-IN" dirty="0"/>
                        <a:t>yard</a:t>
                      </a:r>
                    </a:p>
                  </a:txBody>
                  <a:tcPr/>
                </a:tc>
                <a:extLst>
                  <a:ext uri="{0D108BD9-81ED-4DB2-BD59-A6C34878D82A}">
                    <a16:rowId xmlns:a16="http://schemas.microsoft.com/office/drawing/2014/main" val="3058144443"/>
                  </a:ext>
                </a:extLst>
              </a:tr>
              <a:tr h="370840">
                <a:tc>
                  <a:txBody>
                    <a:bodyPr/>
                    <a:lstStyle/>
                    <a:p>
                      <a:r>
                        <a:rPr lang="en-IN" dirty="0"/>
                        <a:t>D1</a:t>
                      </a:r>
                    </a:p>
                  </a:txBody>
                  <a:tcPr/>
                </a:tc>
                <a:tc>
                  <a:txBody>
                    <a:bodyPr/>
                    <a:lstStyle/>
                    <a:p>
                      <a:r>
                        <a:rPr lang="en-IN" dirty="0"/>
                        <a:t>2</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extLst>
                  <a:ext uri="{0D108BD9-81ED-4DB2-BD59-A6C34878D82A}">
                    <a16:rowId xmlns:a16="http://schemas.microsoft.com/office/drawing/2014/main" val="3211016036"/>
                  </a:ext>
                </a:extLst>
              </a:tr>
              <a:tr h="370840">
                <a:tc>
                  <a:txBody>
                    <a:bodyPr/>
                    <a:lstStyle/>
                    <a:p>
                      <a:r>
                        <a:rPr lang="en-IN" dirty="0"/>
                        <a:t>D2</a:t>
                      </a:r>
                    </a:p>
                  </a:txBody>
                  <a:tcPr/>
                </a:tc>
                <a:tc>
                  <a:txBody>
                    <a:bodyPr/>
                    <a:lstStyle/>
                    <a:p>
                      <a:r>
                        <a:rPr lang="en-IN" dirty="0"/>
                        <a:t>2</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0</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tc>
                  <a:txBody>
                    <a:bodyPr/>
                    <a:lstStyle/>
                    <a:p>
                      <a:r>
                        <a:rPr lang="en-IN" dirty="0"/>
                        <a:t>1</a:t>
                      </a:r>
                    </a:p>
                  </a:txBody>
                  <a:tcPr/>
                </a:tc>
                <a:extLst>
                  <a:ext uri="{0D108BD9-81ED-4DB2-BD59-A6C34878D82A}">
                    <a16:rowId xmlns:a16="http://schemas.microsoft.com/office/drawing/2014/main" val="1464517399"/>
                  </a:ext>
                </a:extLst>
              </a:tr>
            </a:tbl>
          </a:graphicData>
        </a:graphic>
      </p:graphicFrame>
    </p:spTree>
    <p:extLst>
      <p:ext uri="{BB962C8B-B14F-4D97-AF65-F5344CB8AC3E}">
        <p14:creationId xmlns:p14="http://schemas.microsoft.com/office/powerpoint/2010/main" val="26107900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DAFA0-EAF9-8E7B-54A0-8A0D718CD9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A91F51-EBB5-418B-FC2F-3E27C8DB9705}"/>
              </a:ext>
            </a:extLst>
          </p:cNvPr>
          <p:cNvSpPr txBox="1"/>
          <p:nvPr/>
        </p:nvSpPr>
        <p:spPr>
          <a:xfrm>
            <a:off x="558800" y="1120676"/>
            <a:ext cx="11135360" cy="4154984"/>
          </a:xfrm>
          <a:prstGeom prst="rect">
            <a:avLst/>
          </a:prstGeom>
          <a:noFill/>
        </p:spPr>
        <p:txBody>
          <a:bodyPr wrap="square">
            <a:spAutoFit/>
          </a:bodyPr>
          <a:lstStyle/>
          <a:p>
            <a:pPr algn="just"/>
            <a:r>
              <a:rPr lang="en-US" sz="2400" b="1" dirty="0">
                <a:solidFill>
                  <a:srgbClr val="FF0000"/>
                </a:solidFill>
              </a:rPr>
              <a:t>High-dimensionality</a:t>
            </a:r>
          </a:p>
          <a:p>
            <a:pPr marL="342900" indent="-342900" algn="just">
              <a:buFont typeface="Arial" panose="020B0604020202020204" pitchFamily="34" charset="0"/>
              <a:buChar char="•"/>
            </a:pPr>
            <a:r>
              <a:rPr lang="en-US" sz="2400" dirty="0"/>
              <a:t> As the number of words increases, the feature space grows, making models computationally expensive.</a:t>
            </a:r>
          </a:p>
          <a:p>
            <a:pPr algn="just"/>
            <a:r>
              <a:rPr lang="en-US" sz="2400" b="1" dirty="0">
                <a:solidFill>
                  <a:srgbClr val="FF0000"/>
                </a:solidFill>
              </a:rPr>
              <a:t>Sparsity</a:t>
            </a:r>
            <a:endParaRPr lang="en-US" sz="2400" dirty="0">
              <a:solidFill>
                <a:srgbClr val="FF0000"/>
              </a:solidFill>
            </a:endParaRPr>
          </a:p>
          <a:p>
            <a:pPr marL="342900" indent="-342900" algn="just">
              <a:buFont typeface="Arial" panose="020B0604020202020204" pitchFamily="34" charset="0"/>
              <a:buChar char="•"/>
            </a:pPr>
            <a:r>
              <a:rPr lang="en-US" sz="2400" dirty="0"/>
              <a:t>The vector representation can be sparse, especially with a large vocabulary.</a:t>
            </a:r>
          </a:p>
          <a:p>
            <a:pPr algn="just"/>
            <a:r>
              <a:rPr lang="en-US" sz="2400" b="1" dirty="0">
                <a:solidFill>
                  <a:srgbClr val="FF0000"/>
                </a:solidFill>
              </a:rPr>
              <a:t>Ignoring Word Order</a:t>
            </a:r>
          </a:p>
          <a:p>
            <a:pPr marL="342900" indent="-342900" algn="just">
              <a:buFont typeface="Arial" panose="020B0604020202020204" pitchFamily="34" charset="0"/>
              <a:buChar char="•"/>
            </a:pPr>
            <a:r>
              <a:rPr lang="en-US" sz="2400" dirty="0"/>
              <a:t> </a:t>
            </a:r>
            <a:r>
              <a:rPr lang="en-US" sz="2400" dirty="0" err="1"/>
              <a:t>BoW</a:t>
            </a:r>
            <a:r>
              <a:rPr lang="en-US" sz="2400" dirty="0"/>
              <a:t> does not consider the word order in a sentence, which may lead to losing important context.</a:t>
            </a:r>
          </a:p>
          <a:p>
            <a:pPr algn="just"/>
            <a:r>
              <a:rPr lang="en-US" sz="2400" b="1" dirty="0">
                <a:solidFill>
                  <a:srgbClr val="FF0000"/>
                </a:solidFill>
              </a:rPr>
              <a:t>Ignores Context and Semantic Relationships</a:t>
            </a:r>
          </a:p>
          <a:p>
            <a:pPr marL="342900" indent="-342900" algn="just">
              <a:buFont typeface="Arial" panose="020B0604020202020204" pitchFamily="34" charset="0"/>
              <a:buChar char="•"/>
            </a:pPr>
            <a:r>
              <a:rPr lang="en-US" sz="2400" dirty="0"/>
              <a:t>It does not capture relationships between words or their meanings, leading to limitations in understanding  context.</a:t>
            </a:r>
          </a:p>
        </p:txBody>
      </p:sp>
      <p:sp>
        <p:nvSpPr>
          <p:cNvPr id="2" name="Title 1">
            <a:extLst>
              <a:ext uri="{FF2B5EF4-FFF2-40B4-BE49-F238E27FC236}">
                <a16:creationId xmlns:a16="http://schemas.microsoft.com/office/drawing/2014/main" id="{6278E40D-037D-4D1F-A57D-AA6A07D3E707}"/>
              </a:ext>
            </a:extLst>
          </p:cNvPr>
          <p:cNvSpPr>
            <a:spLocks noGrp="1"/>
          </p:cNvSpPr>
          <p:nvPr>
            <p:ph type="title"/>
          </p:nvPr>
        </p:nvSpPr>
        <p:spPr>
          <a:xfrm>
            <a:off x="838200" y="0"/>
            <a:ext cx="10515600" cy="810532"/>
          </a:xfrm>
        </p:spPr>
        <p:txBody>
          <a:bodyPr>
            <a:normAutofit/>
          </a:bodyPr>
          <a:lstStyle/>
          <a:p>
            <a:pPr algn="ctr"/>
            <a:r>
              <a:rPr lang="en-US" sz="4000" b="1" dirty="0">
                <a:solidFill>
                  <a:srgbClr val="FF0000"/>
                </a:solidFill>
              </a:rPr>
              <a:t>Limitations</a:t>
            </a:r>
          </a:p>
        </p:txBody>
      </p:sp>
    </p:spTree>
    <p:extLst>
      <p:ext uri="{BB962C8B-B14F-4D97-AF65-F5344CB8AC3E}">
        <p14:creationId xmlns:p14="http://schemas.microsoft.com/office/powerpoint/2010/main" val="33177475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C73F8-3A30-CB63-177D-0920FD013F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8816893-4786-4CEA-2FFC-48E37DDBE9E0}"/>
              </a:ext>
            </a:extLst>
          </p:cNvPr>
          <p:cNvSpPr txBox="1"/>
          <p:nvPr/>
        </p:nvSpPr>
        <p:spPr>
          <a:xfrm>
            <a:off x="142240" y="112707"/>
            <a:ext cx="9987280" cy="6370975"/>
          </a:xfrm>
          <a:prstGeom prst="rect">
            <a:avLst/>
          </a:prstGeom>
          <a:noFill/>
        </p:spPr>
        <p:txBody>
          <a:bodyPr wrap="square">
            <a:spAutoFit/>
          </a:bodyPr>
          <a:lstStyle/>
          <a:p>
            <a:r>
              <a:rPr lang="en-IN" sz="1700" dirty="0">
                <a:latin typeface="Cascadia Code" panose="020B0609020000020004" pitchFamily="49" charset="0"/>
                <a:ea typeface="Cascadia Code" panose="020B0609020000020004" pitchFamily="49" charset="0"/>
                <a:cs typeface="Cascadia Code" panose="020B0609020000020004" pitchFamily="49" charset="0"/>
              </a:rPr>
              <a:t>from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sklearn.feature_extraction.text</a:t>
            </a:r>
            <a:r>
              <a:rPr lang="en-IN" sz="1700" dirty="0">
                <a:latin typeface="Cascadia Code" panose="020B0609020000020004" pitchFamily="49" charset="0"/>
                <a:ea typeface="Cascadia Code" panose="020B0609020000020004" pitchFamily="49" charset="0"/>
                <a:cs typeface="Cascadia Code" panose="020B0609020000020004" pitchFamily="49" charset="0"/>
              </a:rPr>
              <a:t> import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CountVectorizer</a:t>
            </a:r>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latin typeface="Cascadia Code" panose="020B0609020000020004" pitchFamily="49" charset="0"/>
                <a:ea typeface="Cascadia Code" panose="020B0609020000020004" pitchFamily="49" charset="0"/>
                <a:cs typeface="Cascadia Code" panose="020B0609020000020004" pitchFamily="49" charset="0"/>
              </a:rPr>
              <a:t>documents = [</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"This movie is very scary and long",</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"This movie is not scary and is slow",</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"This movie is spooky and good"</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a:t>
            </a: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Initialize the </a:t>
            </a:r>
            <a:r>
              <a:rPr lang="en-IN" sz="1700" dirty="0" err="1">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CountVectorizer</a:t>
            </a:r>
            <a:endPar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latin typeface="Cascadia Code" panose="020B0609020000020004" pitchFamily="49" charset="0"/>
                <a:ea typeface="Cascadia Code" panose="020B0609020000020004" pitchFamily="49" charset="0"/>
                <a:cs typeface="Cascadia Code" panose="020B0609020000020004" pitchFamily="49" charset="0"/>
              </a:rPr>
              <a:t>vectorizer = </a:t>
            </a:r>
            <a:r>
              <a:rPr lang="en-IN" sz="17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CountVectorizer</a:t>
            </a:r>
            <a:r>
              <a:rPr lang="en-IN" sz="17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a:t>
            </a: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Fit and transform the documents into the Bag of Words representation</a:t>
            </a:r>
          </a:p>
          <a:p>
            <a:r>
              <a:rPr lang="en-IN" sz="1700" dirty="0" err="1">
                <a:latin typeface="Cascadia Code" panose="020B0609020000020004" pitchFamily="49" charset="0"/>
                <a:ea typeface="Cascadia Code" panose="020B0609020000020004" pitchFamily="49" charset="0"/>
                <a:cs typeface="Cascadia Code" panose="020B0609020000020004" pitchFamily="49" charset="0"/>
              </a:rPr>
              <a:t>bow_matrix</a:t>
            </a:r>
            <a:r>
              <a:rPr lang="en-IN" sz="1700" dirty="0">
                <a:latin typeface="Cascadia Code" panose="020B0609020000020004" pitchFamily="49" charset="0"/>
                <a:ea typeface="Cascadia Code" panose="020B0609020000020004" pitchFamily="49" charset="0"/>
                <a:cs typeface="Cascadia Code" panose="020B0609020000020004" pitchFamily="49" charset="0"/>
              </a:rPr>
              <a:t> = </a:t>
            </a:r>
            <a:r>
              <a:rPr lang="en-IN" sz="17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vectorizer.fit_transform</a:t>
            </a:r>
            <a:r>
              <a:rPr lang="en-IN" sz="17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(documents)</a:t>
            </a: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Get the feature names (unique words in the corpus)</a:t>
            </a:r>
          </a:p>
          <a:p>
            <a:r>
              <a:rPr lang="en-IN" sz="1700" dirty="0" err="1">
                <a:latin typeface="Cascadia Code" panose="020B0609020000020004" pitchFamily="49" charset="0"/>
                <a:ea typeface="Cascadia Code" panose="020B0609020000020004" pitchFamily="49" charset="0"/>
                <a:cs typeface="Cascadia Code" panose="020B0609020000020004" pitchFamily="49" charset="0"/>
              </a:rPr>
              <a:t>feature_names</a:t>
            </a:r>
            <a:r>
              <a:rPr lang="en-IN" sz="1700" dirty="0">
                <a:latin typeface="Cascadia Code" panose="020B0609020000020004" pitchFamily="49" charset="0"/>
                <a:ea typeface="Cascadia Code" panose="020B0609020000020004" pitchFamily="49" charset="0"/>
                <a:cs typeface="Cascadia Code" panose="020B0609020000020004" pitchFamily="49" charset="0"/>
              </a:rPr>
              <a:t> = </a:t>
            </a:r>
            <a:r>
              <a:rPr lang="en-IN" sz="17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vectorizer.get_feature_names_out</a:t>
            </a:r>
            <a:r>
              <a:rPr lang="en-IN" sz="17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a:t>
            </a: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Convert the </a:t>
            </a:r>
            <a:r>
              <a:rPr lang="en-IN" sz="1700" dirty="0" err="1">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BoW</a:t>
            </a:r>
            <a:r>
              <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matrix to an array for better visualization</a:t>
            </a:r>
          </a:p>
          <a:p>
            <a:r>
              <a:rPr lang="en-IN" sz="1700" dirty="0" err="1">
                <a:latin typeface="Cascadia Code" panose="020B0609020000020004" pitchFamily="49" charset="0"/>
                <a:ea typeface="Cascadia Code" panose="020B0609020000020004" pitchFamily="49" charset="0"/>
                <a:cs typeface="Cascadia Code" panose="020B0609020000020004" pitchFamily="49" charset="0"/>
              </a:rPr>
              <a:t>bow_array</a:t>
            </a:r>
            <a:r>
              <a:rPr lang="en-IN" sz="1700" dirty="0">
                <a:latin typeface="Cascadia Code" panose="020B0609020000020004" pitchFamily="49" charset="0"/>
                <a:ea typeface="Cascadia Code" panose="020B0609020000020004" pitchFamily="49" charset="0"/>
                <a:cs typeface="Cascadia Code" panose="020B0609020000020004" pitchFamily="49" charset="0"/>
              </a:rPr>
              <a:t> = </a:t>
            </a:r>
            <a:r>
              <a:rPr lang="en-IN" sz="1700" dirty="0" err="1">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bow_matrix.toarray</a:t>
            </a:r>
            <a:r>
              <a:rPr lang="en-IN" sz="1700"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rPr>
              <a:t>()</a:t>
            </a: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Display the </a:t>
            </a:r>
            <a:r>
              <a:rPr lang="en-IN" sz="1700" dirty="0" err="1">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BoW</a:t>
            </a:r>
            <a:r>
              <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matrix</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print("Feature Names:",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feature_names</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print("\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nBag</a:t>
            </a:r>
            <a:r>
              <a:rPr lang="en-IN" sz="1700" dirty="0">
                <a:latin typeface="Cascadia Code" panose="020B0609020000020004" pitchFamily="49" charset="0"/>
                <a:ea typeface="Cascadia Code" panose="020B0609020000020004" pitchFamily="49" charset="0"/>
                <a:cs typeface="Cascadia Code" panose="020B0609020000020004" pitchFamily="49" charset="0"/>
              </a:rPr>
              <a:t> of Words Matrix:")</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print(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bow_array</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p:txBody>
      </p:sp>
      <p:pic>
        <p:nvPicPr>
          <p:cNvPr id="6" name="Picture 5">
            <a:extLst>
              <a:ext uri="{FF2B5EF4-FFF2-40B4-BE49-F238E27FC236}">
                <a16:creationId xmlns:a16="http://schemas.microsoft.com/office/drawing/2014/main" id="{58AE7922-29CE-6AE6-41DB-BC05F2DF3BFA}"/>
              </a:ext>
            </a:extLst>
          </p:cNvPr>
          <p:cNvPicPr>
            <a:picLocks noChangeAspect="1"/>
          </p:cNvPicPr>
          <p:nvPr/>
        </p:nvPicPr>
        <p:blipFill>
          <a:blip r:embed="rId2"/>
          <a:stretch>
            <a:fillRect/>
          </a:stretch>
        </p:blipFill>
        <p:spPr>
          <a:xfrm>
            <a:off x="5289381" y="5481577"/>
            <a:ext cx="6902620" cy="1376423"/>
          </a:xfrm>
          <a:prstGeom prst="rect">
            <a:avLst/>
          </a:prstGeom>
        </p:spPr>
      </p:pic>
    </p:spTree>
    <p:extLst>
      <p:ext uri="{BB962C8B-B14F-4D97-AF65-F5344CB8AC3E}">
        <p14:creationId xmlns:p14="http://schemas.microsoft.com/office/powerpoint/2010/main" val="324373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BA7C-8942-01A2-29CA-B7A146F47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3D187-6608-93C7-D911-A7A06814C418}"/>
              </a:ext>
            </a:extLst>
          </p:cNvPr>
          <p:cNvSpPr>
            <a:spLocks noGrp="1"/>
          </p:cNvSpPr>
          <p:nvPr>
            <p:ph type="title"/>
          </p:nvPr>
        </p:nvSpPr>
        <p:spPr>
          <a:xfrm>
            <a:off x="838200" y="0"/>
            <a:ext cx="10515600" cy="810532"/>
          </a:xfrm>
        </p:spPr>
        <p:txBody>
          <a:bodyPr>
            <a:normAutofit/>
          </a:bodyPr>
          <a:lstStyle/>
          <a:p>
            <a:pPr algn="ctr"/>
            <a:r>
              <a:rPr lang="en-US" sz="4000" kern="150" dirty="0">
                <a:solidFill>
                  <a:srgbClr val="FF0000"/>
                </a:solidFill>
                <a:effectLst/>
                <a:ea typeface="Calibri" panose="020F0502020204030204" pitchFamily="34" charset="0"/>
                <a:cs typeface="Times New Roman" panose="02020603050405020304" pitchFamily="18" charset="0"/>
              </a:rPr>
              <a:t>TF-IDF</a:t>
            </a:r>
            <a:endParaRPr lang="en-US" sz="4000" b="1" kern="150" dirty="0">
              <a:solidFill>
                <a:srgbClr val="FF0000"/>
              </a:solidFill>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836255-65D2-A7E3-3AD2-E9A9959E4043}"/>
              </a:ext>
            </a:extLst>
          </p:cNvPr>
          <p:cNvSpPr>
            <a:spLocks noGrp="1"/>
          </p:cNvSpPr>
          <p:nvPr>
            <p:ph idx="1"/>
          </p:nvPr>
        </p:nvSpPr>
        <p:spPr>
          <a:xfrm>
            <a:off x="142240" y="810532"/>
            <a:ext cx="12049760" cy="6047468"/>
          </a:xfrm>
        </p:spPr>
        <p:txBody>
          <a:bodyPr>
            <a:noAutofit/>
          </a:bodyPr>
          <a:lstStyle/>
          <a:p>
            <a:pPr algn="just"/>
            <a:r>
              <a:rPr lang="en-US" sz="2400" dirty="0"/>
              <a:t>In all the two approaches, all the words in the text are treated as equally important—there is no notion of some words in the document being more important than others. </a:t>
            </a:r>
          </a:p>
          <a:p>
            <a:pPr algn="just"/>
            <a:r>
              <a:rPr lang="en-US" sz="2400" dirty="0"/>
              <a:t>TF-IDF, or </a:t>
            </a:r>
            <a:r>
              <a:rPr lang="en-US" sz="2400" dirty="0">
                <a:solidFill>
                  <a:srgbClr val="7030A0"/>
                </a:solidFill>
              </a:rPr>
              <a:t>term frequency–inverse document frequency</a:t>
            </a:r>
            <a:r>
              <a:rPr lang="en-US" sz="2400" dirty="0"/>
              <a:t>, addresses this issue. </a:t>
            </a:r>
          </a:p>
          <a:p>
            <a:pPr algn="just"/>
            <a:r>
              <a:rPr lang="en-US" sz="2400" dirty="0"/>
              <a:t>It aims to quantify the importance of a given word relative to other words in the document and in the corpus.</a:t>
            </a:r>
          </a:p>
          <a:p>
            <a:pPr algn="just"/>
            <a:r>
              <a:rPr lang="en-US" sz="2400" b="0" i="0" dirty="0">
                <a:effectLst/>
              </a:rPr>
              <a:t>This creates a numerical representation where higher scores indicate greater relevance.</a:t>
            </a:r>
          </a:p>
          <a:p>
            <a:pPr algn="just"/>
            <a:r>
              <a:rPr lang="en-US" sz="2400" dirty="0"/>
              <a:t>Mathematically, this is captured using two quantities: </a:t>
            </a:r>
            <a:r>
              <a:rPr lang="en-US" sz="2400" dirty="0">
                <a:solidFill>
                  <a:srgbClr val="7030A0"/>
                </a:solidFill>
              </a:rPr>
              <a:t>TF </a:t>
            </a:r>
            <a:r>
              <a:rPr lang="en-US" sz="2400" dirty="0"/>
              <a:t>and </a:t>
            </a:r>
            <a:r>
              <a:rPr lang="en-US" sz="2400" dirty="0">
                <a:solidFill>
                  <a:srgbClr val="7030A0"/>
                </a:solidFill>
              </a:rPr>
              <a:t>IDF</a:t>
            </a:r>
            <a:r>
              <a:rPr lang="en-US" sz="2400" dirty="0"/>
              <a:t>. </a:t>
            </a:r>
            <a:endParaRPr lang="en-US" sz="2400" b="0" i="0" dirty="0">
              <a:effectLst/>
            </a:endParaRPr>
          </a:p>
          <a:p>
            <a:pPr algn="just"/>
            <a:r>
              <a:rPr lang="en-US" sz="2400" dirty="0"/>
              <a:t>TF (</a:t>
            </a:r>
            <a:r>
              <a:rPr lang="en-US" sz="2400" dirty="0">
                <a:solidFill>
                  <a:srgbClr val="7030A0"/>
                </a:solidFill>
              </a:rPr>
              <a:t>term frequency</a:t>
            </a:r>
            <a:r>
              <a:rPr lang="en-US" sz="2400" dirty="0"/>
              <a:t>): measures how often a term or word occurs in a given document.</a:t>
            </a:r>
          </a:p>
          <a:p>
            <a:pPr algn="just"/>
            <a:r>
              <a:rPr lang="en-US" sz="2400" dirty="0"/>
              <a:t>TF of a term </a:t>
            </a:r>
            <a:r>
              <a:rPr lang="en-US" sz="2400" dirty="0">
                <a:solidFill>
                  <a:srgbClr val="7030A0"/>
                </a:solidFill>
              </a:rPr>
              <a:t>t</a:t>
            </a:r>
            <a:r>
              <a:rPr lang="en-US" sz="2400" dirty="0"/>
              <a:t> in a document </a:t>
            </a:r>
            <a:r>
              <a:rPr lang="en-US" sz="2400" dirty="0">
                <a:solidFill>
                  <a:srgbClr val="7030A0"/>
                </a:solidFill>
              </a:rPr>
              <a:t>d</a:t>
            </a:r>
            <a:r>
              <a:rPr lang="en-US" sz="2400" dirty="0"/>
              <a:t> is defined as:</a:t>
            </a:r>
          </a:p>
          <a:p>
            <a:pPr algn="just"/>
            <a:endParaRPr lang="en-US" sz="2400" dirty="0"/>
          </a:p>
          <a:p>
            <a:pPr algn="just"/>
            <a:r>
              <a:rPr lang="en-US" sz="2400" dirty="0"/>
              <a:t>IDF (</a:t>
            </a:r>
            <a:r>
              <a:rPr lang="en-US" sz="2400" dirty="0">
                <a:solidFill>
                  <a:srgbClr val="7030A0"/>
                </a:solidFill>
              </a:rPr>
              <a:t>inverse document frequency</a:t>
            </a:r>
            <a:r>
              <a:rPr lang="en-US" sz="2400" dirty="0"/>
              <a:t>): measures the importance of the term across a corpus. </a:t>
            </a:r>
            <a:endParaRPr lang="en-US" sz="2400" b="0" i="0" dirty="0">
              <a:effectLst/>
            </a:endParaRPr>
          </a:p>
          <a:p>
            <a:pPr algn="just"/>
            <a:r>
              <a:rPr lang="en-US" sz="2400" dirty="0"/>
              <a:t>IDF of a term </a:t>
            </a:r>
            <a:r>
              <a:rPr lang="en-US" sz="2400" dirty="0">
                <a:solidFill>
                  <a:srgbClr val="7030A0"/>
                </a:solidFill>
              </a:rPr>
              <a:t>t</a:t>
            </a:r>
            <a:r>
              <a:rPr lang="en-US" sz="2400" dirty="0"/>
              <a:t> is calculated as follows:</a:t>
            </a:r>
          </a:p>
          <a:p>
            <a:pPr marL="0" indent="0" algn="just">
              <a:buNone/>
            </a:pPr>
            <a:endParaRPr lang="en-US" sz="2400" dirty="0"/>
          </a:p>
          <a:p>
            <a:pPr algn="just"/>
            <a:r>
              <a:rPr lang="en-US" sz="2400" dirty="0"/>
              <a:t>The TF-IDF score is a product of these two terms. Thus, </a:t>
            </a:r>
            <a:r>
              <a:rPr lang="en-US" sz="2400" dirty="0">
                <a:solidFill>
                  <a:srgbClr val="7030A0"/>
                </a:solidFill>
              </a:rPr>
              <a:t>TF-IDF score = TF * IDF.</a:t>
            </a:r>
            <a:endParaRPr lang="en-US" sz="2400" b="0" i="0" dirty="0">
              <a:solidFill>
                <a:srgbClr val="7030A0"/>
              </a:solidFill>
              <a:effectLst/>
            </a:endParaRPr>
          </a:p>
        </p:txBody>
      </p:sp>
      <p:pic>
        <p:nvPicPr>
          <p:cNvPr id="5" name="Picture 4">
            <a:extLst>
              <a:ext uri="{FF2B5EF4-FFF2-40B4-BE49-F238E27FC236}">
                <a16:creationId xmlns:a16="http://schemas.microsoft.com/office/drawing/2014/main" id="{A8BE362A-55EF-713F-D555-27AAE9127C51}"/>
              </a:ext>
            </a:extLst>
          </p:cNvPr>
          <p:cNvPicPr>
            <a:picLocks noChangeAspect="1"/>
          </p:cNvPicPr>
          <p:nvPr/>
        </p:nvPicPr>
        <p:blipFill>
          <a:blip r:embed="rId2"/>
          <a:stretch>
            <a:fillRect/>
          </a:stretch>
        </p:blipFill>
        <p:spPr>
          <a:xfrm>
            <a:off x="5950745" y="4198541"/>
            <a:ext cx="6241255" cy="607285"/>
          </a:xfrm>
          <a:prstGeom prst="rect">
            <a:avLst/>
          </a:prstGeom>
        </p:spPr>
      </p:pic>
      <p:pic>
        <p:nvPicPr>
          <p:cNvPr id="7" name="Picture 6">
            <a:extLst>
              <a:ext uri="{FF2B5EF4-FFF2-40B4-BE49-F238E27FC236}">
                <a16:creationId xmlns:a16="http://schemas.microsoft.com/office/drawing/2014/main" id="{734973DE-E095-92B3-8F48-6D3A9CCB3CE2}"/>
              </a:ext>
            </a:extLst>
          </p:cNvPr>
          <p:cNvPicPr>
            <a:picLocks noChangeAspect="1"/>
          </p:cNvPicPr>
          <p:nvPr/>
        </p:nvPicPr>
        <p:blipFill>
          <a:blip r:embed="rId3"/>
          <a:stretch>
            <a:fillRect/>
          </a:stretch>
        </p:blipFill>
        <p:spPr>
          <a:xfrm>
            <a:off x="5537757" y="5444752"/>
            <a:ext cx="6654243" cy="855601"/>
          </a:xfrm>
          <a:prstGeom prst="rect">
            <a:avLst/>
          </a:prstGeom>
        </p:spPr>
      </p:pic>
    </p:spTree>
    <p:extLst>
      <p:ext uri="{BB962C8B-B14F-4D97-AF65-F5344CB8AC3E}">
        <p14:creationId xmlns:p14="http://schemas.microsoft.com/office/powerpoint/2010/main" val="3346793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581B8-FCEB-70A1-9EE0-5ECAD3FB152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96346F9-90BA-5CB7-6F18-9EA9E87A1D3F}"/>
              </a:ext>
            </a:extLst>
          </p:cNvPr>
          <p:cNvSpPr txBox="1"/>
          <p:nvPr/>
        </p:nvSpPr>
        <p:spPr>
          <a:xfrm>
            <a:off x="0" y="0"/>
            <a:ext cx="4236720" cy="1323439"/>
          </a:xfrm>
          <a:prstGeom prst="rect">
            <a:avLst/>
          </a:prstGeom>
          <a:noFill/>
        </p:spPr>
        <p:txBody>
          <a:bodyPr wrap="square">
            <a:spAutoFit/>
          </a:bodyPr>
          <a:lstStyle/>
          <a:p>
            <a:pPr algn="l"/>
            <a:r>
              <a:rPr lang="en-US" sz="2000" b="0" i="0" dirty="0">
                <a:solidFill>
                  <a:srgbClr val="FF0000"/>
                </a:solidFill>
                <a:effectLst/>
              </a:rPr>
              <a:t>Corpus:</a:t>
            </a:r>
          </a:p>
          <a:p>
            <a:pPr algn="l"/>
            <a:r>
              <a:rPr lang="en-US" sz="2000" b="0" i="0" dirty="0">
                <a:solidFill>
                  <a:srgbClr val="000000"/>
                </a:solidFill>
                <a:effectLst/>
              </a:rPr>
              <a:t>Inflation has increased unemployment</a:t>
            </a:r>
          </a:p>
          <a:p>
            <a:pPr algn="l"/>
            <a:r>
              <a:rPr lang="en-US" sz="2000" b="0" i="0" dirty="0">
                <a:solidFill>
                  <a:srgbClr val="000000"/>
                </a:solidFill>
                <a:effectLst/>
              </a:rPr>
              <a:t>The company has increased its sales</a:t>
            </a:r>
          </a:p>
          <a:p>
            <a:pPr algn="l"/>
            <a:r>
              <a:rPr lang="en-US" sz="2000" b="0" i="0" dirty="0">
                <a:solidFill>
                  <a:srgbClr val="000000"/>
                </a:solidFill>
                <a:effectLst/>
              </a:rPr>
              <a:t>Fear increased his pulse</a:t>
            </a:r>
          </a:p>
        </p:txBody>
      </p:sp>
      <p:sp>
        <p:nvSpPr>
          <p:cNvPr id="13" name="TextBox 12">
            <a:extLst>
              <a:ext uri="{FF2B5EF4-FFF2-40B4-BE49-F238E27FC236}">
                <a16:creationId xmlns:a16="http://schemas.microsoft.com/office/drawing/2014/main" id="{55F01753-241C-5310-495C-B1B00DF6CB7E}"/>
              </a:ext>
            </a:extLst>
          </p:cNvPr>
          <p:cNvSpPr txBox="1"/>
          <p:nvPr/>
        </p:nvSpPr>
        <p:spPr>
          <a:xfrm>
            <a:off x="4406900" y="137353"/>
            <a:ext cx="7785100" cy="1177245"/>
          </a:xfrm>
          <a:prstGeom prst="rect">
            <a:avLst/>
          </a:prstGeom>
          <a:noFill/>
        </p:spPr>
        <p:txBody>
          <a:bodyPr wrap="square">
            <a:spAutoFit/>
          </a:bodyPr>
          <a:lstStyle/>
          <a:p>
            <a:pPr algn="l">
              <a:spcAft>
                <a:spcPts val="1500"/>
              </a:spcAft>
            </a:pPr>
            <a:r>
              <a:rPr lang="en-US" b="1" i="0" dirty="0">
                <a:solidFill>
                  <a:srgbClr val="FF0000"/>
                </a:solidFill>
                <a:effectLst/>
                <a:latin typeface="-apple-system"/>
              </a:rPr>
              <a:t>Step 1: Data Pre-processing</a:t>
            </a:r>
            <a:endParaRPr lang="en-US" b="0" i="0" dirty="0">
              <a:solidFill>
                <a:srgbClr val="FF0000"/>
              </a:solidFill>
              <a:effectLst/>
              <a:latin typeface="-apple-system"/>
            </a:endParaRPr>
          </a:p>
          <a:p>
            <a:pPr algn="l"/>
            <a:r>
              <a:rPr lang="en-US" sz="2000" b="0" i="0" dirty="0">
                <a:solidFill>
                  <a:srgbClr val="000000"/>
                </a:solidFill>
                <a:effectLst/>
                <a:latin typeface="-apple-system"/>
              </a:rPr>
              <a:t>After lowercasing and removing stop words the sentences are transformed as below:</a:t>
            </a:r>
          </a:p>
        </p:txBody>
      </p:sp>
      <p:pic>
        <p:nvPicPr>
          <p:cNvPr id="1026" name="Picture 2">
            <a:extLst>
              <a:ext uri="{FF2B5EF4-FFF2-40B4-BE49-F238E27FC236}">
                <a16:creationId xmlns:a16="http://schemas.microsoft.com/office/drawing/2014/main" id="{B1EC151A-ED4F-2021-8961-A6E7023FC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9356" y="948382"/>
            <a:ext cx="4541044" cy="187377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1A09F40-2C0D-727A-9DEA-0B472A258D8F}"/>
              </a:ext>
            </a:extLst>
          </p:cNvPr>
          <p:cNvSpPr txBox="1"/>
          <p:nvPr/>
        </p:nvSpPr>
        <p:spPr>
          <a:xfrm>
            <a:off x="0" y="2793345"/>
            <a:ext cx="6126480" cy="369332"/>
          </a:xfrm>
          <a:prstGeom prst="rect">
            <a:avLst/>
          </a:prstGeom>
          <a:noFill/>
        </p:spPr>
        <p:txBody>
          <a:bodyPr wrap="square">
            <a:spAutoFit/>
          </a:bodyPr>
          <a:lstStyle/>
          <a:p>
            <a:pPr algn="l">
              <a:spcAft>
                <a:spcPts val="1500"/>
              </a:spcAft>
            </a:pPr>
            <a:r>
              <a:rPr lang="en-US" b="1" i="0" dirty="0">
                <a:effectLst/>
                <a:latin typeface="-apple-system"/>
              </a:rPr>
              <a:t>Step 2: Calculating Term Frequency</a:t>
            </a:r>
            <a:endParaRPr lang="en-US" b="0" i="0" dirty="0">
              <a:effectLst/>
              <a:latin typeface="-apple-system"/>
            </a:endParaRPr>
          </a:p>
        </p:txBody>
      </p:sp>
      <p:pic>
        <p:nvPicPr>
          <p:cNvPr id="16" name="Picture 15">
            <a:extLst>
              <a:ext uri="{FF2B5EF4-FFF2-40B4-BE49-F238E27FC236}">
                <a16:creationId xmlns:a16="http://schemas.microsoft.com/office/drawing/2014/main" id="{705F7CAA-0003-8E54-539E-98168CA77938}"/>
              </a:ext>
            </a:extLst>
          </p:cNvPr>
          <p:cNvPicPr>
            <a:picLocks noChangeAspect="1"/>
          </p:cNvPicPr>
          <p:nvPr/>
        </p:nvPicPr>
        <p:blipFill>
          <a:blip r:embed="rId3"/>
          <a:stretch>
            <a:fillRect/>
          </a:stretch>
        </p:blipFill>
        <p:spPr>
          <a:xfrm>
            <a:off x="3753416" y="2857613"/>
            <a:ext cx="5390583" cy="524514"/>
          </a:xfrm>
          <a:prstGeom prst="rect">
            <a:avLst/>
          </a:prstGeom>
        </p:spPr>
      </p:pic>
      <p:graphicFrame>
        <p:nvGraphicFramePr>
          <p:cNvPr id="17" name="Table 16">
            <a:extLst>
              <a:ext uri="{FF2B5EF4-FFF2-40B4-BE49-F238E27FC236}">
                <a16:creationId xmlns:a16="http://schemas.microsoft.com/office/drawing/2014/main" id="{AE58FF4B-B5EB-A389-48BE-3F98614C18AD}"/>
              </a:ext>
            </a:extLst>
          </p:cNvPr>
          <p:cNvGraphicFramePr>
            <a:graphicFrameLocks noGrp="1"/>
          </p:cNvGraphicFramePr>
          <p:nvPr>
            <p:extLst>
              <p:ext uri="{D42A27DB-BD31-4B8C-83A1-F6EECF244321}">
                <p14:modId xmlns:p14="http://schemas.microsoft.com/office/powerpoint/2010/main" val="2999458888"/>
              </p:ext>
            </p:extLst>
          </p:nvPr>
        </p:nvGraphicFramePr>
        <p:xfrm>
          <a:off x="243840" y="3848243"/>
          <a:ext cx="11846560" cy="2072259"/>
        </p:xfrm>
        <a:graphic>
          <a:graphicData uri="http://schemas.openxmlformats.org/drawingml/2006/table">
            <a:tbl>
              <a:tblPr firstRow="1" firstCol="1" bandRow="1">
                <a:tableStyleId>{5C22544A-7EE6-4342-B048-85BDC9FD1C3A}</a:tableStyleId>
              </a:tblPr>
              <a:tblGrid>
                <a:gridCol w="2702560">
                  <a:extLst>
                    <a:ext uri="{9D8B030D-6E8A-4147-A177-3AD203B41FA5}">
                      <a16:colId xmlns:a16="http://schemas.microsoft.com/office/drawing/2014/main" val="3573280820"/>
                    </a:ext>
                  </a:extLst>
                </a:gridCol>
                <a:gridCol w="1391920">
                  <a:extLst>
                    <a:ext uri="{9D8B030D-6E8A-4147-A177-3AD203B41FA5}">
                      <a16:colId xmlns:a16="http://schemas.microsoft.com/office/drawing/2014/main" val="3248898331"/>
                    </a:ext>
                  </a:extLst>
                </a:gridCol>
                <a:gridCol w="1473200">
                  <a:extLst>
                    <a:ext uri="{9D8B030D-6E8A-4147-A177-3AD203B41FA5}">
                      <a16:colId xmlns:a16="http://schemas.microsoft.com/office/drawing/2014/main" val="1564171426"/>
                    </a:ext>
                  </a:extLst>
                </a:gridCol>
                <a:gridCol w="1270000">
                  <a:extLst>
                    <a:ext uri="{9D8B030D-6E8A-4147-A177-3AD203B41FA5}">
                      <a16:colId xmlns:a16="http://schemas.microsoft.com/office/drawing/2014/main" val="2982901229"/>
                    </a:ext>
                  </a:extLst>
                </a:gridCol>
                <a:gridCol w="1452880">
                  <a:extLst>
                    <a:ext uri="{9D8B030D-6E8A-4147-A177-3AD203B41FA5}">
                      <a16:colId xmlns:a16="http://schemas.microsoft.com/office/drawing/2014/main" val="4200746936"/>
                    </a:ext>
                  </a:extLst>
                </a:gridCol>
                <a:gridCol w="894080">
                  <a:extLst>
                    <a:ext uri="{9D8B030D-6E8A-4147-A177-3AD203B41FA5}">
                      <a16:colId xmlns:a16="http://schemas.microsoft.com/office/drawing/2014/main" val="886475001"/>
                    </a:ext>
                  </a:extLst>
                </a:gridCol>
                <a:gridCol w="802640">
                  <a:extLst>
                    <a:ext uri="{9D8B030D-6E8A-4147-A177-3AD203B41FA5}">
                      <a16:colId xmlns:a16="http://schemas.microsoft.com/office/drawing/2014/main" val="2793643507"/>
                    </a:ext>
                  </a:extLst>
                </a:gridCol>
                <a:gridCol w="1859280">
                  <a:extLst>
                    <a:ext uri="{9D8B030D-6E8A-4147-A177-3AD203B41FA5}">
                      <a16:colId xmlns:a16="http://schemas.microsoft.com/office/drawing/2014/main" val="488626941"/>
                    </a:ext>
                  </a:extLst>
                </a:gridCol>
              </a:tblGrid>
              <a:tr h="0">
                <a:tc>
                  <a:txBody>
                    <a:bodyPr/>
                    <a:lstStyle/>
                    <a:p>
                      <a:pPr>
                        <a:lnSpc>
                          <a:spcPct val="107000"/>
                        </a:lnSpc>
                        <a:spcAft>
                          <a:spcPts val="800"/>
                        </a:spcAft>
                      </a:pPr>
                      <a:r>
                        <a:rPr lang="en-IN" sz="2000" kern="100" dirty="0">
                          <a:effectLst/>
                        </a:rPr>
                        <a:t>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10">
                          <a:effectLst/>
                        </a:rPr>
                        <a:t>inflation</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10">
                          <a:effectLst/>
                        </a:rPr>
                        <a:t>company</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10">
                          <a:effectLst/>
                        </a:rPr>
                        <a:t>increased</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10">
                          <a:effectLst/>
                        </a:rPr>
                        <a:t>sales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a:effectLst/>
                        </a:rPr>
                        <a:t>fear</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10">
                          <a:effectLst/>
                        </a:rPr>
                        <a:t>pulse</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10">
                          <a:effectLst/>
                        </a:rPr>
                        <a:t>unemployment</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9595550"/>
                  </a:ext>
                </a:extLst>
              </a:tr>
              <a:tr h="0">
                <a:tc>
                  <a:txBody>
                    <a:bodyPr/>
                    <a:lstStyle/>
                    <a:p>
                      <a:pPr>
                        <a:lnSpc>
                          <a:spcPct val="107000"/>
                        </a:lnSpc>
                        <a:spcAft>
                          <a:spcPts val="800"/>
                        </a:spcAft>
                      </a:pPr>
                      <a:r>
                        <a:rPr lang="en-IN" sz="2000" kern="100" dirty="0">
                          <a:effectLst/>
                        </a:rPr>
                        <a:t>inflation</a:t>
                      </a:r>
                      <a:r>
                        <a:rPr lang="en-IN" sz="2000" kern="100" spc="-65" dirty="0">
                          <a:effectLst/>
                        </a:rPr>
                        <a:t> </a:t>
                      </a:r>
                      <a:r>
                        <a:rPr lang="en-IN" sz="2000" kern="100" dirty="0">
                          <a:effectLst/>
                        </a:rPr>
                        <a:t>increased</a:t>
                      </a:r>
                      <a:r>
                        <a:rPr lang="en-IN" sz="2000" kern="100" spc="130" dirty="0">
                          <a:effectLst/>
                        </a:rPr>
                        <a:t> </a:t>
                      </a:r>
                      <a:r>
                        <a:rPr lang="en-IN" sz="2000" kern="100" spc="-10" dirty="0">
                          <a:effectLst/>
                        </a:rPr>
                        <a:t>unemployment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1/3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0/3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1/3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0/3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0/3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0/3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1/3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3030453"/>
                  </a:ext>
                </a:extLst>
              </a:tr>
              <a:tr h="0">
                <a:tc>
                  <a:txBody>
                    <a:bodyPr/>
                    <a:lstStyle/>
                    <a:p>
                      <a:pPr>
                        <a:lnSpc>
                          <a:spcPct val="107000"/>
                        </a:lnSpc>
                        <a:spcAft>
                          <a:spcPts val="800"/>
                        </a:spcAft>
                      </a:pPr>
                      <a:r>
                        <a:rPr lang="en-IN" sz="2000" kern="100" dirty="0">
                          <a:effectLst/>
                        </a:rPr>
                        <a:t>company</a:t>
                      </a:r>
                      <a:r>
                        <a:rPr lang="en-IN" sz="2000" kern="100" spc="90" dirty="0">
                          <a:effectLst/>
                        </a:rPr>
                        <a:t> </a:t>
                      </a:r>
                      <a:r>
                        <a:rPr lang="en-IN" sz="2000" kern="100" dirty="0">
                          <a:effectLst/>
                        </a:rPr>
                        <a:t>increased</a:t>
                      </a:r>
                      <a:r>
                        <a:rPr lang="en-IN" sz="2000" kern="100" spc="185" dirty="0">
                          <a:effectLst/>
                        </a:rPr>
                        <a:t> </a:t>
                      </a:r>
                      <a:r>
                        <a:rPr lang="en-IN" sz="2000" kern="100" spc="-10" dirty="0">
                          <a:effectLst/>
                        </a:rPr>
                        <a:t>sales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IN" sz="2000" kern="100" dirty="0">
                          <a:effectLst/>
                        </a:rPr>
                        <a:t> </a:t>
                      </a:r>
                      <a:r>
                        <a:rPr lang="en-IN" sz="2000" kern="100" spc="-25" dirty="0">
                          <a:effectLst/>
                        </a:rPr>
                        <a:t>0/3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1/3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1/3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1/3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dirty="0">
                          <a:effectLst/>
                        </a:rPr>
                        <a:t>0/3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0/3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a:effectLst/>
                        </a:rPr>
                        <a:t>0/3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376623"/>
                  </a:ext>
                </a:extLst>
              </a:tr>
              <a:tr h="485013">
                <a:tc>
                  <a:txBody>
                    <a:bodyPr/>
                    <a:lstStyle/>
                    <a:p>
                      <a:pPr>
                        <a:lnSpc>
                          <a:spcPct val="107000"/>
                        </a:lnSpc>
                        <a:spcAft>
                          <a:spcPts val="800"/>
                        </a:spcAft>
                      </a:pPr>
                      <a:r>
                        <a:rPr lang="en-IN" sz="2000" kern="100" dirty="0">
                          <a:effectLst/>
                        </a:rPr>
                        <a:t>fear</a:t>
                      </a:r>
                      <a:r>
                        <a:rPr lang="en-IN" sz="2000" kern="100" spc="50" dirty="0">
                          <a:effectLst/>
                        </a:rPr>
                        <a:t> </a:t>
                      </a:r>
                      <a:r>
                        <a:rPr lang="en-IN" sz="2000" kern="100" dirty="0">
                          <a:effectLst/>
                        </a:rPr>
                        <a:t>increased</a:t>
                      </a:r>
                      <a:r>
                        <a:rPr lang="en-IN" sz="2000" kern="100" spc="185" dirty="0">
                          <a:effectLst/>
                        </a:rPr>
                        <a:t> </a:t>
                      </a:r>
                      <a:r>
                        <a:rPr lang="en-IN" sz="2000" kern="100" spc="-10" dirty="0">
                          <a:effectLst/>
                        </a:rPr>
                        <a:t>pulse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dirty="0">
                          <a:effectLst/>
                        </a:rPr>
                        <a:t>0/3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dirty="0">
                          <a:effectLst/>
                        </a:rPr>
                        <a:t>0/3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dirty="0">
                          <a:effectLst/>
                        </a:rPr>
                        <a:t>1/3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dirty="0">
                          <a:effectLst/>
                        </a:rPr>
                        <a:t>0/3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dirty="0">
                          <a:effectLst/>
                        </a:rPr>
                        <a:t>1/3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dirty="0">
                          <a:effectLst/>
                        </a:rPr>
                        <a:t>1/3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2000" kern="100" spc="-25" dirty="0">
                          <a:effectLst/>
                        </a:rPr>
                        <a:t>0/3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83619911"/>
                  </a:ext>
                </a:extLst>
              </a:tr>
            </a:tbl>
          </a:graphicData>
        </a:graphic>
      </p:graphicFrame>
    </p:spTree>
    <p:extLst>
      <p:ext uri="{BB962C8B-B14F-4D97-AF65-F5344CB8AC3E}">
        <p14:creationId xmlns:p14="http://schemas.microsoft.com/office/powerpoint/2010/main" val="24530898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664D7-BEBF-0740-2EDC-6D48AA4438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D44E83-0596-5093-D338-55953F6E8034}"/>
              </a:ext>
            </a:extLst>
          </p:cNvPr>
          <p:cNvSpPr txBox="1"/>
          <p:nvPr/>
        </p:nvSpPr>
        <p:spPr>
          <a:xfrm>
            <a:off x="91440" y="125214"/>
            <a:ext cx="6096000" cy="369332"/>
          </a:xfrm>
          <a:prstGeom prst="rect">
            <a:avLst/>
          </a:prstGeom>
          <a:noFill/>
        </p:spPr>
        <p:txBody>
          <a:bodyPr wrap="square">
            <a:spAutoFit/>
          </a:bodyPr>
          <a:lstStyle/>
          <a:p>
            <a:pPr algn="l">
              <a:spcAft>
                <a:spcPts val="1500"/>
              </a:spcAft>
            </a:pPr>
            <a:r>
              <a:rPr lang="en-US" b="1" i="0" dirty="0">
                <a:solidFill>
                  <a:srgbClr val="FF0000"/>
                </a:solidFill>
                <a:effectLst/>
                <a:latin typeface="-apple-system"/>
              </a:rPr>
              <a:t>Step 3: Calculating Inverse Document Frequency</a:t>
            </a:r>
            <a:endParaRPr lang="en-US" b="0" i="0" dirty="0">
              <a:solidFill>
                <a:srgbClr val="FF0000"/>
              </a:solidFill>
              <a:effectLst/>
              <a:latin typeface="-apple-system"/>
            </a:endParaRPr>
          </a:p>
        </p:txBody>
      </p:sp>
      <p:pic>
        <p:nvPicPr>
          <p:cNvPr id="2050" name="Picture 2">
            <a:extLst>
              <a:ext uri="{FF2B5EF4-FFF2-40B4-BE49-F238E27FC236}">
                <a16:creationId xmlns:a16="http://schemas.microsoft.com/office/drawing/2014/main" id="{5D2305BA-C9A6-FEC9-2EA1-390EB3DC08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20" y="494546"/>
            <a:ext cx="4800600" cy="34861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211DA7A-AB53-9EE7-E8FB-64DECB39DBF5}"/>
              </a:ext>
            </a:extLst>
          </p:cNvPr>
          <p:cNvPicPr>
            <a:picLocks noChangeAspect="1"/>
          </p:cNvPicPr>
          <p:nvPr/>
        </p:nvPicPr>
        <p:blipFill>
          <a:blip r:embed="rId3"/>
          <a:stretch>
            <a:fillRect/>
          </a:stretch>
        </p:blipFill>
        <p:spPr>
          <a:xfrm>
            <a:off x="5365037" y="643374"/>
            <a:ext cx="6654243" cy="855601"/>
          </a:xfrm>
          <a:prstGeom prst="rect">
            <a:avLst/>
          </a:prstGeom>
        </p:spPr>
      </p:pic>
      <p:sp>
        <p:nvSpPr>
          <p:cNvPr id="6" name="TextBox 5">
            <a:extLst>
              <a:ext uri="{FF2B5EF4-FFF2-40B4-BE49-F238E27FC236}">
                <a16:creationId xmlns:a16="http://schemas.microsoft.com/office/drawing/2014/main" id="{46259EE3-C6A0-8B99-BE7B-CCC84A4C95A1}"/>
              </a:ext>
            </a:extLst>
          </p:cNvPr>
          <p:cNvSpPr txBox="1"/>
          <p:nvPr/>
        </p:nvSpPr>
        <p:spPr>
          <a:xfrm>
            <a:off x="-111760" y="4165362"/>
            <a:ext cx="7985760" cy="369332"/>
          </a:xfrm>
          <a:prstGeom prst="rect">
            <a:avLst/>
          </a:prstGeom>
          <a:noFill/>
        </p:spPr>
        <p:txBody>
          <a:bodyPr wrap="square">
            <a:spAutoFit/>
          </a:bodyPr>
          <a:lstStyle/>
          <a:p>
            <a:pPr algn="l">
              <a:spcAft>
                <a:spcPts val="1500"/>
              </a:spcAft>
            </a:pPr>
            <a:r>
              <a:rPr lang="en-US" b="1" i="0" dirty="0">
                <a:solidFill>
                  <a:srgbClr val="FF0000"/>
                </a:solidFill>
                <a:effectLst/>
                <a:latin typeface="-apple-system"/>
              </a:rPr>
              <a:t>Step 4: Calculating Product of Term Frequency</a:t>
            </a:r>
            <a:r>
              <a:rPr lang="en-US" b="0" i="0" dirty="0">
                <a:solidFill>
                  <a:srgbClr val="FF0000"/>
                </a:solidFill>
                <a:effectLst/>
                <a:latin typeface="-apple-system"/>
              </a:rPr>
              <a:t> </a:t>
            </a:r>
            <a:r>
              <a:rPr lang="en-US" b="1" i="0" dirty="0">
                <a:solidFill>
                  <a:srgbClr val="FF0000"/>
                </a:solidFill>
                <a:effectLst/>
                <a:latin typeface="-apple-system"/>
              </a:rPr>
              <a:t>&amp; Inverse Document Frequency</a:t>
            </a:r>
            <a:endParaRPr lang="en-US" b="0" i="0" dirty="0">
              <a:solidFill>
                <a:srgbClr val="FF0000"/>
              </a:solidFill>
              <a:effectLst/>
              <a:latin typeface="-apple-system"/>
            </a:endParaRPr>
          </a:p>
        </p:txBody>
      </p:sp>
      <p:pic>
        <p:nvPicPr>
          <p:cNvPr id="2052" name="Picture 4">
            <a:extLst>
              <a:ext uri="{FF2B5EF4-FFF2-40B4-BE49-F238E27FC236}">
                <a16:creationId xmlns:a16="http://schemas.microsoft.com/office/drawing/2014/main" id="{E4F0BD64-7DBF-8EB3-7E2C-206E918DF4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02903"/>
            <a:ext cx="11088280" cy="160260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6241C44-5B47-3375-4AE5-7964D221858C}"/>
              </a:ext>
            </a:extLst>
          </p:cNvPr>
          <p:cNvSpPr txBox="1"/>
          <p:nvPr/>
        </p:nvSpPr>
        <p:spPr>
          <a:xfrm>
            <a:off x="2573020" y="4734132"/>
            <a:ext cx="6177280" cy="369332"/>
          </a:xfrm>
          <a:prstGeom prst="rect">
            <a:avLst/>
          </a:prstGeom>
          <a:noFill/>
        </p:spPr>
        <p:txBody>
          <a:bodyPr wrap="square">
            <a:spAutoFit/>
          </a:bodyPr>
          <a:lstStyle/>
          <a:p>
            <a:r>
              <a:rPr lang="en-US" sz="1800" dirty="0">
                <a:solidFill>
                  <a:srgbClr val="7030A0"/>
                </a:solidFill>
              </a:rPr>
              <a:t>TF-IDF score = TF * IDF.</a:t>
            </a:r>
            <a:endParaRPr lang="en-IN" dirty="0"/>
          </a:p>
        </p:txBody>
      </p:sp>
    </p:spTree>
    <p:extLst>
      <p:ext uri="{BB962C8B-B14F-4D97-AF65-F5344CB8AC3E}">
        <p14:creationId xmlns:p14="http://schemas.microsoft.com/office/powerpoint/2010/main" val="14079421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8E4DA-B32F-1416-131F-20D8E42E6E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C2D9E2-F19C-A787-F256-55C071257751}"/>
              </a:ext>
            </a:extLst>
          </p:cNvPr>
          <p:cNvSpPr txBox="1"/>
          <p:nvPr/>
        </p:nvSpPr>
        <p:spPr>
          <a:xfrm>
            <a:off x="142240" y="403275"/>
            <a:ext cx="8950960" cy="461665"/>
          </a:xfrm>
          <a:prstGeom prst="rect">
            <a:avLst/>
          </a:prstGeom>
          <a:noFill/>
        </p:spPr>
        <p:txBody>
          <a:bodyPr wrap="square">
            <a:spAutoFit/>
          </a:bodyPr>
          <a:lstStyle/>
          <a:p>
            <a:r>
              <a:rPr lang="en-US" sz="2400" b="0" i="0" dirty="0">
                <a:solidFill>
                  <a:srgbClr val="000000"/>
                </a:solidFill>
                <a:effectLst/>
                <a:latin typeface="-apple-system"/>
              </a:rPr>
              <a:t>After simplifying ,we will get the final TF-IDF matrix as follows:</a:t>
            </a:r>
            <a:endParaRPr lang="en-IN" sz="2400" dirty="0"/>
          </a:p>
        </p:txBody>
      </p:sp>
      <p:pic>
        <p:nvPicPr>
          <p:cNvPr id="3074" name="Picture 2">
            <a:extLst>
              <a:ext uri="{FF2B5EF4-FFF2-40B4-BE49-F238E27FC236}">
                <a16:creationId xmlns:a16="http://schemas.microsoft.com/office/drawing/2014/main" id="{E5C722CB-78E3-14D5-2322-8CDB2EED3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40" y="1315403"/>
            <a:ext cx="11927840" cy="175291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a:extLst>
              <a:ext uri="{FF2B5EF4-FFF2-40B4-BE49-F238E27FC236}">
                <a16:creationId xmlns:a16="http://schemas.microsoft.com/office/drawing/2014/main" id="{4D1AE2F8-3696-3BF6-5037-5F9CD5E0F1F2}"/>
              </a:ext>
            </a:extLst>
          </p:cNvPr>
          <p:cNvSpPr>
            <a:spLocks noChangeArrowheads="1"/>
          </p:cNvSpPr>
          <p:nvPr/>
        </p:nvSpPr>
        <p:spPr bwMode="auto">
          <a:xfrm>
            <a:off x="375920" y="3306863"/>
            <a:ext cx="526288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TF-IDF Matrix:</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rPr>
              <a:t>[</a:t>
            </a:r>
            <a:r>
              <a:rPr kumimoji="0" lang="en-US" altLang="en-US" sz="2400" b="0" i="0" u="none" strike="noStrike" cap="none" normalizeH="0" baseline="0" dirty="0">
                <a:ln>
                  <a:noFill/>
                </a:ln>
                <a:solidFill>
                  <a:schemeClr val="tx1"/>
                </a:solidFill>
                <a:effectLst/>
              </a:rPr>
              <a:t>[0.159 0 0 0 0 0 0.159]</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  [0 0.159 0 0.159 0 0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[0 0 0 0 0.159 0.159 0]</a:t>
            </a:r>
            <a:r>
              <a:rPr kumimoji="0" lang="en-US" altLang="en-US" sz="2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10285811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22B19-34B9-F82C-C19D-414CF3EB3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F26B1-0014-2A2A-C6EE-E6AB4D55A96F}"/>
              </a:ext>
            </a:extLst>
          </p:cNvPr>
          <p:cNvSpPr>
            <a:spLocks noGrp="1"/>
          </p:cNvSpPr>
          <p:nvPr>
            <p:ph type="title"/>
          </p:nvPr>
        </p:nvSpPr>
        <p:spPr>
          <a:xfrm>
            <a:off x="838200" y="0"/>
            <a:ext cx="10515600" cy="810532"/>
          </a:xfrm>
        </p:spPr>
        <p:txBody>
          <a:bodyPr>
            <a:normAutofit/>
          </a:bodyPr>
          <a:lstStyle/>
          <a:p>
            <a:pPr algn="ctr"/>
            <a:r>
              <a:rPr lang="en-US" sz="4000" kern="150" dirty="0">
                <a:solidFill>
                  <a:srgbClr val="FF0000"/>
                </a:solidFill>
                <a:effectLst/>
                <a:ea typeface="Calibri" panose="020F0502020204030204" pitchFamily="34" charset="0"/>
                <a:cs typeface="Times New Roman" panose="02020603050405020304" pitchFamily="18" charset="0"/>
              </a:rPr>
              <a:t>TF-IDF</a:t>
            </a:r>
            <a:endParaRPr lang="en-US" sz="4000" b="1" kern="150" dirty="0">
              <a:solidFill>
                <a:srgbClr val="FF0000"/>
              </a:solidFill>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95F6B3-2CE4-6314-7B2F-2C104BC6CB84}"/>
              </a:ext>
            </a:extLst>
          </p:cNvPr>
          <p:cNvSpPr>
            <a:spLocks noGrp="1"/>
          </p:cNvSpPr>
          <p:nvPr>
            <p:ph idx="1"/>
          </p:nvPr>
        </p:nvSpPr>
        <p:spPr>
          <a:xfrm>
            <a:off x="142240" y="708932"/>
            <a:ext cx="12049760" cy="6047468"/>
          </a:xfrm>
        </p:spPr>
        <p:txBody>
          <a:bodyPr>
            <a:noAutofit/>
          </a:bodyPr>
          <a:lstStyle/>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from </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sklearn.feature_extraction.text</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 import </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TfidfVectorizer</a:t>
            </a:r>
            <a:endParaRPr lang="en-US" sz="1700" b="0" i="0" dirty="0">
              <a:effectLst/>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documents = [</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"The cat sat on the mat.",</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"The dog sat on the mat.",</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 "The mat is warm."</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600"/>
              </a:spcBef>
              <a:buNone/>
            </a:pPr>
            <a:endParaRPr lang="en-US" sz="1700" b="0" i="0" dirty="0">
              <a:effectLst/>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600"/>
              </a:spcBef>
              <a:buNone/>
            </a:pPr>
            <a:r>
              <a:rPr lang="en-US" sz="1700" b="0" i="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Initialize TF-IDF Vectorizer</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vectorizer = </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TfidfVectorizer</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stop_words</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english</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max_features</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=3000)</a:t>
            </a:r>
          </a:p>
          <a:p>
            <a:pPr marL="0" indent="0" algn="just">
              <a:spcBef>
                <a:spcPts val="600"/>
              </a:spcBef>
              <a:buNone/>
            </a:pPr>
            <a:endParaRPr lang="en-US" sz="1700" b="0" i="0" dirty="0">
              <a:effectLst/>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600"/>
              </a:spcBef>
              <a:buNone/>
            </a:pPr>
            <a:r>
              <a:rPr lang="en-US" sz="1700" b="0" i="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Fit and transform the corpus</a:t>
            </a:r>
          </a:p>
          <a:p>
            <a:pPr marL="0" indent="0" algn="just">
              <a:spcBef>
                <a:spcPts val="600"/>
              </a:spcBef>
              <a:buNone/>
            </a:pP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tfidf_matrix</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 = </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vectorizer.fit_transform</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(documents)</a:t>
            </a:r>
          </a:p>
          <a:p>
            <a:pPr marL="0" indent="0" algn="just">
              <a:spcBef>
                <a:spcPts val="600"/>
              </a:spcBef>
              <a:buNone/>
            </a:pPr>
            <a:endParaRPr lang="en-US" sz="1700" b="0" i="0" dirty="0">
              <a:effectLst/>
              <a:latin typeface="Cascadia Code" panose="020B0609020000020004" pitchFamily="49" charset="0"/>
              <a:ea typeface="Cascadia Code" panose="020B0609020000020004" pitchFamily="49" charset="0"/>
              <a:cs typeface="Cascadia Code" panose="020B0609020000020004" pitchFamily="49" charset="0"/>
            </a:endParaRPr>
          </a:p>
          <a:p>
            <a:pPr marL="0" indent="0" algn="just">
              <a:spcBef>
                <a:spcPts val="600"/>
              </a:spcBef>
              <a:buNone/>
            </a:pPr>
            <a:r>
              <a:rPr lang="en-US" sz="1700" b="0" i="0" dirty="0">
                <a:solidFill>
                  <a:schemeClr val="accent6"/>
                </a:solidFill>
                <a:effectLst/>
                <a:latin typeface="Cascadia Code" panose="020B0609020000020004" pitchFamily="49" charset="0"/>
                <a:ea typeface="Cascadia Code" panose="020B0609020000020004" pitchFamily="49" charset="0"/>
                <a:cs typeface="Cascadia Code" panose="020B0609020000020004" pitchFamily="49" charset="0"/>
              </a:rPr>
              <a:t># Feature names</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features = </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vectorizer.get_feature_names_out</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print("TF-IDF Matrix:")</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print(</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tfidf_matrix.toarray</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print("\</a:t>
            </a:r>
            <a:r>
              <a:rPr lang="en-US" sz="1700" b="0" i="0" dirty="0" err="1">
                <a:effectLst/>
                <a:latin typeface="Cascadia Code" panose="020B0609020000020004" pitchFamily="49" charset="0"/>
                <a:ea typeface="Cascadia Code" panose="020B0609020000020004" pitchFamily="49" charset="0"/>
                <a:cs typeface="Cascadia Code" panose="020B0609020000020004" pitchFamily="49" charset="0"/>
              </a:rPr>
              <a:t>nFeatures</a:t>
            </a: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 (Terms):")</a:t>
            </a:r>
          </a:p>
          <a:p>
            <a:pPr marL="0" indent="0" algn="just">
              <a:spcBef>
                <a:spcPts val="600"/>
              </a:spcBef>
              <a:buNone/>
            </a:pPr>
            <a:r>
              <a:rPr lang="en-US" sz="1700" b="0" i="0" dirty="0">
                <a:effectLst/>
                <a:latin typeface="Cascadia Code" panose="020B0609020000020004" pitchFamily="49" charset="0"/>
                <a:ea typeface="Cascadia Code" panose="020B0609020000020004" pitchFamily="49" charset="0"/>
                <a:cs typeface="Cascadia Code" panose="020B0609020000020004" pitchFamily="49" charset="0"/>
              </a:rPr>
              <a:t>print(features)</a:t>
            </a:r>
          </a:p>
          <a:p>
            <a:pPr algn="just"/>
            <a:endParaRPr lang="en-US" sz="1200" b="0" i="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10" name="Picture 9">
            <a:extLst>
              <a:ext uri="{FF2B5EF4-FFF2-40B4-BE49-F238E27FC236}">
                <a16:creationId xmlns:a16="http://schemas.microsoft.com/office/drawing/2014/main" id="{F5DC4D97-549D-65FD-9C88-3A7B96AE0608}"/>
              </a:ext>
            </a:extLst>
          </p:cNvPr>
          <p:cNvPicPr>
            <a:picLocks noChangeAspect="1"/>
          </p:cNvPicPr>
          <p:nvPr/>
        </p:nvPicPr>
        <p:blipFill>
          <a:blip r:embed="rId2"/>
          <a:stretch>
            <a:fillRect/>
          </a:stretch>
        </p:blipFill>
        <p:spPr>
          <a:xfrm>
            <a:off x="6553087" y="4836132"/>
            <a:ext cx="5638913" cy="1920268"/>
          </a:xfrm>
          <a:prstGeom prst="rect">
            <a:avLst/>
          </a:prstGeom>
        </p:spPr>
      </p:pic>
    </p:spTree>
    <p:extLst>
      <p:ext uri="{BB962C8B-B14F-4D97-AF65-F5344CB8AC3E}">
        <p14:creationId xmlns:p14="http://schemas.microsoft.com/office/powerpoint/2010/main" val="2377890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5CA8F-EAED-B02D-786B-7DF9E80AF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ED2E5-B035-533E-C9A0-CBD2D58CA552}"/>
              </a:ext>
            </a:extLst>
          </p:cNvPr>
          <p:cNvSpPr>
            <a:spLocks noGrp="1"/>
          </p:cNvSpPr>
          <p:nvPr>
            <p:ph type="title"/>
          </p:nvPr>
        </p:nvSpPr>
        <p:spPr>
          <a:xfrm>
            <a:off x="838200" y="0"/>
            <a:ext cx="10515600" cy="810532"/>
          </a:xfrm>
        </p:spPr>
        <p:txBody>
          <a:bodyPr>
            <a:normAutofit/>
          </a:bodyPr>
          <a:lstStyle/>
          <a:p>
            <a:pPr algn="ctr"/>
            <a:r>
              <a:rPr lang="en-US" sz="4000" kern="150" dirty="0">
                <a:solidFill>
                  <a:srgbClr val="FF0000"/>
                </a:solidFill>
                <a:effectLst/>
                <a:ea typeface="Calibri" panose="020F0502020204030204" pitchFamily="34" charset="0"/>
                <a:cs typeface="Times New Roman" panose="02020603050405020304" pitchFamily="18" charset="0"/>
              </a:rPr>
              <a:t>TF-IDF</a:t>
            </a:r>
            <a:endParaRPr lang="en-US" sz="4000" b="1" kern="150" dirty="0">
              <a:solidFill>
                <a:srgbClr val="FF0000"/>
              </a:solidFill>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D9F72F-468C-4CF2-1B61-7945F348C91B}"/>
              </a:ext>
            </a:extLst>
          </p:cNvPr>
          <p:cNvSpPr>
            <a:spLocks noGrp="1"/>
          </p:cNvSpPr>
          <p:nvPr>
            <p:ph idx="1"/>
          </p:nvPr>
        </p:nvSpPr>
        <p:spPr>
          <a:xfrm>
            <a:off x="142240" y="708932"/>
            <a:ext cx="12049760" cy="6047468"/>
          </a:xfrm>
        </p:spPr>
        <p:txBody>
          <a:bodyPr>
            <a:noAutofit/>
          </a:bodyPr>
          <a:lstStyle/>
          <a:p>
            <a:pPr marL="0" indent="0">
              <a:buNone/>
            </a:pPr>
            <a:r>
              <a:rPr lang="en-US" sz="2400" b="1" dirty="0">
                <a:solidFill>
                  <a:srgbClr val="FF0000"/>
                </a:solidFill>
              </a:rPr>
              <a:t>High Dimensionality</a:t>
            </a:r>
          </a:p>
          <a:p>
            <a:pPr>
              <a:buFont typeface="Arial" panose="020B0604020202020204" pitchFamily="34" charset="0"/>
              <a:buChar char="•"/>
            </a:pPr>
            <a:r>
              <a:rPr lang="en-US" sz="2400" dirty="0"/>
              <a:t>For large corpora with many unique words, the feature vectors generated by TF-IDF can be very high-dimensional, leading to computational </a:t>
            </a:r>
            <a:r>
              <a:rPr lang="en-US" sz="2400" dirty="0">
                <a:solidFill>
                  <a:srgbClr val="7030A0"/>
                </a:solidFill>
              </a:rPr>
              <a:t>inefficiency and storage </a:t>
            </a:r>
            <a:r>
              <a:rPr lang="en-US" sz="2400" dirty="0"/>
              <a:t>issues.</a:t>
            </a:r>
          </a:p>
          <a:p>
            <a:pPr marL="0" indent="0">
              <a:buNone/>
            </a:pPr>
            <a:r>
              <a:rPr lang="en-US" sz="2400" b="1" dirty="0">
                <a:solidFill>
                  <a:srgbClr val="FF0000"/>
                </a:solidFill>
              </a:rPr>
              <a:t>Ignores Context and Semantic Relationships</a:t>
            </a:r>
          </a:p>
          <a:p>
            <a:pPr>
              <a:buFont typeface="Arial" panose="020B0604020202020204" pitchFamily="34" charset="0"/>
              <a:buChar char="•"/>
            </a:pPr>
            <a:r>
              <a:rPr lang="en-US" sz="2400" dirty="0"/>
              <a:t>TF-IDF treats words as independent entities and does not capture the </a:t>
            </a:r>
            <a:r>
              <a:rPr lang="en-US" sz="2400" dirty="0">
                <a:solidFill>
                  <a:srgbClr val="7030A0"/>
                </a:solidFill>
              </a:rPr>
              <a:t>relationships or meanings of words</a:t>
            </a:r>
            <a:r>
              <a:rPr lang="en-US" sz="2400" dirty="0"/>
              <a:t>.</a:t>
            </a:r>
          </a:p>
          <a:p>
            <a:pPr marL="0" indent="0">
              <a:buNone/>
            </a:pPr>
            <a:r>
              <a:rPr lang="en-US" sz="2400" b="1" dirty="0">
                <a:solidFill>
                  <a:srgbClr val="FF0000"/>
                </a:solidFill>
              </a:rPr>
              <a:t>Does Not Consider Word Order</a:t>
            </a:r>
          </a:p>
          <a:p>
            <a:pPr>
              <a:buFont typeface="Arial" panose="020B0604020202020204" pitchFamily="34" charset="0"/>
              <a:buChar char="•"/>
            </a:pPr>
            <a:r>
              <a:rPr lang="en-US" sz="2400" dirty="0"/>
              <a:t>TF-IDF is a "bag of words" model, meaning it ignores the order of words in the document. </a:t>
            </a:r>
          </a:p>
          <a:p>
            <a:pPr>
              <a:buFont typeface="Arial" panose="020B0604020202020204" pitchFamily="34" charset="0"/>
              <a:buChar char="•"/>
            </a:pPr>
            <a:r>
              <a:rPr lang="en-US" sz="2400" dirty="0"/>
              <a:t>As a result, sentences with completely different meanings but similar word distributions can produce similar TF-IDF representations.</a:t>
            </a:r>
          </a:p>
        </p:txBody>
      </p:sp>
    </p:spTree>
    <p:extLst>
      <p:ext uri="{BB962C8B-B14F-4D97-AF65-F5344CB8AC3E}">
        <p14:creationId xmlns:p14="http://schemas.microsoft.com/office/powerpoint/2010/main" val="37031077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4D664-98A6-647C-F3C9-B24EDE4E6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E4B0B-D697-136A-0F58-A436D3F35851}"/>
              </a:ext>
            </a:extLst>
          </p:cNvPr>
          <p:cNvSpPr>
            <a:spLocks noGrp="1"/>
          </p:cNvSpPr>
          <p:nvPr>
            <p:ph type="title"/>
          </p:nvPr>
        </p:nvSpPr>
        <p:spPr>
          <a:xfrm>
            <a:off x="838200" y="0"/>
            <a:ext cx="10515600" cy="810532"/>
          </a:xfrm>
        </p:spPr>
        <p:txBody>
          <a:bodyPr>
            <a:normAutofit/>
          </a:bodyPr>
          <a:lstStyle/>
          <a:p>
            <a:pPr algn="ctr"/>
            <a:r>
              <a:rPr lang="en-US" sz="4000" dirty="0">
                <a:solidFill>
                  <a:srgbClr val="FF0000"/>
                </a:solidFill>
              </a:rPr>
              <a:t>Word embeddings</a:t>
            </a:r>
            <a:endParaRPr lang="en-US" sz="4000" b="1" kern="150" dirty="0">
              <a:solidFill>
                <a:srgbClr val="FF0000"/>
              </a:solidFill>
              <a:effectLst/>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5E2579-CBE3-7DCB-836C-D48D40353373}"/>
              </a:ext>
            </a:extLst>
          </p:cNvPr>
          <p:cNvSpPr>
            <a:spLocks noGrp="1"/>
          </p:cNvSpPr>
          <p:nvPr>
            <p:ph idx="1"/>
          </p:nvPr>
        </p:nvSpPr>
        <p:spPr>
          <a:xfrm>
            <a:off x="142240" y="1076960"/>
            <a:ext cx="12049760" cy="5679440"/>
          </a:xfrm>
        </p:spPr>
        <p:txBody>
          <a:bodyPr>
            <a:noAutofit/>
          </a:bodyPr>
          <a:lstStyle/>
          <a:p>
            <a:pPr algn="just"/>
            <a:r>
              <a:rPr lang="en-US" sz="2400" dirty="0"/>
              <a:t>Word embeddings in NLP are a type of word representation where words or phrases are mapped to numerical vectors in a continuous vector space.</a:t>
            </a:r>
          </a:p>
          <a:p>
            <a:pPr algn="just"/>
            <a:r>
              <a:rPr lang="en-US" sz="2400" dirty="0"/>
              <a:t>These vectors capture </a:t>
            </a:r>
            <a:r>
              <a:rPr lang="en-US" sz="2400" dirty="0">
                <a:solidFill>
                  <a:srgbClr val="7030A0"/>
                </a:solidFill>
              </a:rPr>
              <a:t>semantic</a:t>
            </a:r>
            <a:r>
              <a:rPr lang="en-US" sz="2400" dirty="0"/>
              <a:t> and </a:t>
            </a:r>
            <a:r>
              <a:rPr lang="en-US" sz="2400" dirty="0">
                <a:solidFill>
                  <a:srgbClr val="7030A0"/>
                </a:solidFill>
              </a:rPr>
              <a:t>syntactic</a:t>
            </a:r>
            <a:r>
              <a:rPr lang="en-US" sz="2400" dirty="0"/>
              <a:t> meanings of words such that similar words (in meaning or context) are represented by </a:t>
            </a:r>
            <a:r>
              <a:rPr lang="en-IN" sz="2400" dirty="0">
                <a:solidFill>
                  <a:srgbClr val="7030A0"/>
                </a:solidFill>
              </a:rPr>
              <a:t>similar vectors</a:t>
            </a:r>
            <a:r>
              <a:rPr lang="en-IN" sz="2400" dirty="0"/>
              <a:t>.</a:t>
            </a:r>
          </a:p>
          <a:p>
            <a:pPr marL="0" indent="0" algn="just">
              <a:buNone/>
            </a:pPr>
            <a:endParaRPr lang="en-IN" sz="2400" dirty="0"/>
          </a:p>
          <a:p>
            <a:pPr marL="0" indent="0" algn="just">
              <a:buNone/>
            </a:pPr>
            <a:r>
              <a:rPr lang="en-US" sz="2400" b="1" dirty="0"/>
              <a:t>Key Concepts in Word Embeddings</a:t>
            </a:r>
          </a:p>
          <a:p>
            <a:pPr marL="0" indent="0" algn="just">
              <a:buNone/>
            </a:pPr>
            <a:r>
              <a:rPr lang="en-US" sz="2400" b="1" dirty="0"/>
              <a:t>Representation</a:t>
            </a:r>
            <a:r>
              <a:rPr lang="en-US" sz="2400" dirty="0"/>
              <a:t>: Each word is represented as a fixed-size dense vector, where semantically similar words are closer together in the vector space.</a:t>
            </a:r>
          </a:p>
          <a:p>
            <a:pPr marL="0" indent="0" algn="just">
              <a:buNone/>
            </a:pPr>
            <a:r>
              <a:rPr lang="en-US" sz="2400" dirty="0"/>
              <a:t>Example: "king" and "queen" have vectors that are closer to each other than "king" and "apple."</a:t>
            </a:r>
          </a:p>
          <a:p>
            <a:pPr marL="0" indent="0" algn="just">
              <a:buNone/>
            </a:pPr>
            <a:r>
              <a:rPr lang="en-US" sz="2400" b="1" dirty="0"/>
              <a:t>Dimensionality</a:t>
            </a:r>
            <a:r>
              <a:rPr lang="en-US" sz="2400" dirty="0"/>
              <a:t>: The size of the vector is predefined, typically ranging from 50 to 300 dimensions, depending on the complexity of the language and the dataset.</a:t>
            </a:r>
          </a:p>
          <a:p>
            <a:pPr marL="0" indent="0" algn="just">
              <a:buNone/>
            </a:pPr>
            <a:r>
              <a:rPr lang="en-US" sz="2400" b="1" dirty="0"/>
              <a:t>Learning</a:t>
            </a:r>
            <a:r>
              <a:rPr lang="en-US" sz="2400" dirty="0"/>
              <a:t>: Embeddings are typically learned from large text corpora, leveraging the context in which words appear.</a:t>
            </a:r>
          </a:p>
          <a:p>
            <a:pPr marL="0" indent="0" algn="just">
              <a:buNone/>
            </a:pPr>
            <a:endParaRPr lang="en-IN" sz="2400" dirty="0"/>
          </a:p>
          <a:p>
            <a:pPr algn="just"/>
            <a:endParaRPr lang="en-US" sz="2400" dirty="0"/>
          </a:p>
        </p:txBody>
      </p:sp>
    </p:spTree>
    <p:extLst>
      <p:ext uri="{BB962C8B-B14F-4D97-AF65-F5344CB8AC3E}">
        <p14:creationId xmlns:p14="http://schemas.microsoft.com/office/powerpoint/2010/main" val="33295149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73755-948D-27D0-4058-8D103221B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0D0E4-FF7D-8DA5-12B5-67632863C9CD}"/>
              </a:ext>
            </a:extLst>
          </p:cNvPr>
          <p:cNvSpPr>
            <a:spLocks noGrp="1"/>
          </p:cNvSpPr>
          <p:nvPr>
            <p:ph type="title"/>
          </p:nvPr>
        </p:nvSpPr>
        <p:spPr>
          <a:xfrm>
            <a:off x="838200" y="0"/>
            <a:ext cx="10515600" cy="810532"/>
          </a:xfrm>
        </p:spPr>
        <p:txBody>
          <a:bodyPr>
            <a:normAutofit/>
          </a:bodyPr>
          <a:lstStyle/>
          <a:p>
            <a:pPr algn="ctr"/>
            <a:r>
              <a:rPr lang="en-US" sz="4000" b="1" dirty="0">
                <a:solidFill>
                  <a:srgbClr val="FF0000"/>
                </a:solidFill>
              </a:rPr>
              <a:t>Word Embedding Techniques/models</a:t>
            </a:r>
          </a:p>
        </p:txBody>
      </p:sp>
      <p:sp>
        <p:nvSpPr>
          <p:cNvPr id="3" name="Content Placeholder 2">
            <a:extLst>
              <a:ext uri="{FF2B5EF4-FFF2-40B4-BE49-F238E27FC236}">
                <a16:creationId xmlns:a16="http://schemas.microsoft.com/office/drawing/2014/main" id="{C5AE2026-1A86-B19A-4AF3-8189EBEC7291}"/>
              </a:ext>
            </a:extLst>
          </p:cNvPr>
          <p:cNvSpPr>
            <a:spLocks noGrp="1"/>
          </p:cNvSpPr>
          <p:nvPr>
            <p:ph idx="1"/>
          </p:nvPr>
        </p:nvSpPr>
        <p:spPr>
          <a:xfrm>
            <a:off x="142240" y="1076960"/>
            <a:ext cx="12049760" cy="5679440"/>
          </a:xfrm>
        </p:spPr>
        <p:txBody>
          <a:bodyPr>
            <a:noAutofit/>
          </a:bodyPr>
          <a:lstStyle/>
          <a:p>
            <a:pPr marL="0" indent="0">
              <a:buNone/>
            </a:pPr>
            <a:r>
              <a:rPr lang="en-US" b="1" dirty="0"/>
              <a:t>Static Embeddings</a:t>
            </a:r>
            <a:r>
              <a:rPr lang="en-US" dirty="0"/>
              <a:t>:</a:t>
            </a:r>
          </a:p>
          <a:p>
            <a:pPr marL="742950" lvl="1" indent="-285750">
              <a:buFont typeface="+mj-lt"/>
              <a:buAutoNum type="arabicPeriod"/>
            </a:pPr>
            <a:r>
              <a:rPr lang="en-US" dirty="0"/>
              <a:t>Word2Vec (Google): </a:t>
            </a:r>
          </a:p>
          <a:p>
            <a:pPr marL="742950" lvl="1" indent="-285750">
              <a:buFont typeface="+mj-lt"/>
              <a:buAutoNum type="arabicPeriod"/>
            </a:pPr>
            <a:r>
              <a:rPr lang="en-US" dirty="0" err="1"/>
              <a:t>GloVe</a:t>
            </a:r>
            <a:r>
              <a:rPr lang="en-US" dirty="0"/>
              <a:t> (Stanford)</a:t>
            </a:r>
          </a:p>
          <a:p>
            <a:pPr marL="742950" lvl="1" indent="-285750">
              <a:buFont typeface="+mj-lt"/>
              <a:buAutoNum type="arabicPeriod"/>
            </a:pPr>
            <a:r>
              <a:rPr lang="en-US" dirty="0" err="1"/>
              <a:t>FastText</a:t>
            </a:r>
            <a:r>
              <a:rPr lang="en-US" dirty="0"/>
              <a:t>(Facebook)</a:t>
            </a:r>
          </a:p>
          <a:p>
            <a:pPr marL="457200" lvl="1" indent="0">
              <a:buNone/>
            </a:pPr>
            <a:endParaRPr lang="en-US" dirty="0"/>
          </a:p>
          <a:p>
            <a:pPr marL="0" lvl="1" indent="0">
              <a:buNone/>
            </a:pPr>
            <a:r>
              <a:rPr lang="en-US" b="1" dirty="0"/>
              <a:t>Contextual Embeddings</a:t>
            </a:r>
            <a:r>
              <a:rPr lang="en-US" dirty="0"/>
              <a:t>:</a:t>
            </a:r>
          </a:p>
          <a:p>
            <a:pPr marL="742950" lvl="1" indent="-285750">
              <a:buFont typeface="+mj-lt"/>
              <a:buAutoNum type="arabicPeriod"/>
            </a:pPr>
            <a:r>
              <a:rPr lang="en-US" dirty="0"/>
              <a:t>ELMo (Embeddings from Language Models): </a:t>
            </a:r>
          </a:p>
          <a:p>
            <a:pPr marL="742950" lvl="1" indent="-285750">
              <a:buFont typeface="+mj-lt"/>
              <a:buAutoNum type="arabicPeriod"/>
            </a:pPr>
            <a:r>
              <a:rPr lang="en-US" dirty="0"/>
              <a:t>BERT (Bidirectional Encoder Representations from Transformers)</a:t>
            </a:r>
          </a:p>
          <a:p>
            <a:pPr marL="742950" lvl="1" indent="-285750">
              <a:buFont typeface="+mj-lt"/>
              <a:buAutoNum type="arabicPeriod"/>
            </a:pPr>
            <a:r>
              <a:rPr lang="en-US" dirty="0"/>
              <a:t>GPT (Generative Pre-trained Transformer)</a:t>
            </a:r>
          </a:p>
          <a:p>
            <a:pPr algn="just"/>
            <a:endParaRPr lang="en-IN" sz="2400" dirty="0"/>
          </a:p>
        </p:txBody>
      </p:sp>
    </p:spTree>
    <p:extLst>
      <p:ext uri="{BB962C8B-B14F-4D97-AF65-F5344CB8AC3E}">
        <p14:creationId xmlns:p14="http://schemas.microsoft.com/office/powerpoint/2010/main" val="6858151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CCED4-F751-AF32-856E-F1F41F4E7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DA118-CE3E-882D-8CF0-0B76BE02EB05}"/>
              </a:ext>
            </a:extLst>
          </p:cNvPr>
          <p:cNvSpPr>
            <a:spLocks noGrp="1"/>
          </p:cNvSpPr>
          <p:nvPr>
            <p:ph type="title"/>
          </p:nvPr>
        </p:nvSpPr>
        <p:spPr>
          <a:xfrm>
            <a:off x="838200" y="0"/>
            <a:ext cx="10515600" cy="810532"/>
          </a:xfrm>
        </p:spPr>
        <p:txBody>
          <a:bodyPr>
            <a:normAutofit/>
          </a:bodyPr>
          <a:lstStyle/>
          <a:p>
            <a:pPr algn="ctr"/>
            <a:r>
              <a:rPr lang="en-US" sz="4000" dirty="0">
                <a:solidFill>
                  <a:srgbClr val="FF0000"/>
                </a:solidFill>
              </a:rPr>
              <a:t>Word2Vec</a:t>
            </a:r>
            <a:endParaRPr lang="en-US" sz="4000" b="1" dirty="0">
              <a:solidFill>
                <a:srgbClr val="FF0000"/>
              </a:solidFill>
            </a:endParaRPr>
          </a:p>
        </p:txBody>
      </p:sp>
      <p:sp>
        <p:nvSpPr>
          <p:cNvPr id="3" name="Content Placeholder 2">
            <a:extLst>
              <a:ext uri="{FF2B5EF4-FFF2-40B4-BE49-F238E27FC236}">
                <a16:creationId xmlns:a16="http://schemas.microsoft.com/office/drawing/2014/main" id="{BA888BB7-B420-1012-DE0D-E56C9665E939}"/>
              </a:ext>
            </a:extLst>
          </p:cNvPr>
          <p:cNvSpPr>
            <a:spLocks noGrp="1"/>
          </p:cNvSpPr>
          <p:nvPr>
            <p:ph idx="1"/>
          </p:nvPr>
        </p:nvSpPr>
        <p:spPr>
          <a:xfrm>
            <a:off x="142240" y="731520"/>
            <a:ext cx="12049760" cy="6024880"/>
          </a:xfrm>
        </p:spPr>
        <p:txBody>
          <a:bodyPr>
            <a:noAutofit/>
          </a:bodyPr>
          <a:lstStyle/>
          <a:p>
            <a:pPr algn="just">
              <a:spcBef>
                <a:spcPts val="600"/>
              </a:spcBef>
            </a:pPr>
            <a:r>
              <a:rPr lang="en-US" sz="2400" dirty="0"/>
              <a:t>Word2Vec is a popular algorithm/model in NLP used to create vector representations of words.</a:t>
            </a:r>
          </a:p>
          <a:p>
            <a:pPr algn="just">
              <a:spcBef>
                <a:spcPts val="600"/>
              </a:spcBef>
            </a:pPr>
            <a:r>
              <a:rPr lang="en-US" sz="2400" dirty="0"/>
              <a:t>These vectors are called </a:t>
            </a:r>
            <a:r>
              <a:rPr lang="en-US" sz="2400" b="1" dirty="0"/>
              <a:t>word embeddings</a:t>
            </a:r>
            <a:r>
              <a:rPr lang="en-US" sz="2400" dirty="0"/>
              <a:t>.</a:t>
            </a:r>
          </a:p>
          <a:p>
            <a:pPr algn="just">
              <a:spcBef>
                <a:spcPts val="600"/>
              </a:spcBef>
            </a:pPr>
            <a:r>
              <a:rPr lang="en-US" sz="2400" dirty="0"/>
              <a:t>It was introduced by </a:t>
            </a:r>
            <a:r>
              <a:rPr lang="en-US" sz="2400" dirty="0">
                <a:solidFill>
                  <a:srgbClr val="7030A0"/>
                </a:solidFill>
              </a:rPr>
              <a:t>researchers at Google</a:t>
            </a:r>
            <a:r>
              <a:rPr lang="en-US" sz="2400" dirty="0"/>
              <a:t> in 2013</a:t>
            </a:r>
          </a:p>
          <a:p>
            <a:pPr algn="just">
              <a:spcBef>
                <a:spcPts val="600"/>
              </a:spcBef>
            </a:pPr>
            <a:r>
              <a:rPr lang="en-US" sz="2400" dirty="0"/>
              <a:t>Words that occur in similar contexts to have similar vector representations.</a:t>
            </a:r>
          </a:p>
          <a:p>
            <a:pPr algn="just">
              <a:spcBef>
                <a:spcPts val="600"/>
              </a:spcBef>
            </a:pPr>
            <a:r>
              <a:rPr lang="en-US" sz="2400" dirty="0"/>
              <a:t>Word2Vec uses a neural network-based approach that transforms words into dense vector representations.</a:t>
            </a:r>
          </a:p>
          <a:p>
            <a:pPr algn="just">
              <a:spcBef>
                <a:spcPts val="600"/>
              </a:spcBef>
            </a:pPr>
            <a:endParaRPr lang="en-US" sz="2400" dirty="0"/>
          </a:p>
          <a:p>
            <a:pPr marL="0" indent="0" algn="just">
              <a:spcBef>
                <a:spcPts val="600"/>
              </a:spcBef>
              <a:buNone/>
            </a:pPr>
            <a:r>
              <a:rPr lang="en-US" sz="2400" dirty="0"/>
              <a:t>Two main architectures used in the Word2Vec model to learn word embeddings:</a:t>
            </a:r>
          </a:p>
          <a:p>
            <a:pPr marL="0" indent="0" algn="just">
              <a:spcBef>
                <a:spcPts val="600"/>
              </a:spcBef>
              <a:buNone/>
            </a:pPr>
            <a:r>
              <a:rPr lang="en-US" sz="2400" b="1" dirty="0"/>
              <a:t>CBOW (Continuous Bag of Words)</a:t>
            </a:r>
            <a:r>
              <a:rPr lang="en-US" sz="2400" dirty="0"/>
              <a:t>: Predicts the target/center word based on its context (surrounding words).</a:t>
            </a:r>
          </a:p>
          <a:p>
            <a:pPr marL="0" indent="0" algn="just">
              <a:spcBef>
                <a:spcPts val="600"/>
              </a:spcBef>
              <a:buNone/>
            </a:pPr>
            <a:r>
              <a:rPr lang="en-US" sz="2400" b="1" dirty="0"/>
              <a:t>Skip-gram</a:t>
            </a:r>
            <a:r>
              <a:rPr lang="en-US" sz="2400" dirty="0"/>
              <a:t>: Predicts the context words(surrounding words) based on the target/center word.</a:t>
            </a:r>
          </a:p>
          <a:p>
            <a:pPr algn="just">
              <a:spcBef>
                <a:spcPts val="600"/>
              </a:spcBef>
            </a:pPr>
            <a:endParaRPr lang="en-IN" sz="2400" dirty="0"/>
          </a:p>
        </p:txBody>
      </p:sp>
    </p:spTree>
    <p:extLst>
      <p:ext uri="{BB962C8B-B14F-4D97-AF65-F5344CB8AC3E}">
        <p14:creationId xmlns:p14="http://schemas.microsoft.com/office/powerpoint/2010/main" val="29915245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F9EF4-7DFC-1778-8E2C-52DF6070F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70999-4476-3C5F-F413-F455369C64D9}"/>
              </a:ext>
            </a:extLst>
          </p:cNvPr>
          <p:cNvSpPr>
            <a:spLocks noGrp="1"/>
          </p:cNvSpPr>
          <p:nvPr>
            <p:ph type="title"/>
          </p:nvPr>
        </p:nvSpPr>
        <p:spPr>
          <a:xfrm>
            <a:off x="838200" y="0"/>
            <a:ext cx="10515600" cy="810532"/>
          </a:xfrm>
        </p:spPr>
        <p:txBody>
          <a:bodyPr>
            <a:normAutofit/>
          </a:bodyPr>
          <a:lstStyle/>
          <a:p>
            <a:pPr algn="ctr"/>
            <a:r>
              <a:rPr lang="en-US" sz="3600" b="1" dirty="0">
                <a:solidFill>
                  <a:srgbClr val="FF0000"/>
                </a:solidFill>
              </a:rPr>
              <a:t>Word2Vec with CBOW </a:t>
            </a:r>
          </a:p>
        </p:txBody>
      </p:sp>
      <p:sp>
        <p:nvSpPr>
          <p:cNvPr id="3" name="Content Placeholder 2">
            <a:extLst>
              <a:ext uri="{FF2B5EF4-FFF2-40B4-BE49-F238E27FC236}">
                <a16:creationId xmlns:a16="http://schemas.microsoft.com/office/drawing/2014/main" id="{C7033058-14E9-D256-1EA8-1BE2B77C1E41}"/>
              </a:ext>
            </a:extLst>
          </p:cNvPr>
          <p:cNvSpPr>
            <a:spLocks noGrp="1"/>
          </p:cNvSpPr>
          <p:nvPr>
            <p:ph idx="1"/>
          </p:nvPr>
        </p:nvSpPr>
        <p:spPr>
          <a:xfrm>
            <a:off x="142240" y="731520"/>
            <a:ext cx="12049760" cy="6024880"/>
          </a:xfrm>
        </p:spPr>
        <p:txBody>
          <a:bodyPr>
            <a:noAutofit/>
          </a:bodyPr>
          <a:lstStyle/>
          <a:p>
            <a:pPr algn="just">
              <a:spcBef>
                <a:spcPts val="600"/>
              </a:spcBef>
            </a:pPr>
            <a:r>
              <a:rPr lang="en-US" sz="2400" dirty="0"/>
              <a:t>CBOW predicts a target word based on its </a:t>
            </a:r>
            <a:r>
              <a:rPr lang="en-US" sz="2400" b="1" dirty="0"/>
              <a:t>context words</a:t>
            </a:r>
            <a:r>
              <a:rPr lang="en-US" sz="2400" dirty="0"/>
              <a:t>.</a:t>
            </a:r>
            <a:endParaRPr lang="en-IN" sz="2400" dirty="0"/>
          </a:p>
          <a:p>
            <a:pPr algn="just">
              <a:spcBef>
                <a:spcPts val="600"/>
              </a:spcBef>
            </a:pPr>
            <a:endParaRPr lang="en-IN" sz="2400" dirty="0"/>
          </a:p>
          <a:p>
            <a:pPr algn="just">
              <a:spcBef>
                <a:spcPts val="600"/>
              </a:spcBef>
            </a:pPr>
            <a:endParaRPr lang="en-IN" sz="2400" dirty="0"/>
          </a:p>
          <a:p>
            <a:pPr marL="0" indent="0" algn="just">
              <a:spcBef>
                <a:spcPts val="600"/>
              </a:spcBef>
              <a:buNone/>
            </a:pPr>
            <a:endParaRPr lang="en-US" sz="2400" dirty="0"/>
          </a:p>
        </p:txBody>
      </p:sp>
      <p:pic>
        <p:nvPicPr>
          <p:cNvPr id="1026" name="Picture 2" descr="CBOW Architecture">
            <a:extLst>
              <a:ext uri="{FF2B5EF4-FFF2-40B4-BE49-F238E27FC236}">
                <a16:creationId xmlns:a16="http://schemas.microsoft.com/office/drawing/2014/main" id="{86276D5A-F4A3-C27B-D0C2-A8E8CE1493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9720" y="1600324"/>
            <a:ext cx="5542280" cy="40576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EEC50B9-48D1-D746-BD79-D230FFEE05F5}"/>
              </a:ext>
            </a:extLst>
          </p:cNvPr>
          <p:cNvSpPr>
            <a:spLocks noChangeArrowheads="1"/>
          </p:cNvSpPr>
          <p:nvPr/>
        </p:nvSpPr>
        <p:spPr bwMode="auto">
          <a:xfrm>
            <a:off x="309880" y="1336642"/>
            <a:ext cx="61722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rPr>
              <a:t>How CBOW Works:</a:t>
            </a:r>
          </a:p>
          <a:p>
            <a:r>
              <a:rPr lang="en-US" sz="2400" dirty="0"/>
              <a:t>For example, if the window size is </a:t>
            </a:r>
            <a:r>
              <a:rPr lang="en-US" sz="2400" b="1" dirty="0"/>
              <a:t>2</a:t>
            </a:r>
            <a:r>
              <a:rPr lang="en-US" sz="2400" dirty="0"/>
              <a:t>, the model will look at two words before and two words after the target word in the sentence. </a:t>
            </a:r>
          </a:p>
          <a:p>
            <a:r>
              <a:rPr lang="en-US" sz="2400" dirty="0"/>
              <a:t>"The cat sat on the mat."</a:t>
            </a:r>
          </a:p>
          <a:p>
            <a:r>
              <a:rPr lang="en-US" sz="2400" dirty="0"/>
              <a:t>And the target word is "sat" with a window size of 2, the context would be:</a:t>
            </a:r>
          </a:p>
          <a:p>
            <a:pPr>
              <a:buFont typeface="Arial" panose="020B0604020202020204" pitchFamily="34" charset="0"/>
              <a:buChar char="•"/>
            </a:pPr>
            <a:r>
              <a:rPr lang="en-US" sz="2400" dirty="0"/>
              <a:t>Context words: ["The", "cat", "on", "the"]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Output: Target Word</a:t>
            </a:r>
            <a:endParaRPr kumimoji="0" lang="en-US" altLang="en-US" sz="2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The model learns to predict the word sat using the context words.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01816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D0C0C-E130-0871-2A04-B0EDC7BAE90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8F690673-4390-C90F-7C23-84FC46BA345A}"/>
              </a:ext>
            </a:extLst>
          </p:cNvPr>
          <p:cNvPicPr>
            <a:picLocks noChangeAspect="1"/>
          </p:cNvPicPr>
          <p:nvPr/>
        </p:nvPicPr>
        <p:blipFill>
          <a:blip r:embed="rId2"/>
          <a:stretch>
            <a:fillRect/>
          </a:stretch>
        </p:blipFill>
        <p:spPr>
          <a:xfrm>
            <a:off x="0" y="0"/>
            <a:ext cx="6484930" cy="1391920"/>
          </a:xfrm>
          <a:prstGeom prst="rect">
            <a:avLst/>
          </a:prstGeom>
        </p:spPr>
      </p:pic>
      <p:pic>
        <p:nvPicPr>
          <p:cNvPr id="14" name="Picture 13">
            <a:extLst>
              <a:ext uri="{FF2B5EF4-FFF2-40B4-BE49-F238E27FC236}">
                <a16:creationId xmlns:a16="http://schemas.microsoft.com/office/drawing/2014/main" id="{44B82205-A338-9755-B29B-05C4C41A8941}"/>
              </a:ext>
            </a:extLst>
          </p:cNvPr>
          <p:cNvPicPr>
            <a:picLocks noChangeAspect="1"/>
          </p:cNvPicPr>
          <p:nvPr/>
        </p:nvPicPr>
        <p:blipFill>
          <a:blip r:embed="rId3"/>
          <a:stretch>
            <a:fillRect/>
          </a:stretch>
        </p:blipFill>
        <p:spPr>
          <a:xfrm>
            <a:off x="0" y="1436163"/>
            <a:ext cx="6573520" cy="3204003"/>
          </a:xfrm>
          <a:prstGeom prst="rect">
            <a:avLst/>
          </a:prstGeom>
        </p:spPr>
      </p:pic>
      <p:pic>
        <p:nvPicPr>
          <p:cNvPr id="16" name="Picture 15">
            <a:extLst>
              <a:ext uri="{FF2B5EF4-FFF2-40B4-BE49-F238E27FC236}">
                <a16:creationId xmlns:a16="http://schemas.microsoft.com/office/drawing/2014/main" id="{2742E540-32DE-96E3-4A53-146278CC6C8A}"/>
              </a:ext>
            </a:extLst>
          </p:cNvPr>
          <p:cNvPicPr>
            <a:picLocks noChangeAspect="1"/>
          </p:cNvPicPr>
          <p:nvPr/>
        </p:nvPicPr>
        <p:blipFill>
          <a:blip r:embed="rId4"/>
          <a:stretch>
            <a:fillRect/>
          </a:stretch>
        </p:blipFill>
        <p:spPr>
          <a:xfrm>
            <a:off x="0" y="4899053"/>
            <a:ext cx="5359675" cy="1958947"/>
          </a:xfrm>
          <a:prstGeom prst="rect">
            <a:avLst/>
          </a:prstGeom>
        </p:spPr>
      </p:pic>
      <p:pic>
        <p:nvPicPr>
          <p:cNvPr id="18" name="Picture 17">
            <a:extLst>
              <a:ext uri="{FF2B5EF4-FFF2-40B4-BE49-F238E27FC236}">
                <a16:creationId xmlns:a16="http://schemas.microsoft.com/office/drawing/2014/main" id="{9A762C6F-392C-7441-3D41-647B2F20C965}"/>
              </a:ext>
            </a:extLst>
          </p:cNvPr>
          <p:cNvPicPr>
            <a:picLocks noChangeAspect="1"/>
          </p:cNvPicPr>
          <p:nvPr/>
        </p:nvPicPr>
        <p:blipFill>
          <a:blip r:embed="rId5"/>
          <a:stretch>
            <a:fillRect/>
          </a:stretch>
        </p:blipFill>
        <p:spPr>
          <a:xfrm>
            <a:off x="6918960" y="0"/>
            <a:ext cx="5161280" cy="3477342"/>
          </a:xfrm>
          <a:prstGeom prst="rect">
            <a:avLst/>
          </a:prstGeom>
        </p:spPr>
      </p:pic>
      <p:pic>
        <p:nvPicPr>
          <p:cNvPr id="20" name="Picture 19">
            <a:extLst>
              <a:ext uri="{FF2B5EF4-FFF2-40B4-BE49-F238E27FC236}">
                <a16:creationId xmlns:a16="http://schemas.microsoft.com/office/drawing/2014/main" id="{1A618404-CB41-1DD4-DE78-151974EF2198}"/>
              </a:ext>
            </a:extLst>
          </p:cNvPr>
          <p:cNvPicPr>
            <a:picLocks noChangeAspect="1"/>
          </p:cNvPicPr>
          <p:nvPr/>
        </p:nvPicPr>
        <p:blipFill>
          <a:blip r:embed="rId6"/>
          <a:stretch>
            <a:fillRect/>
          </a:stretch>
        </p:blipFill>
        <p:spPr>
          <a:xfrm>
            <a:off x="7091026" y="3645069"/>
            <a:ext cx="4817148" cy="777477"/>
          </a:xfrm>
          <a:prstGeom prst="rect">
            <a:avLst/>
          </a:prstGeom>
        </p:spPr>
      </p:pic>
      <p:pic>
        <p:nvPicPr>
          <p:cNvPr id="22" name="Picture 21">
            <a:extLst>
              <a:ext uri="{FF2B5EF4-FFF2-40B4-BE49-F238E27FC236}">
                <a16:creationId xmlns:a16="http://schemas.microsoft.com/office/drawing/2014/main" id="{E7B18E03-C47C-8026-1B62-026872DDA027}"/>
              </a:ext>
            </a:extLst>
          </p:cNvPr>
          <p:cNvPicPr>
            <a:picLocks noChangeAspect="1"/>
          </p:cNvPicPr>
          <p:nvPr/>
        </p:nvPicPr>
        <p:blipFill>
          <a:blip r:embed="rId7"/>
          <a:stretch>
            <a:fillRect/>
          </a:stretch>
        </p:blipFill>
        <p:spPr>
          <a:xfrm>
            <a:off x="6918960" y="4616615"/>
            <a:ext cx="3858993" cy="838498"/>
          </a:xfrm>
          <a:prstGeom prst="rect">
            <a:avLst/>
          </a:prstGeom>
        </p:spPr>
      </p:pic>
      <p:pic>
        <p:nvPicPr>
          <p:cNvPr id="26" name="Picture 25">
            <a:extLst>
              <a:ext uri="{FF2B5EF4-FFF2-40B4-BE49-F238E27FC236}">
                <a16:creationId xmlns:a16="http://schemas.microsoft.com/office/drawing/2014/main" id="{4968B0D8-3303-9DBF-D1B3-D73C18603ECA}"/>
              </a:ext>
            </a:extLst>
          </p:cNvPr>
          <p:cNvPicPr>
            <a:picLocks noChangeAspect="1"/>
          </p:cNvPicPr>
          <p:nvPr/>
        </p:nvPicPr>
        <p:blipFill>
          <a:blip r:embed="rId8"/>
          <a:stretch>
            <a:fillRect/>
          </a:stretch>
        </p:blipFill>
        <p:spPr>
          <a:xfrm>
            <a:off x="7218618" y="5455113"/>
            <a:ext cx="3929353" cy="376215"/>
          </a:xfrm>
          <a:prstGeom prst="rect">
            <a:avLst/>
          </a:prstGeom>
        </p:spPr>
      </p:pic>
      <p:sp>
        <p:nvSpPr>
          <p:cNvPr id="27" name="TextBox 26">
            <a:extLst>
              <a:ext uri="{FF2B5EF4-FFF2-40B4-BE49-F238E27FC236}">
                <a16:creationId xmlns:a16="http://schemas.microsoft.com/office/drawing/2014/main" id="{78E749DB-24D6-4BA6-9526-FF3003255DEF}"/>
              </a:ext>
            </a:extLst>
          </p:cNvPr>
          <p:cNvSpPr txBox="1"/>
          <p:nvPr/>
        </p:nvSpPr>
        <p:spPr>
          <a:xfrm>
            <a:off x="4673600" y="5817903"/>
            <a:ext cx="7518400" cy="1015663"/>
          </a:xfrm>
          <a:prstGeom prst="rect">
            <a:avLst/>
          </a:prstGeom>
          <a:noFill/>
        </p:spPr>
        <p:txBody>
          <a:bodyPr wrap="square">
            <a:spAutoFit/>
          </a:bodyPr>
          <a:lstStyle/>
          <a:p>
            <a:pPr eaLnBrk="0" fontAlgn="base" hangingPunct="0">
              <a:spcBef>
                <a:spcPct val="0"/>
              </a:spcBef>
              <a:spcAft>
                <a:spcPct val="0"/>
              </a:spcAft>
            </a:pPr>
            <a:r>
              <a:rPr lang="en-US" sz="2000" b="0" i="0" dirty="0">
                <a:solidFill>
                  <a:srgbClr val="7030A0"/>
                </a:solidFill>
                <a:effectLst/>
              </a:rPr>
              <a:t>Once the training is done in the whole vocabulary</a:t>
            </a:r>
            <a:r>
              <a:rPr kumimoji="0" lang="en-US" altLang="en-US" sz="2000" b="0" i="0" u="none" strike="noStrike" cap="none" normalizeH="0" baseline="0" dirty="0">
                <a:ln>
                  <a:noFill/>
                </a:ln>
                <a:solidFill>
                  <a:srgbClr val="7030A0"/>
                </a:solidFill>
                <a:effectLst/>
              </a:rPr>
              <a:t>, the weight matrix </a:t>
            </a:r>
            <a:r>
              <a:rPr lang="en-US" altLang="en-US" sz="2000" dirty="0">
                <a:solidFill>
                  <a:srgbClr val="7030A0"/>
                </a:solidFill>
              </a:rPr>
              <a:t> </a:t>
            </a:r>
            <a:r>
              <a:rPr lang="en-US" sz="2000" b="1" kern="100" dirty="0" err="1">
                <a:solidFill>
                  <a:srgbClr val="7030A0"/>
                </a:solidFill>
                <a:effectLst/>
                <a:ea typeface="Calibri" panose="020F0502020204030204" pitchFamily="34" charset="0"/>
                <a:cs typeface="Times New Roman" panose="02020603050405020304" pitchFamily="18" charset="0"/>
              </a:rPr>
              <a:t>W</a:t>
            </a:r>
            <a:r>
              <a:rPr lang="en-US" sz="2000" b="1" kern="100" baseline="-25000" dirty="0" err="1">
                <a:solidFill>
                  <a:srgbClr val="7030A0"/>
                </a:solidFill>
                <a:effectLst/>
                <a:ea typeface="Calibri" panose="020F0502020204030204" pitchFamily="34" charset="0"/>
                <a:cs typeface="Times New Roman" panose="02020603050405020304" pitchFamily="18" charset="0"/>
              </a:rPr>
              <a:t>VxN</a:t>
            </a:r>
            <a:r>
              <a:rPr lang="en-US" sz="2000" b="1" kern="100" baseline="-25000" dirty="0">
                <a:solidFill>
                  <a:srgbClr val="7030A0"/>
                </a:solidFill>
                <a:effectLst/>
                <a:ea typeface="Calibri" panose="020F0502020204030204" pitchFamily="34" charset="0"/>
                <a:cs typeface="Times New Roman" panose="02020603050405020304" pitchFamily="18" charset="0"/>
              </a:rPr>
              <a:t> </a:t>
            </a:r>
            <a:r>
              <a:rPr kumimoji="0" lang="en-US" altLang="en-US" sz="2000" b="0" i="0" u="none" strike="noStrike" cap="none" normalizeH="0" baseline="0" dirty="0">
                <a:ln>
                  <a:noFill/>
                </a:ln>
                <a:solidFill>
                  <a:srgbClr val="7030A0"/>
                </a:solidFill>
                <a:effectLst/>
              </a:rPr>
              <a:t>     </a:t>
            </a:r>
            <a:r>
              <a:rPr lang="en-US" sz="2000" dirty="0">
                <a:solidFill>
                  <a:srgbClr val="7030A0"/>
                </a:solidFill>
              </a:rPr>
              <a:t> contains the word embeddings, where each row corresponds to the vector representation of a word</a:t>
            </a:r>
            <a:endParaRPr kumimoji="0" lang="en-US" altLang="en-US" sz="2000" b="0" i="0" u="none" strike="noStrike" cap="none" normalizeH="0" baseline="0" dirty="0">
              <a:ln>
                <a:noFill/>
              </a:ln>
              <a:solidFill>
                <a:srgbClr val="7030A0"/>
              </a:solidFill>
              <a:effectLst/>
            </a:endParaRPr>
          </a:p>
        </p:txBody>
      </p:sp>
    </p:spTree>
    <p:extLst>
      <p:ext uri="{BB962C8B-B14F-4D97-AF65-F5344CB8AC3E}">
        <p14:creationId xmlns:p14="http://schemas.microsoft.com/office/powerpoint/2010/main" val="3679493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AAA5B-015D-E699-79D5-CAB9BB565D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7FC43D-FCD4-FD46-595D-400C9192757F}"/>
              </a:ext>
            </a:extLst>
          </p:cNvPr>
          <p:cNvSpPr>
            <a:spLocks noGrp="1"/>
          </p:cNvSpPr>
          <p:nvPr>
            <p:ph idx="1"/>
          </p:nvPr>
        </p:nvSpPr>
        <p:spPr>
          <a:xfrm>
            <a:off x="142240" y="731520"/>
            <a:ext cx="12049760" cy="6024880"/>
          </a:xfrm>
        </p:spPr>
        <p:txBody>
          <a:bodyPr>
            <a:noAutofit/>
          </a:bodyPr>
          <a:lstStyle/>
          <a:p>
            <a:pPr>
              <a:buFont typeface="Arial" panose="020B0604020202020204" pitchFamily="34" charset="0"/>
              <a:buChar char="•"/>
            </a:pPr>
            <a:endParaRPr lang="en-US" sz="1600" dirty="0"/>
          </a:p>
          <a:p>
            <a:pPr marL="0" indent="0">
              <a:buNone/>
            </a:pPr>
            <a:endParaRPr lang="en-US" sz="1600" dirty="0"/>
          </a:p>
        </p:txBody>
      </p:sp>
      <p:pic>
        <p:nvPicPr>
          <p:cNvPr id="4" name="Picture 3">
            <a:extLst>
              <a:ext uri="{FF2B5EF4-FFF2-40B4-BE49-F238E27FC236}">
                <a16:creationId xmlns:a16="http://schemas.microsoft.com/office/drawing/2014/main" id="{DE9CE471-E259-70DC-5B69-2AA797235913}"/>
              </a:ext>
            </a:extLst>
          </p:cNvPr>
          <p:cNvPicPr>
            <a:picLocks noChangeAspect="1"/>
          </p:cNvPicPr>
          <p:nvPr/>
        </p:nvPicPr>
        <p:blipFill>
          <a:blip r:embed="rId2"/>
          <a:stretch>
            <a:fillRect/>
          </a:stretch>
        </p:blipFill>
        <p:spPr>
          <a:xfrm>
            <a:off x="0" y="27949"/>
            <a:ext cx="8392160" cy="1518938"/>
          </a:xfrm>
          <a:prstGeom prst="rect">
            <a:avLst/>
          </a:prstGeom>
        </p:spPr>
      </p:pic>
      <p:pic>
        <p:nvPicPr>
          <p:cNvPr id="7" name="Picture 6">
            <a:extLst>
              <a:ext uri="{FF2B5EF4-FFF2-40B4-BE49-F238E27FC236}">
                <a16:creationId xmlns:a16="http://schemas.microsoft.com/office/drawing/2014/main" id="{6C94EB7D-A0E5-2CC1-176D-67FE1A6E5F4A}"/>
              </a:ext>
            </a:extLst>
          </p:cNvPr>
          <p:cNvPicPr>
            <a:picLocks noChangeAspect="1"/>
          </p:cNvPicPr>
          <p:nvPr/>
        </p:nvPicPr>
        <p:blipFill>
          <a:blip r:embed="rId3"/>
          <a:stretch>
            <a:fillRect/>
          </a:stretch>
        </p:blipFill>
        <p:spPr>
          <a:xfrm>
            <a:off x="142240" y="1490989"/>
            <a:ext cx="7884160" cy="4646168"/>
          </a:xfrm>
          <a:prstGeom prst="rect">
            <a:avLst/>
          </a:prstGeom>
        </p:spPr>
      </p:pic>
      <p:pic>
        <p:nvPicPr>
          <p:cNvPr id="9" name="Picture 8">
            <a:extLst>
              <a:ext uri="{FF2B5EF4-FFF2-40B4-BE49-F238E27FC236}">
                <a16:creationId xmlns:a16="http://schemas.microsoft.com/office/drawing/2014/main" id="{AF2C021B-AB7C-F24E-4166-550E9B97F644}"/>
              </a:ext>
            </a:extLst>
          </p:cNvPr>
          <p:cNvPicPr>
            <a:picLocks noChangeAspect="1"/>
          </p:cNvPicPr>
          <p:nvPr/>
        </p:nvPicPr>
        <p:blipFill>
          <a:blip r:embed="rId4"/>
          <a:stretch>
            <a:fillRect/>
          </a:stretch>
        </p:blipFill>
        <p:spPr>
          <a:xfrm>
            <a:off x="8343007" y="1199835"/>
            <a:ext cx="3848994" cy="4795520"/>
          </a:xfrm>
          <a:prstGeom prst="rect">
            <a:avLst/>
          </a:prstGeom>
        </p:spPr>
      </p:pic>
      <p:pic>
        <p:nvPicPr>
          <p:cNvPr id="10" name="Picture 9">
            <a:extLst>
              <a:ext uri="{FF2B5EF4-FFF2-40B4-BE49-F238E27FC236}">
                <a16:creationId xmlns:a16="http://schemas.microsoft.com/office/drawing/2014/main" id="{A5BD3806-EAB7-C310-B5D0-F7C18CC42382}"/>
              </a:ext>
            </a:extLst>
          </p:cNvPr>
          <p:cNvPicPr>
            <a:picLocks noChangeAspect="1"/>
          </p:cNvPicPr>
          <p:nvPr/>
        </p:nvPicPr>
        <p:blipFill>
          <a:blip r:embed="rId5"/>
          <a:stretch>
            <a:fillRect/>
          </a:stretch>
        </p:blipFill>
        <p:spPr>
          <a:xfrm>
            <a:off x="8534400" y="44450"/>
            <a:ext cx="1050322" cy="1060932"/>
          </a:xfrm>
          <a:prstGeom prst="rect">
            <a:avLst/>
          </a:prstGeom>
        </p:spPr>
      </p:pic>
      <p:sp>
        <p:nvSpPr>
          <p:cNvPr id="5" name="AutoShape 2" descr="\mathbf{W}_{VxE}">
            <a:extLst>
              <a:ext uri="{FF2B5EF4-FFF2-40B4-BE49-F238E27FC236}">
                <a16:creationId xmlns:a16="http://schemas.microsoft.com/office/drawing/2014/main" id="{3DD2CF51-6881-7988-2D3F-5FF5F83A157A}"/>
              </a:ext>
            </a:extLst>
          </p:cNvPr>
          <p:cNvSpPr>
            <a:spLocks noChangeAspect="1" noChangeArrowheads="1"/>
          </p:cNvSpPr>
          <p:nvPr/>
        </p:nvSpPr>
        <p:spPr bwMode="auto">
          <a:xfrm>
            <a:off x="4508500" y="-98425"/>
            <a:ext cx="485775" cy="142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0C1EF98E-6EEA-24D8-C87C-D690CA07EC23}"/>
              </a:ext>
            </a:extLst>
          </p:cNvPr>
          <p:cNvSpPr txBox="1"/>
          <p:nvPr/>
        </p:nvSpPr>
        <p:spPr>
          <a:xfrm>
            <a:off x="335279" y="6204522"/>
            <a:ext cx="12049759" cy="769441"/>
          </a:xfrm>
          <a:prstGeom prst="rect">
            <a:avLst/>
          </a:prstGeom>
          <a:noFill/>
        </p:spPr>
        <p:txBody>
          <a:bodyPr wrap="square">
            <a:spAutoFit/>
          </a:bodyPr>
          <a:lstStyle/>
          <a:p>
            <a:pPr eaLnBrk="0" fontAlgn="base" hangingPunct="0">
              <a:spcBef>
                <a:spcPct val="0"/>
              </a:spcBef>
              <a:spcAft>
                <a:spcPct val="0"/>
              </a:spcAft>
            </a:pPr>
            <a:r>
              <a:rPr lang="en-US" sz="2200" b="0" i="0" dirty="0">
                <a:solidFill>
                  <a:srgbClr val="7030A0"/>
                </a:solidFill>
                <a:effectLst/>
              </a:rPr>
              <a:t>Once the training is done in the whole vocabulary</a:t>
            </a:r>
            <a:r>
              <a:rPr kumimoji="0" lang="en-US" altLang="en-US" sz="2200" b="0" i="0" u="none" strike="noStrike" cap="none" normalizeH="0" baseline="0" dirty="0">
                <a:ln>
                  <a:noFill/>
                </a:ln>
                <a:solidFill>
                  <a:srgbClr val="7030A0"/>
                </a:solidFill>
                <a:effectLst/>
              </a:rPr>
              <a:t>, the weight matrix </a:t>
            </a:r>
            <a:r>
              <a:rPr lang="en-US" altLang="en-US" sz="2200" dirty="0">
                <a:solidFill>
                  <a:srgbClr val="7030A0"/>
                </a:solidFill>
              </a:rPr>
              <a:t> </a:t>
            </a:r>
            <a:r>
              <a:rPr lang="en-US" sz="2200" b="1" kern="100" dirty="0" err="1">
                <a:solidFill>
                  <a:srgbClr val="7030A0"/>
                </a:solidFill>
                <a:effectLst/>
                <a:ea typeface="Calibri" panose="020F0502020204030204" pitchFamily="34" charset="0"/>
                <a:cs typeface="Times New Roman" panose="02020603050405020304" pitchFamily="18" charset="0"/>
              </a:rPr>
              <a:t>W</a:t>
            </a:r>
            <a:r>
              <a:rPr lang="en-US" sz="2200" b="1" kern="100" baseline="-25000" dirty="0" err="1">
                <a:solidFill>
                  <a:srgbClr val="7030A0"/>
                </a:solidFill>
                <a:effectLst/>
                <a:ea typeface="Calibri" panose="020F0502020204030204" pitchFamily="34" charset="0"/>
                <a:cs typeface="Times New Roman" panose="02020603050405020304" pitchFamily="18" charset="0"/>
              </a:rPr>
              <a:t>VxN</a:t>
            </a:r>
            <a:endParaRPr lang="en-IN" sz="2200" kern="100" dirty="0">
              <a:solidFill>
                <a:srgbClr val="7030A0"/>
              </a:solidFill>
              <a:effectLst/>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7030A0"/>
                </a:solidFill>
                <a:effectLst/>
              </a:rPr>
              <a:t>     </a:t>
            </a:r>
            <a:r>
              <a:rPr lang="en-US" sz="2200" dirty="0">
                <a:solidFill>
                  <a:srgbClr val="7030A0"/>
                </a:solidFill>
              </a:rPr>
              <a:t> contains the word embeddings, where each row corresponds to the vector representation of a word</a:t>
            </a:r>
            <a:endParaRPr kumimoji="0" lang="en-US" altLang="en-US" sz="2200" b="0" i="0" u="none" strike="noStrike" cap="none" normalizeH="0" baseline="0" dirty="0">
              <a:ln>
                <a:noFill/>
              </a:ln>
              <a:solidFill>
                <a:srgbClr val="7030A0"/>
              </a:solidFill>
              <a:effectLst/>
            </a:endParaRPr>
          </a:p>
        </p:txBody>
      </p:sp>
    </p:spTree>
    <p:extLst>
      <p:ext uri="{BB962C8B-B14F-4D97-AF65-F5344CB8AC3E}">
        <p14:creationId xmlns:p14="http://schemas.microsoft.com/office/powerpoint/2010/main" val="18145940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3D875-D453-933A-786C-D5D7D9FDB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C3A470-8B21-2F68-EAEA-D9E9CB084D18}"/>
              </a:ext>
            </a:extLst>
          </p:cNvPr>
          <p:cNvSpPr>
            <a:spLocks noGrp="1"/>
          </p:cNvSpPr>
          <p:nvPr>
            <p:ph type="title"/>
          </p:nvPr>
        </p:nvSpPr>
        <p:spPr>
          <a:xfrm>
            <a:off x="838200" y="0"/>
            <a:ext cx="10515600" cy="810532"/>
          </a:xfrm>
        </p:spPr>
        <p:txBody>
          <a:bodyPr>
            <a:normAutofit/>
          </a:bodyPr>
          <a:lstStyle/>
          <a:p>
            <a:pPr algn="ctr"/>
            <a:r>
              <a:rPr lang="en-US" sz="3600" b="1" dirty="0">
                <a:solidFill>
                  <a:srgbClr val="FF0000"/>
                </a:solidFill>
                <a:latin typeface="+mn-lt"/>
              </a:rPr>
              <a:t>Word2Vec with </a:t>
            </a:r>
            <a:r>
              <a:rPr lang="en-IN" sz="3600" b="1" i="0" dirty="0">
                <a:solidFill>
                  <a:srgbClr val="FF0000"/>
                </a:solidFill>
                <a:effectLst/>
                <a:latin typeface="+mn-lt"/>
              </a:rPr>
              <a:t>skip-gram</a:t>
            </a:r>
            <a:endParaRPr lang="en-US" sz="3600" b="1" dirty="0">
              <a:solidFill>
                <a:srgbClr val="FF0000"/>
              </a:solidFill>
              <a:latin typeface="+mn-lt"/>
            </a:endParaRPr>
          </a:p>
        </p:txBody>
      </p:sp>
      <p:sp>
        <p:nvSpPr>
          <p:cNvPr id="3" name="Content Placeholder 2">
            <a:extLst>
              <a:ext uri="{FF2B5EF4-FFF2-40B4-BE49-F238E27FC236}">
                <a16:creationId xmlns:a16="http://schemas.microsoft.com/office/drawing/2014/main" id="{4035D475-14EC-044C-137D-0CEDCD2AF484}"/>
              </a:ext>
            </a:extLst>
          </p:cNvPr>
          <p:cNvSpPr>
            <a:spLocks noGrp="1"/>
          </p:cNvSpPr>
          <p:nvPr>
            <p:ph idx="1"/>
          </p:nvPr>
        </p:nvSpPr>
        <p:spPr>
          <a:xfrm>
            <a:off x="142240" y="731520"/>
            <a:ext cx="12049760" cy="6024880"/>
          </a:xfrm>
        </p:spPr>
        <p:txBody>
          <a:bodyPr>
            <a:noAutofit/>
          </a:bodyPr>
          <a:lstStyle/>
          <a:p>
            <a:pPr algn="just">
              <a:spcBef>
                <a:spcPts val="600"/>
              </a:spcBef>
            </a:pPr>
            <a:r>
              <a:rPr lang="en-US" sz="2400" dirty="0"/>
              <a:t>The </a:t>
            </a:r>
            <a:r>
              <a:rPr lang="en-US" sz="2400" b="1" dirty="0"/>
              <a:t>Skip-gram</a:t>
            </a:r>
            <a:r>
              <a:rPr lang="en-US" sz="2400" dirty="0"/>
              <a:t> model in Word2Vec is used to predict the context words given a target word.</a:t>
            </a:r>
            <a:endParaRPr lang="en-IN" sz="2400" dirty="0"/>
          </a:p>
          <a:p>
            <a:pPr algn="just">
              <a:spcBef>
                <a:spcPts val="600"/>
              </a:spcBef>
            </a:pPr>
            <a:r>
              <a:rPr lang="en-US" sz="2400" dirty="0"/>
              <a:t>It takes the target word and tries to predict the surrounding context words.</a:t>
            </a:r>
          </a:p>
        </p:txBody>
      </p:sp>
      <p:pic>
        <p:nvPicPr>
          <p:cNvPr id="2050" name="Picture 2">
            <a:extLst>
              <a:ext uri="{FF2B5EF4-FFF2-40B4-BE49-F238E27FC236}">
                <a16:creationId xmlns:a16="http://schemas.microsoft.com/office/drawing/2014/main" id="{52C2E199-B0F9-2099-822C-B7807B709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3445" y="2007202"/>
            <a:ext cx="4913195" cy="4566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97559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C96C7-C855-FB6C-5F99-D76A8BB40BB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CEEC016-251C-B88A-44C1-A07905C44C03}"/>
              </a:ext>
            </a:extLst>
          </p:cNvPr>
          <p:cNvPicPr>
            <a:picLocks noChangeAspect="1"/>
          </p:cNvPicPr>
          <p:nvPr/>
        </p:nvPicPr>
        <p:blipFill>
          <a:blip r:embed="rId2"/>
          <a:stretch>
            <a:fillRect/>
          </a:stretch>
        </p:blipFill>
        <p:spPr>
          <a:xfrm>
            <a:off x="220832" y="203311"/>
            <a:ext cx="7945120" cy="5486411"/>
          </a:xfrm>
          <a:prstGeom prst="rect">
            <a:avLst/>
          </a:prstGeom>
        </p:spPr>
      </p:pic>
      <p:pic>
        <p:nvPicPr>
          <p:cNvPr id="5" name="Picture 4">
            <a:extLst>
              <a:ext uri="{FF2B5EF4-FFF2-40B4-BE49-F238E27FC236}">
                <a16:creationId xmlns:a16="http://schemas.microsoft.com/office/drawing/2014/main" id="{9C41DF03-D26B-4000-6EF4-B5652968FCFB}"/>
              </a:ext>
            </a:extLst>
          </p:cNvPr>
          <p:cNvPicPr>
            <a:picLocks noChangeAspect="1"/>
          </p:cNvPicPr>
          <p:nvPr/>
        </p:nvPicPr>
        <p:blipFill>
          <a:blip r:embed="rId3"/>
          <a:stretch>
            <a:fillRect/>
          </a:stretch>
        </p:blipFill>
        <p:spPr>
          <a:xfrm>
            <a:off x="8254900" y="1381887"/>
            <a:ext cx="3937100" cy="4318111"/>
          </a:xfrm>
          <a:prstGeom prst="rect">
            <a:avLst/>
          </a:prstGeom>
        </p:spPr>
      </p:pic>
      <p:pic>
        <p:nvPicPr>
          <p:cNvPr id="15" name="Picture 14">
            <a:extLst>
              <a:ext uri="{FF2B5EF4-FFF2-40B4-BE49-F238E27FC236}">
                <a16:creationId xmlns:a16="http://schemas.microsoft.com/office/drawing/2014/main" id="{54CC1640-10DB-88EC-4EBD-03FAC29B95FA}"/>
              </a:ext>
            </a:extLst>
          </p:cNvPr>
          <p:cNvPicPr>
            <a:picLocks noChangeAspect="1"/>
          </p:cNvPicPr>
          <p:nvPr/>
        </p:nvPicPr>
        <p:blipFill>
          <a:blip r:embed="rId4"/>
          <a:stretch>
            <a:fillRect/>
          </a:stretch>
        </p:blipFill>
        <p:spPr>
          <a:xfrm>
            <a:off x="8371741" y="-4403"/>
            <a:ext cx="1050322" cy="1060932"/>
          </a:xfrm>
          <a:prstGeom prst="rect">
            <a:avLst/>
          </a:prstGeom>
        </p:spPr>
      </p:pic>
      <p:sp>
        <p:nvSpPr>
          <p:cNvPr id="6" name="TextBox 5">
            <a:extLst>
              <a:ext uri="{FF2B5EF4-FFF2-40B4-BE49-F238E27FC236}">
                <a16:creationId xmlns:a16="http://schemas.microsoft.com/office/drawing/2014/main" id="{A608491B-13E1-7DA5-5CDE-B740BA30A3C8}"/>
              </a:ext>
            </a:extLst>
          </p:cNvPr>
          <p:cNvSpPr txBox="1"/>
          <p:nvPr/>
        </p:nvSpPr>
        <p:spPr>
          <a:xfrm>
            <a:off x="335279" y="6204522"/>
            <a:ext cx="12049759" cy="769441"/>
          </a:xfrm>
          <a:prstGeom prst="rect">
            <a:avLst/>
          </a:prstGeom>
          <a:noFill/>
        </p:spPr>
        <p:txBody>
          <a:bodyPr wrap="square">
            <a:spAutoFit/>
          </a:bodyPr>
          <a:lstStyle/>
          <a:p>
            <a:pPr eaLnBrk="0" fontAlgn="base" hangingPunct="0">
              <a:spcBef>
                <a:spcPct val="0"/>
              </a:spcBef>
              <a:spcAft>
                <a:spcPct val="0"/>
              </a:spcAft>
            </a:pPr>
            <a:r>
              <a:rPr lang="en-US" sz="2200" b="0" i="0" dirty="0">
                <a:solidFill>
                  <a:srgbClr val="7030A0"/>
                </a:solidFill>
                <a:effectLst/>
              </a:rPr>
              <a:t>Once the training is done in the whole vocabulary</a:t>
            </a:r>
            <a:r>
              <a:rPr kumimoji="0" lang="en-US" altLang="en-US" sz="2200" b="0" i="0" u="none" strike="noStrike" cap="none" normalizeH="0" baseline="0" dirty="0">
                <a:ln>
                  <a:noFill/>
                </a:ln>
                <a:solidFill>
                  <a:srgbClr val="7030A0"/>
                </a:solidFill>
                <a:effectLst/>
              </a:rPr>
              <a:t>, the weight matrix </a:t>
            </a:r>
            <a:r>
              <a:rPr lang="en-US" altLang="en-US" sz="2200" dirty="0">
                <a:solidFill>
                  <a:srgbClr val="7030A0"/>
                </a:solidFill>
              </a:rPr>
              <a:t> </a:t>
            </a:r>
            <a:r>
              <a:rPr lang="en-US" sz="2200" b="1" kern="100" dirty="0" err="1">
                <a:solidFill>
                  <a:srgbClr val="7030A0"/>
                </a:solidFill>
                <a:effectLst/>
                <a:ea typeface="Calibri" panose="020F0502020204030204" pitchFamily="34" charset="0"/>
                <a:cs typeface="Times New Roman" panose="02020603050405020304" pitchFamily="18" charset="0"/>
              </a:rPr>
              <a:t>W</a:t>
            </a:r>
            <a:r>
              <a:rPr lang="en-US" sz="2200" b="1" kern="100" baseline="-25000" dirty="0" err="1">
                <a:solidFill>
                  <a:srgbClr val="7030A0"/>
                </a:solidFill>
                <a:effectLst/>
                <a:ea typeface="Calibri" panose="020F0502020204030204" pitchFamily="34" charset="0"/>
                <a:cs typeface="Times New Roman" panose="02020603050405020304" pitchFamily="18" charset="0"/>
              </a:rPr>
              <a:t>VxN</a:t>
            </a:r>
            <a:endParaRPr lang="en-IN" sz="2200" kern="100" dirty="0">
              <a:solidFill>
                <a:srgbClr val="7030A0"/>
              </a:solidFill>
              <a:effectLst/>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7030A0"/>
                </a:solidFill>
                <a:effectLst/>
              </a:rPr>
              <a:t>     </a:t>
            </a:r>
            <a:r>
              <a:rPr lang="en-US" sz="2200" dirty="0">
                <a:solidFill>
                  <a:srgbClr val="7030A0"/>
                </a:solidFill>
              </a:rPr>
              <a:t> contains the word embeddings, where each row corresponds to the vector representation of a word</a:t>
            </a:r>
            <a:endParaRPr kumimoji="0" lang="en-US" altLang="en-US" sz="2200" b="0" i="0" u="none" strike="noStrike" cap="none" normalizeH="0" baseline="0" dirty="0">
              <a:ln>
                <a:noFill/>
              </a:ln>
              <a:solidFill>
                <a:srgbClr val="7030A0"/>
              </a:solidFill>
              <a:effectLst/>
            </a:endParaRPr>
          </a:p>
        </p:txBody>
      </p:sp>
    </p:spTree>
    <p:extLst>
      <p:ext uri="{BB962C8B-B14F-4D97-AF65-F5344CB8AC3E}">
        <p14:creationId xmlns:p14="http://schemas.microsoft.com/office/powerpoint/2010/main" val="27072525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04B50-42EF-FE86-5E8C-72759FCFDD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79AE73-57EC-E428-0D87-5ECA84B36133}"/>
              </a:ext>
            </a:extLst>
          </p:cNvPr>
          <p:cNvSpPr>
            <a:spLocks noGrp="1"/>
          </p:cNvSpPr>
          <p:nvPr>
            <p:ph idx="1"/>
          </p:nvPr>
        </p:nvSpPr>
        <p:spPr>
          <a:xfrm>
            <a:off x="142240" y="731520"/>
            <a:ext cx="12049760" cy="6024880"/>
          </a:xfrm>
        </p:spPr>
        <p:txBody>
          <a:bodyPr>
            <a:noAutofit/>
          </a:bodyPr>
          <a:lstStyle/>
          <a:p>
            <a:pPr>
              <a:buFont typeface="Arial" panose="020B0604020202020204" pitchFamily="34" charset="0"/>
              <a:buChar char="•"/>
            </a:pPr>
            <a:endParaRPr lang="en-US" sz="1600" dirty="0"/>
          </a:p>
          <a:p>
            <a:pPr marL="0" indent="0">
              <a:buNone/>
            </a:pPr>
            <a:endParaRPr lang="en-US" sz="1600" dirty="0"/>
          </a:p>
        </p:txBody>
      </p:sp>
      <p:sp>
        <p:nvSpPr>
          <p:cNvPr id="4" name="TextBox 3">
            <a:extLst>
              <a:ext uri="{FF2B5EF4-FFF2-40B4-BE49-F238E27FC236}">
                <a16:creationId xmlns:a16="http://schemas.microsoft.com/office/drawing/2014/main" id="{4BA655AB-ACF5-A557-B5E9-C59902B3837D}"/>
              </a:ext>
            </a:extLst>
          </p:cNvPr>
          <p:cNvSpPr txBox="1"/>
          <p:nvPr/>
        </p:nvSpPr>
        <p:spPr>
          <a:xfrm>
            <a:off x="721360" y="889338"/>
            <a:ext cx="11562080" cy="5355312"/>
          </a:xfrm>
          <a:prstGeom prst="rect">
            <a:avLst/>
          </a:prstGeom>
          <a:noFill/>
        </p:spPr>
        <p:txBody>
          <a:bodyPr wrap="square">
            <a:spAutoFit/>
          </a:bodyPr>
          <a:lstStyle/>
          <a:p>
            <a:r>
              <a:rPr lang="en-IN" dirty="0"/>
              <a:t>from </a:t>
            </a:r>
            <a:r>
              <a:rPr lang="en-IN" dirty="0" err="1"/>
              <a:t>gensim.models</a:t>
            </a:r>
            <a:r>
              <a:rPr lang="en-IN" dirty="0"/>
              <a:t> import Word2Vec</a:t>
            </a:r>
          </a:p>
          <a:p>
            <a:endParaRPr lang="en-IN" dirty="0"/>
          </a:p>
          <a:p>
            <a:r>
              <a:rPr lang="en-IN" dirty="0"/>
              <a:t>sentences = [</a:t>
            </a:r>
          </a:p>
          <a:p>
            <a:r>
              <a:rPr lang="en-IN" dirty="0"/>
              <a:t>    ['the', 'quick', 'brown', 'fox'],</a:t>
            </a:r>
          </a:p>
          <a:p>
            <a:r>
              <a:rPr lang="en-IN" dirty="0"/>
              <a:t>    ['jumps', 'over', 'the', 'lazy', 'dog’]</a:t>
            </a:r>
          </a:p>
          <a:p>
            <a:r>
              <a:rPr lang="en-IN" dirty="0"/>
              <a:t>]</a:t>
            </a:r>
          </a:p>
          <a:p>
            <a:endParaRPr lang="en-IN" dirty="0"/>
          </a:p>
          <a:p>
            <a:r>
              <a:rPr lang="en-IN" dirty="0">
                <a:solidFill>
                  <a:schemeClr val="accent6"/>
                </a:solidFill>
              </a:rPr>
              <a:t># Train Word2Vec model</a:t>
            </a:r>
          </a:p>
          <a:p>
            <a:r>
              <a:rPr lang="en-IN" dirty="0"/>
              <a:t>model = Word2Vec(sentences, </a:t>
            </a:r>
            <a:r>
              <a:rPr lang="en-IN" dirty="0" err="1"/>
              <a:t>vector_size</a:t>
            </a:r>
            <a:r>
              <a:rPr lang="en-IN" dirty="0"/>
              <a:t>=10, window=5, </a:t>
            </a:r>
            <a:r>
              <a:rPr lang="en-IN" dirty="0" err="1"/>
              <a:t>min_count</a:t>
            </a:r>
            <a:r>
              <a:rPr lang="en-IN" dirty="0"/>
              <a:t>=1, sg=0)  </a:t>
            </a:r>
            <a:r>
              <a:rPr lang="en-IN" dirty="0">
                <a:solidFill>
                  <a:schemeClr val="accent6"/>
                </a:solidFill>
              </a:rPr>
              <a:t># sg=1 for Skip-gram, sg=0 for CBOW</a:t>
            </a:r>
          </a:p>
          <a:p>
            <a:endParaRPr lang="en-IN" dirty="0"/>
          </a:p>
          <a:p>
            <a:r>
              <a:rPr lang="en-IN" dirty="0">
                <a:solidFill>
                  <a:schemeClr val="accent6"/>
                </a:solidFill>
              </a:rPr>
              <a:t>#Get the embedding</a:t>
            </a:r>
          </a:p>
          <a:p>
            <a:r>
              <a:rPr lang="en-IN" dirty="0" err="1"/>
              <a:t>model.wv</a:t>
            </a:r>
            <a:r>
              <a:rPr lang="en-IN" dirty="0"/>
              <a:t>['fox’]</a:t>
            </a:r>
          </a:p>
          <a:p>
            <a:endParaRPr lang="en-IN" dirty="0"/>
          </a:p>
          <a:p>
            <a:endParaRPr lang="en-IN" dirty="0"/>
          </a:p>
          <a:p>
            <a:endParaRPr lang="en-IN" dirty="0"/>
          </a:p>
          <a:p>
            <a:endParaRPr lang="en-IN" dirty="0"/>
          </a:p>
          <a:p>
            <a:endParaRPr lang="en-IN" dirty="0"/>
          </a:p>
          <a:p>
            <a:r>
              <a:rPr lang="en-IN" dirty="0">
                <a:solidFill>
                  <a:schemeClr val="accent6"/>
                </a:solidFill>
              </a:rPr>
              <a:t># Find similar words</a:t>
            </a:r>
          </a:p>
          <a:p>
            <a:r>
              <a:rPr lang="en-IN" dirty="0" err="1"/>
              <a:t>model.wv.most_similar</a:t>
            </a:r>
            <a:r>
              <a:rPr lang="en-IN" dirty="0"/>
              <a:t>('over’)</a:t>
            </a:r>
          </a:p>
        </p:txBody>
      </p:sp>
      <p:pic>
        <p:nvPicPr>
          <p:cNvPr id="7" name="Picture 6">
            <a:extLst>
              <a:ext uri="{FF2B5EF4-FFF2-40B4-BE49-F238E27FC236}">
                <a16:creationId xmlns:a16="http://schemas.microsoft.com/office/drawing/2014/main" id="{3EC4603D-D8A6-656B-1F6A-8F32060927E7}"/>
              </a:ext>
            </a:extLst>
          </p:cNvPr>
          <p:cNvPicPr>
            <a:picLocks noChangeAspect="1"/>
          </p:cNvPicPr>
          <p:nvPr/>
        </p:nvPicPr>
        <p:blipFill>
          <a:blip r:embed="rId2"/>
          <a:stretch>
            <a:fillRect/>
          </a:stretch>
        </p:blipFill>
        <p:spPr>
          <a:xfrm>
            <a:off x="5100320" y="3763756"/>
            <a:ext cx="7091680" cy="706644"/>
          </a:xfrm>
          <a:prstGeom prst="rect">
            <a:avLst/>
          </a:prstGeom>
        </p:spPr>
      </p:pic>
      <p:pic>
        <p:nvPicPr>
          <p:cNvPr id="10" name="Picture 9">
            <a:extLst>
              <a:ext uri="{FF2B5EF4-FFF2-40B4-BE49-F238E27FC236}">
                <a16:creationId xmlns:a16="http://schemas.microsoft.com/office/drawing/2014/main" id="{C804D2BC-B6E8-EE80-DA1D-E8B9FC807128}"/>
              </a:ext>
            </a:extLst>
          </p:cNvPr>
          <p:cNvPicPr>
            <a:picLocks noChangeAspect="1"/>
          </p:cNvPicPr>
          <p:nvPr/>
        </p:nvPicPr>
        <p:blipFill>
          <a:blip r:embed="rId3"/>
          <a:stretch>
            <a:fillRect/>
          </a:stretch>
        </p:blipFill>
        <p:spPr>
          <a:xfrm>
            <a:off x="6322630" y="4901475"/>
            <a:ext cx="4294570" cy="2012743"/>
          </a:xfrm>
          <a:prstGeom prst="rect">
            <a:avLst/>
          </a:prstGeom>
        </p:spPr>
      </p:pic>
      <p:sp>
        <p:nvSpPr>
          <p:cNvPr id="2" name="Title 1">
            <a:extLst>
              <a:ext uri="{FF2B5EF4-FFF2-40B4-BE49-F238E27FC236}">
                <a16:creationId xmlns:a16="http://schemas.microsoft.com/office/drawing/2014/main" id="{DCD4175C-443D-744A-FCEC-EA4B394498FA}"/>
              </a:ext>
            </a:extLst>
          </p:cNvPr>
          <p:cNvSpPr>
            <a:spLocks noGrp="1"/>
          </p:cNvSpPr>
          <p:nvPr>
            <p:ph type="title"/>
          </p:nvPr>
        </p:nvSpPr>
        <p:spPr>
          <a:xfrm>
            <a:off x="838200" y="0"/>
            <a:ext cx="10515600" cy="810532"/>
          </a:xfrm>
        </p:spPr>
        <p:txBody>
          <a:bodyPr>
            <a:normAutofit/>
          </a:bodyPr>
          <a:lstStyle/>
          <a:p>
            <a:pPr algn="ctr"/>
            <a:r>
              <a:rPr lang="en-US" sz="3600" b="1" dirty="0">
                <a:solidFill>
                  <a:srgbClr val="FF0000"/>
                </a:solidFill>
                <a:latin typeface="+mn-lt"/>
              </a:rPr>
              <a:t>Word2Vec </a:t>
            </a:r>
            <a:r>
              <a:rPr lang="en-IN" sz="3600" b="1" dirty="0">
                <a:solidFill>
                  <a:srgbClr val="FF0000"/>
                </a:solidFill>
                <a:latin typeface="+mn-lt"/>
              </a:rPr>
              <a:t>Model </a:t>
            </a:r>
            <a:endParaRPr lang="en-US" sz="3600" b="1" dirty="0">
              <a:solidFill>
                <a:srgbClr val="FF0000"/>
              </a:solidFill>
              <a:latin typeface="+mn-lt"/>
            </a:endParaRPr>
          </a:p>
        </p:txBody>
      </p:sp>
    </p:spTree>
    <p:extLst>
      <p:ext uri="{BB962C8B-B14F-4D97-AF65-F5344CB8AC3E}">
        <p14:creationId xmlns:p14="http://schemas.microsoft.com/office/powerpoint/2010/main" val="14874571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2C52F-C8BF-B1DC-91AA-1043A1D8BA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5C4E31-23F4-A32C-2EE2-427772346E19}"/>
              </a:ext>
            </a:extLst>
          </p:cNvPr>
          <p:cNvSpPr>
            <a:spLocks noGrp="1"/>
          </p:cNvSpPr>
          <p:nvPr>
            <p:ph idx="1"/>
          </p:nvPr>
        </p:nvSpPr>
        <p:spPr>
          <a:xfrm>
            <a:off x="142240" y="731520"/>
            <a:ext cx="12049760" cy="6024880"/>
          </a:xfrm>
        </p:spPr>
        <p:txBody>
          <a:bodyPr>
            <a:noAutofit/>
          </a:bodyPr>
          <a:lstStyle/>
          <a:p>
            <a:pPr>
              <a:buFont typeface="Arial" panose="020B0604020202020204" pitchFamily="34" charset="0"/>
              <a:buChar char="•"/>
            </a:pPr>
            <a:endParaRPr lang="en-US" sz="1600" dirty="0"/>
          </a:p>
          <a:p>
            <a:pPr marL="0" indent="0">
              <a:buNone/>
            </a:pPr>
            <a:endParaRPr lang="en-US" sz="1600" dirty="0"/>
          </a:p>
        </p:txBody>
      </p:sp>
      <p:sp>
        <p:nvSpPr>
          <p:cNvPr id="4" name="TextBox 3">
            <a:extLst>
              <a:ext uri="{FF2B5EF4-FFF2-40B4-BE49-F238E27FC236}">
                <a16:creationId xmlns:a16="http://schemas.microsoft.com/office/drawing/2014/main" id="{2E329C95-E639-9BD3-0807-3A41A2DDCC0B}"/>
              </a:ext>
            </a:extLst>
          </p:cNvPr>
          <p:cNvSpPr txBox="1"/>
          <p:nvPr/>
        </p:nvSpPr>
        <p:spPr>
          <a:xfrm>
            <a:off x="487680" y="810532"/>
            <a:ext cx="11562080" cy="4431983"/>
          </a:xfrm>
          <a:prstGeom prst="rect">
            <a:avLst/>
          </a:prstGeom>
          <a:noFill/>
        </p:spPr>
        <p:txBody>
          <a:bodyPr wrap="square">
            <a:spAutoFit/>
          </a:bodyPr>
          <a:lstStyle/>
          <a:p>
            <a:pPr algn="just"/>
            <a:r>
              <a:rPr lang="en-US" sz="2400" dirty="0">
                <a:solidFill>
                  <a:srgbClr val="FF0000"/>
                </a:solidFill>
              </a:rPr>
              <a:t>Contextual Limitations</a:t>
            </a:r>
          </a:p>
          <a:p>
            <a:pPr lvl="1" algn="just">
              <a:buFont typeface="Arial" panose="020B0604020202020204" pitchFamily="34" charset="0"/>
              <a:buChar char="•"/>
            </a:pPr>
            <a:r>
              <a:rPr lang="en-US" sz="2400" dirty="0"/>
              <a:t>Word2Vec represents words as fixed vectors, meaning each word has a single representation regardless of its meaning in different contexts. </a:t>
            </a:r>
          </a:p>
          <a:p>
            <a:pPr lvl="1" algn="just"/>
            <a:endParaRPr lang="en-US" sz="2400" dirty="0"/>
          </a:p>
          <a:p>
            <a:pPr marL="0" lvl="1" algn="just"/>
            <a:r>
              <a:rPr lang="en-IN" sz="2400" dirty="0">
                <a:solidFill>
                  <a:srgbClr val="FF0000"/>
                </a:solidFill>
              </a:rPr>
              <a:t>OOV (Out-of-Vocabulary) Problem</a:t>
            </a:r>
            <a:endParaRPr lang="en-US" sz="2400" dirty="0">
              <a:solidFill>
                <a:srgbClr val="FF0000"/>
              </a:solidFill>
            </a:endParaRPr>
          </a:p>
          <a:p>
            <a:pPr lvl="1" algn="just">
              <a:buFont typeface="Arial" panose="020B0604020202020204" pitchFamily="34" charset="0"/>
              <a:buChar char="•"/>
            </a:pPr>
            <a:r>
              <a:rPr lang="en-US" sz="2400" dirty="0"/>
              <a:t>If a word does not appear in the training data (out-of-vocabulary), Word2Vec cannot generate its embedding. </a:t>
            </a:r>
          </a:p>
          <a:p>
            <a:pPr lvl="1" algn="just"/>
            <a:endParaRPr lang="en-US" sz="2400" dirty="0"/>
          </a:p>
          <a:p>
            <a:pPr algn="just"/>
            <a:r>
              <a:rPr lang="en-US" sz="2400" dirty="0">
                <a:solidFill>
                  <a:srgbClr val="FF0000"/>
                </a:solidFill>
              </a:rPr>
              <a:t>Memory and Computation Complexity</a:t>
            </a:r>
          </a:p>
          <a:p>
            <a:pPr algn="just">
              <a:buFont typeface="Arial" panose="020B0604020202020204" pitchFamily="34" charset="0"/>
              <a:buChar char="•"/>
            </a:pPr>
            <a:r>
              <a:rPr lang="en-US" sz="2400" dirty="0"/>
              <a:t>Training a Word2Vec model on large datasets with a large vocabulary may require considerable resources (memory and computation).</a:t>
            </a:r>
          </a:p>
          <a:p>
            <a:endParaRPr lang="en-IN" dirty="0"/>
          </a:p>
        </p:txBody>
      </p:sp>
      <p:sp>
        <p:nvSpPr>
          <p:cNvPr id="2" name="Title 1">
            <a:extLst>
              <a:ext uri="{FF2B5EF4-FFF2-40B4-BE49-F238E27FC236}">
                <a16:creationId xmlns:a16="http://schemas.microsoft.com/office/drawing/2014/main" id="{7339CC79-309D-9CE7-3347-70744716EC68}"/>
              </a:ext>
            </a:extLst>
          </p:cNvPr>
          <p:cNvSpPr>
            <a:spLocks noGrp="1"/>
          </p:cNvSpPr>
          <p:nvPr>
            <p:ph type="title"/>
          </p:nvPr>
        </p:nvSpPr>
        <p:spPr>
          <a:xfrm>
            <a:off x="838200" y="0"/>
            <a:ext cx="10515600" cy="810532"/>
          </a:xfrm>
        </p:spPr>
        <p:txBody>
          <a:bodyPr>
            <a:normAutofit/>
          </a:bodyPr>
          <a:lstStyle/>
          <a:p>
            <a:pPr algn="ctr"/>
            <a:r>
              <a:rPr lang="en-US" sz="3600" dirty="0">
                <a:solidFill>
                  <a:srgbClr val="FF0000"/>
                </a:solidFill>
              </a:rPr>
              <a:t>Word2Vec </a:t>
            </a:r>
            <a:r>
              <a:rPr lang="en-IN" sz="3600" dirty="0">
                <a:solidFill>
                  <a:srgbClr val="FF0000"/>
                </a:solidFill>
              </a:rPr>
              <a:t>Model </a:t>
            </a:r>
            <a:r>
              <a:rPr lang="en-US" sz="3600" dirty="0">
                <a:solidFill>
                  <a:srgbClr val="FF0000"/>
                </a:solidFill>
              </a:rPr>
              <a:t>Limitations</a:t>
            </a:r>
          </a:p>
        </p:txBody>
      </p:sp>
    </p:spTree>
    <p:extLst>
      <p:ext uri="{BB962C8B-B14F-4D97-AF65-F5344CB8AC3E}">
        <p14:creationId xmlns:p14="http://schemas.microsoft.com/office/powerpoint/2010/main" val="16829835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17850-D4F8-037B-739C-CC27CEC8BD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A2CA6D-CD01-6EDE-08CE-AA3881E08405}"/>
              </a:ext>
            </a:extLst>
          </p:cNvPr>
          <p:cNvSpPr txBox="1"/>
          <p:nvPr/>
        </p:nvSpPr>
        <p:spPr>
          <a:xfrm>
            <a:off x="264161" y="734974"/>
            <a:ext cx="11562080" cy="2292935"/>
          </a:xfrm>
          <a:prstGeom prst="rect">
            <a:avLst/>
          </a:prstGeom>
          <a:noFill/>
        </p:spPr>
        <p:txBody>
          <a:bodyPr wrap="square">
            <a:spAutoFit/>
          </a:bodyPr>
          <a:lstStyle/>
          <a:p>
            <a:pPr marL="285750" indent="-285750" algn="just">
              <a:buFont typeface="Arial" panose="020B0604020202020204" pitchFamily="34" charset="0"/>
              <a:buChar char="•"/>
            </a:pPr>
            <a:r>
              <a:rPr lang="en-US" sz="2400" dirty="0" err="1"/>
              <a:t>GloVe</a:t>
            </a:r>
            <a:r>
              <a:rPr lang="en-US" sz="2400" dirty="0"/>
              <a:t> (Global Vectors for Word Representation) is an unsupervised learning algorithm for obtaining vector representations of words.</a:t>
            </a:r>
          </a:p>
          <a:p>
            <a:pPr marL="285750" indent="-285750" algn="just">
              <a:buFont typeface="Arial" panose="020B0604020202020204" pitchFamily="34" charset="0"/>
              <a:buChar char="•"/>
            </a:pPr>
            <a:r>
              <a:rPr lang="en-US" sz="2400" dirty="0"/>
              <a:t> It is widely used in NLP tasks to capture semantic meaning and relationships between words. </a:t>
            </a:r>
          </a:p>
          <a:p>
            <a:pPr marL="285750" indent="-285750" algn="just">
              <a:buFont typeface="Arial" panose="020B0604020202020204" pitchFamily="34" charset="0"/>
              <a:buChar char="•"/>
            </a:pPr>
            <a:r>
              <a:rPr lang="en-US" sz="2400" dirty="0" err="1"/>
              <a:t>GloVe</a:t>
            </a:r>
            <a:r>
              <a:rPr lang="en-US" sz="2400" dirty="0"/>
              <a:t> was developed by researchers at Stanford University</a:t>
            </a:r>
          </a:p>
          <a:p>
            <a:pPr algn="just"/>
            <a:endParaRPr lang="en-US" sz="2300" dirty="0"/>
          </a:p>
        </p:txBody>
      </p:sp>
      <p:sp>
        <p:nvSpPr>
          <p:cNvPr id="2" name="Title 1">
            <a:extLst>
              <a:ext uri="{FF2B5EF4-FFF2-40B4-BE49-F238E27FC236}">
                <a16:creationId xmlns:a16="http://schemas.microsoft.com/office/drawing/2014/main" id="{6BE1B90D-1788-E4B2-6D2C-FF52B8105F2A}"/>
              </a:ext>
            </a:extLst>
          </p:cNvPr>
          <p:cNvSpPr>
            <a:spLocks noGrp="1"/>
          </p:cNvSpPr>
          <p:nvPr>
            <p:ph type="title"/>
          </p:nvPr>
        </p:nvSpPr>
        <p:spPr>
          <a:xfrm>
            <a:off x="838200" y="0"/>
            <a:ext cx="10515600" cy="810532"/>
          </a:xfrm>
        </p:spPr>
        <p:txBody>
          <a:bodyPr>
            <a:normAutofit/>
          </a:bodyPr>
          <a:lstStyle/>
          <a:p>
            <a:pPr algn="ctr"/>
            <a:r>
              <a:rPr lang="en-US" sz="3600" dirty="0" err="1">
                <a:solidFill>
                  <a:srgbClr val="FF0000"/>
                </a:solidFill>
                <a:latin typeface="+mn-lt"/>
              </a:rPr>
              <a:t>GloVe</a:t>
            </a:r>
            <a:r>
              <a:rPr lang="en-US" sz="3600" b="1" dirty="0">
                <a:solidFill>
                  <a:srgbClr val="FF0000"/>
                </a:solidFill>
                <a:latin typeface="+mn-lt"/>
              </a:rPr>
              <a:t> </a:t>
            </a:r>
            <a:r>
              <a:rPr lang="en-IN" sz="3600" b="1" dirty="0">
                <a:solidFill>
                  <a:srgbClr val="FF0000"/>
                </a:solidFill>
                <a:latin typeface="+mn-lt"/>
              </a:rPr>
              <a:t>Model </a:t>
            </a:r>
            <a:endParaRPr lang="en-US" sz="3600" b="1" dirty="0">
              <a:solidFill>
                <a:srgbClr val="FF0000"/>
              </a:solidFill>
              <a:latin typeface="+mn-lt"/>
            </a:endParaRPr>
          </a:p>
        </p:txBody>
      </p:sp>
      <p:sp>
        <p:nvSpPr>
          <p:cNvPr id="11" name="TextBox 10">
            <a:extLst>
              <a:ext uri="{FF2B5EF4-FFF2-40B4-BE49-F238E27FC236}">
                <a16:creationId xmlns:a16="http://schemas.microsoft.com/office/drawing/2014/main" id="{DC2621B9-5B1F-7CBC-93B3-5E01AE94D13A}"/>
              </a:ext>
            </a:extLst>
          </p:cNvPr>
          <p:cNvSpPr txBox="1"/>
          <p:nvPr/>
        </p:nvSpPr>
        <p:spPr>
          <a:xfrm>
            <a:off x="0" y="3027909"/>
            <a:ext cx="6278880" cy="3046988"/>
          </a:xfrm>
          <a:prstGeom prst="rect">
            <a:avLst/>
          </a:prstGeom>
          <a:noFill/>
        </p:spPr>
        <p:txBody>
          <a:bodyPr wrap="square">
            <a:spAutoFit/>
          </a:bodyPr>
          <a:lstStyle/>
          <a:p>
            <a:r>
              <a:rPr lang="en-US" sz="2400" b="1" dirty="0">
                <a:solidFill>
                  <a:srgbClr val="FF0000"/>
                </a:solidFill>
              </a:rPr>
              <a:t>How </a:t>
            </a:r>
            <a:r>
              <a:rPr lang="en-US" sz="2400" b="1" dirty="0" err="1">
                <a:solidFill>
                  <a:srgbClr val="FF0000"/>
                </a:solidFill>
              </a:rPr>
              <a:t>GloVe</a:t>
            </a:r>
            <a:r>
              <a:rPr lang="en-US" sz="2400" b="1" dirty="0">
                <a:solidFill>
                  <a:srgbClr val="FF0000"/>
                </a:solidFill>
              </a:rPr>
              <a:t> Works</a:t>
            </a:r>
          </a:p>
          <a:p>
            <a:r>
              <a:rPr lang="en-US" sz="2400" b="1" dirty="0"/>
              <a:t>Step 1: Build a Co-occurrence Matrix</a:t>
            </a:r>
          </a:p>
          <a:p>
            <a:pPr>
              <a:buFont typeface="Arial" panose="020B0604020202020204" pitchFamily="34" charset="0"/>
              <a:buChar char="•"/>
            </a:pPr>
            <a:r>
              <a:rPr lang="en-US" sz="2400" dirty="0"/>
              <a:t>The co-occurrence matrix records how often words co-occur within a given context window in the corpus.</a:t>
            </a:r>
          </a:p>
          <a:p>
            <a:pPr>
              <a:buFont typeface="Arial" panose="020B0604020202020204" pitchFamily="34" charset="0"/>
              <a:buChar char="•"/>
            </a:pPr>
            <a:r>
              <a:rPr lang="en-US" sz="2400" dirty="0"/>
              <a:t>Example Corpus:    I like deep learning.</a:t>
            </a:r>
          </a:p>
          <a:p>
            <a:pPr lvl="1"/>
            <a:r>
              <a:rPr lang="en-US" sz="2400" dirty="0"/>
              <a:t>			 I like NLP. </a:t>
            </a:r>
          </a:p>
          <a:p>
            <a:r>
              <a:rPr lang="en-US" sz="2400" dirty="0"/>
              <a:t>                                   I enjoy flying.</a:t>
            </a:r>
          </a:p>
        </p:txBody>
      </p:sp>
      <p:pic>
        <p:nvPicPr>
          <p:cNvPr id="14" name="Picture 13">
            <a:extLst>
              <a:ext uri="{FF2B5EF4-FFF2-40B4-BE49-F238E27FC236}">
                <a16:creationId xmlns:a16="http://schemas.microsoft.com/office/drawing/2014/main" id="{C4F039FE-B633-22C5-A830-7CCADA6AD1BD}"/>
              </a:ext>
            </a:extLst>
          </p:cNvPr>
          <p:cNvPicPr>
            <a:picLocks noChangeAspect="1"/>
          </p:cNvPicPr>
          <p:nvPr/>
        </p:nvPicPr>
        <p:blipFill>
          <a:blip r:embed="rId2"/>
          <a:stretch>
            <a:fillRect/>
          </a:stretch>
        </p:blipFill>
        <p:spPr>
          <a:xfrm>
            <a:off x="6630182" y="3566160"/>
            <a:ext cx="5561818" cy="3214471"/>
          </a:xfrm>
          <a:prstGeom prst="rect">
            <a:avLst/>
          </a:prstGeom>
        </p:spPr>
      </p:pic>
    </p:spTree>
    <p:extLst>
      <p:ext uri="{BB962C8B-B14F-4D97-AF65-F5344CB8AC3E}">
        <p14:creationId xmlns:p14="http://schemas.microsoft.com/office/powerpoint/2010/main" val="14223075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5E257-F7C9-5997-38E3-56D2B71BC05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205C0A-57A9-A448-D375-606BDC3FE3E4}"/>
              </a:ext>
            </a:extLst>
          </p:cNvPr>
          <p:cNvSpPr txBox="1"/>
          <p:nvPr/>
        </p:nvSpPr>
        <p:spPr>
          <a:xfrm>
            <a:off x="193041" y="572593"/>
            <a:ext cx="11562080" cy="1923604"/>
          </a:xfrm>
          <a:prstGeom prst="rect">
            <a:avLst/>
          </a:prstGeom>
          <a:noFill/>
        </p:spPr>
        <p:txBody>
          <a:bodyPr wrap="square">
            <a:spAutoFit/>
          </a:bodyPr>
          <a:lstStyle/>
          <a:p>
            <a:r>
              <a:rPr lang="en-US" sz="2300" b="1" dirty="0"/>
              <a:t>Step 2: Calculate Co-occurrence Ratios</a:t>
            </a:r>
          </a:p>
          <a:p>
            <a:pPr>
              <a:buFont typeface="Arial" panose="020B0604020202020204" pitchFamily="34" charset="0"/>
              <a:buChar char="•"/>
            </a:pPr>
            <a:r>
              <a:rPr lang="en-US" sz="2300" dirty="0" err="1"/>
              <a:t>GloVe's</a:t>
            </a:r>
            <a:r>
              <a:rPr lang="en-US" sz="2300" dirty="0"/>
              <a:t> key insight is that word meanings are encoded in the ratios of co-occurrence probabilities rather than raw frequencies.</a:t>
            </a:r>
          </a:p>
          <a:p>
            <a:pPr>
              <a:buFont typeface="Arial" panose="020B0604020202020204" pitchFamily="34" charset="0"/>
              <a:buChar char="•"/>
            </a:pPr>
            <a:r>
              <a:rPr lang="en-US" sz="2300" dirty="0"/>
              <a:t>It uses these probabilities to express relationships between words mathematically.</a:t>
            </a:r>
          </a:p>
          <a:p>
            <a:pPr algn="just"/>
            <a:endParaRPr lang="en-US" sz="2300" dirty="0"/>
          </a:p>
        </p:txBody>
      </p:sp>
      <p:sp>
        <p:nvSpPr>
          <p:cNvPr id="2" name="Title 1">
            <a:extLst>
              <a:ext uri="{FF2B5EF4-FFF2-40B4-BE49-F238E27FC236}">
                <a16:creationId xmlns:a16="http://schemas.microsoft.com/office/drawing/2014/main" id="{AEDD3F18-E25B-4579-F805-2DC3BF5873C8}"/>
              </a:ext>
            </a:extLst>
          </p:cNvPr>
          <p:cNvSpPr>
            <a:spLocks noGrp="1"/>
          </p:cNvSpPr>
          <p:nvPr>
            <p:ph type="title"/>
          </p:nvPr>
        </p:nvSpPr>
        <p:spPr>
          <a:xfrm>
            <a:off x="838200" y="0"/>
            <a:ext cx="10515600" cy="810532"/>
          </a:xfrm>
        </p:spPr>
        <p:txBody>
          <a:bodyPr>
            <a:normAutofit/>
          </a:bodyPr>
          <a:lstStyle/>
          <a:p>
            <a:pPr algn="ctr"/>
            <a:r>
              <a:rPr lang="en-US" sz="3600" dirty="0" err="1">
                <a:solidFill>
                  <a:srgbClr val="FF0000"/>
                </a:solidFill>
                <a:latin typeface="+mn-lt"/>
              </a:rPr>
              <a:t>GloVe</a:t>
            </a:r>
            <a:r>
              <a:rPr lang="en-US" sz="3600" b="1" dirty="0">
                <a:solidFill>
                  <a:srgbClr val="FF0000"/>
                </a:solidFill>
                <a:latin typeface="+mn-lt"/>
              </a:rPr>
              <a:t> </a:t>
            </a:r>
            <a:r>
              <a:rPr lang="en-IN" sz="3600" b="1" dirty="0">
                <a:solidFill>
                  <a:srgbClr val="FF0000"/>
                </a:solidFill>
                <a:latin typeface="+mn-lt"/>
              </a:rPr>
              <a:t>Model </a:t>
            </a:r>
            <a:endParaRPr lang="en-US" sz="3600" b="1" dirty="0">
              <a:solidFill>
                <a:srgbClr val="FF0000"/>
              </a:solidFill>
              <a:latin typeface="+mn-lt"/>
            </a:endParaRPr>
          </a:p>
        </p:txBody>
      </p:sp>
      <p:sp>
        <p:nvSpPr>
          <p:cNvPr id="11" name="TextBox 10">
            <a:extLst>
              <a:ext uri="{FF2B5EF4-FFF2-40B4-BE49-F238E27FC236}">
                <a16:creationId xmlns:a16="http://schemas.microsoft.com/office/drawing/2014/main" id="{063CC617-9390-2153-5683-C23729D7224E}"/>
              </a:ext>
            </a:extLst>
          </p:cNvPr>
          <p:cNvSpPr txBox="1"/>
          <p:nvPr/>
        </p:nvSpPr>
        <p:spPr>
          <a:xfrm>
            <a:off x="101600" y="4919008"/>
            <a:ext cx="12222479"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model uses an optimization technique, </a:t>
            </a:r>
            <a:r>
              <a:rPr kumimoji="0" lang="en-US" altLang="en-US" sz="2000" b="1" i="0" u="none" strike="noStrike" cap="none" normalizeH="0" baseline="0" dirty="0">
                <a:ln>
                  <a:noFill/>
                </a:ln>
                <a:solidFill>
                  <a:schemeClr val="tx1"/>
                </a:solidFill>
                <a:effectLst/>
                <a:latin typeface="Arial" panose="020B0604020202020204" pitchFamily="34" charset="0"/>
              </a:rPr>
              <a:t>stochastic gradient descent (SGD)</a:t>
            </a:r>
            <a:r>
              <a:rPr kumimoji="0" lang="en-US" altLang="en-US" sz="2000" b="0" i="0" u="none" strike="noStrike" cap="none" normalizeH="0" baseline="0" dirty="0">
                <a:ln>
                  <a:noFill/>
                </a:ln>
                <a:solidFill>
                  <a:schemeClr val="tx1"/>
                </a:solidFill>
                <a:effectLst/>
                <a:latin typeface="Arial" panose="020B0604020202020204" pitchFamily="34" charset="0"/>
              </a:rPr>
              <a:t> to minimize the loss function </a:t>
            </a:r>
            <a:r>
              <a:rPr kumimoji="0" lang="en-US" altLang="en-US" sz="2000" b="0" i="0" u="none" strike="noStrike" cap="none" normalizeH="0" baseline="0" dirty="0">
                <a:ln>
                  <a:noFill/>
                </a:ln>
                <a:solidFill>
                  <a:schemeClr val="tx1"/>
                </a:solidFill>
                <a:effectLst/>
                <a:latin typeface="Arial Unicode MS"/>
              </a:rPr>
              <a:t>J</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During training, the word vectors </a:t>
            </a:r>
            <a:r>
              <a:rPr kumimoji="0" lang="en-US" altLang="en-US" sz="2000" b="0" i="0" u="none" strike="noStrike" cap="none" normalizeH="0" baseline="0" dirty="0" err="1">
                <a:ln>
                  <a:noFill/>
                </a:ln>
                <a:solidFill>
                  <a:schemeClr val="tx1"/>
                </a:solidFill>
                <a:effectLst/>
                <a:latin typeface="Arial Unicode MS"/>
              </a:rPr>
              <a:t>w</a:t>
            </a:r>
            <a:r>
              <a:rPr kumimoji="0" lang="en-US" altLang="en-US" sz="2000" b="0" i="0" u="none" strike="noStrike" cap="none" normalizeH="0" baseline="-25000" dirty="0" err="1">
                <a:ln>
                  <a:noFill/>
                </a:ln>
                <a:solidFill>
                  <a:schemeClr val="tx1"/>
                </a:solidFill>
                <a:effectLst/>
                <a:latin typeface="Arial Unicode MS"/>
              </a:rPr>
              <a:t>i</a:t>
            </a:r>
            <a:r>
              <a:rPr kumimoji="0" lang="en-US" altLang="en-US" sz="2000" b="0" i="0" u="none" strike="noStrike" cap="none" normalizeH="0" baseline="0" dirty="0">
                <a:ln>
                  <a:noFill/>
                </a:ln>
                <a:solidFill>
                  <a:schemeClr val="tx1"/>
                </a:solidFill>
                <a:effectLst/>
              </a:rPr>
              <a:t> and context vectors </a:t>
            </a:r>
            <a:r>
              <a:rPr kumimoji="0" lang="en-US" altLang="en-US" sz="2000" b="0" i="0" u="none" strike="noStrike" cap="none" normalizeH="0" baseline="0" dirty="0" err="1">
                <a:ln>
                  <a:noFill/>
                </a:ln>
                <a:solidFill>
                  <a:schemeClr val="tx1"/>
                </a:solidFill>
                <a:effectLst/>
                <a:latin typeface="Arial Unicode MS"/>
              </a:rPr>
              <a:t>c</a:t>
            </a:r>
            <a:r>
              <a:rPr kumimoji="0" lang="en-US" altLang="en-US" sz="2000" b="0" i="0" u="none" strike="noStrike" cap="none" normalizeH="0" baseline="-25000" dirty="0" err="1">
                <a:ln>
                  <a:noFill/>
                </a:ln>
                <a:solidFill>
                  <a:schemeClr val="tx1"/>
                </a:solidFill>
                <a:effectLst/>
                <a:latin typeface="Arial Unicode MS"/>
              </a:rPr>
              <a:t>j</a:t>
            </a:r>
            <a:r>
              <a:rPr kumimoji="0" lang="en-US" altLang="en-US" sz="2000" b="0" i="0" u="none" strike="noStrike" cap="none" normalizeH="0" baseline="-25000" dirty="0">
                <a:ln>
                  <a:noFill/>
                </a:ln>
                <a:solidFill>
                  <a:schemeClr val="tx1"/>
                </a:solidFill>
                <a:effectLst/>
              </a:rPr>
              <a:t> </a:t>
            </a:r>
            <a:r>
              <a:rPr kumimoji="0" lang="en-US" altLang="en-US" sz="2000" b="0" i="0" u="none" strike="noStrike" cap="none" normalizeH="0" baseline="0" dirty="0">
                <a:ln>
                  <a:noFill/>
                </a:ln>
                <a:solidFill>
                  <a:schemeClr val="tx1"/>
                </a:solidFill>
                <a:effectLst/>
              </a:rPr>
              <a:t>are updated based on the gradients of the objective function with respect to each vector.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This process is repeated until the model converges</a:t>
            </a:r>
            <a:r>
              <a:rPr lang="en-US" altLang="en-US" sz="2000" dirty="0"/>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7914F68A-C551-1F78-A8AD-BC51D6624F83}"/>
              </a:ext>
            </a:extLst>
          </p:cNvPr>
          <p:cNvPicPr>
            <a:picLocks noChangeAspect="1"/>
          </p:cNvPicPr>
          <p:nvPr/>
        </p:nvPicPr>
        <p:blipFill>
          <a:blip r:embed="rId2"/>
          <a:stretch>
            <a:fillRect/>
          </a:stretch>
        </p:blipFill>
        <p:spPr>
          <a:xfrm>
            <a:off x="0" y="2143760"/>
            <a:ext cx="8650750" cy="2902669"/>
          </a:xfrm>
          <a:prstGeom prst="rect">
            <a:avLst/>
          </a:prstGeom>
        </p:spPr>
      </p:pic>
    </p:spTree>
    <p:extLst>
      <p:ext uri="{BB962C8B-B14F-4D97-AF65-F5344CB8AC3E}">
        <p14:creationId xmlns:p14="http://schemas.microsoft.com/office/powerpoint/2010/main" val="35507102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45C2F-AA4A-EE0E-B5CD-7D249D841D7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A3F2A9-8066-33E6-DBAC-B08F1D56273C}"/>
              </a:ext>
            </a:extLst>
          </p:cNvPr>
          <p:cNvSpPr txBox="1"/>
          <p:nvPr/>
        </p:nvSpPr>
        <p:spPr>
          <a:xfrm>
            <a:off x="223521" y="968833"/>
            <a:ext cx="11562080" cy="2569934"/>
          </a:xfrm>
          <a:prstGeom prst="rect">
            <a:avLst/>
          </a:prstGeom>
          <a:noFill/>
        </p:spPr>
        <p:txBody>
          <a:bodyPr wrap="square">
            <a:spAutoFit/>
          </a:bodyPr>
          <a:lstStyle/>
          <a:p>
            <a:r>
              <a:rPr lang="en-US" sz="2300" b="1" dirty="0"/>
              <a:t>Learned Word Vectors</a:t>
            </a:r>
          </a:p>
          <a:p>
            <a:pPr marL="342900" indent="-342900">
              <a:buFont typeface="Arial" panose="020B0604020202020204" pitchFamily="34" charset="0"/>
              <a:buChar char="•"/>
            </a:pPr>
            <a:r>
              <a:rPr lang="en-US" sz="2300" dirty="0"/>
              <a:t>After training, the word vectors are stored in the matrix W (word vectors for each word in the vocabulary) and C (context vectors for each word in the vocabulary). </a:t>
            </a:r>
          </a:p>
          <a:p>
            <a:pPr marL="342900" indent="-342900">
              <a:buFont typeface="Arial" panose="020B0604020202020204" pitchFamily="34" charset="0"/>
              <a:buChar char="•"/>
            </a:pPr>
            <a:endParaRPr lang="en-US" sz="2300" dirty="0"/>
          </a:p>
          <a:p>
            <a:r>
              <a:rPr lang="en-US" sz="2300" b="1" dirty="0"/>
              <a:t>Final Embeddings</a:t>
            </a:r>
          </a:p>
          <a:p>
            <a:pPr marL="342900" indent="-342900">
              <a:buFont typeface="Arial" panose="020B0604020202020204" pitchFamily="34" charset="0"/>
              <a:buChar char="•"/>
            </a:pPr>
            <a:r>
              <a:rPr lang="en-US" sz="2300" dirty="0" err="1"/>
              <a:t>GloVe</a:t>
            </a:r>
            <a:r>
              <a:rPr lang="en-US" sz="2300" dirty="0"/>
              <a:t> uses the sum of the word vectors (word matrix W ) and context vectors (context matrix C) to generate the final word embeddings for each word. </a:t>
            </a:r>
          </a:p>
        </p:txBody>
      </p:sp>
      <p:sp>
        <p:nvSpPr>
          <p:cNvPr id="2" name="Title 1">
            <a:extLst>
              <a:ext uri="{FF2B5EF4-FFF2-40B4-BE49-F238E27FC236}">
                <a16:creationId xmlns:a16="http://schemas.microsoft.com/office/drawing/2014/main" id="{A31CC4D6-88D6-A4A3-E96B-FA4BC5BDCA80}"/>
              </a:ext>
            </a:extLst>
          </p:cNvPr>
          <p:cNvSpPr>
            <a:spLocks noGrp="1"/>
          </p:cNvSpPr>
          <p:nvPr>
            <p:ph type="title"/>
          </p:nvPr>
        </p:nvSpPr>
        <p:spPr>
          <a:xfrm>
            <a:off x="838200" y="0"/>
            <a:ext cx="10515600" cy="810532"/>
          </a:xfrm>
        </p:spPr>
        <p:txBody>
          <a:bodyPr>
            <a:normAutofit/>
          </a:bodyPr>
          <a:lstStyle/>
          <a:p>
            <a:pPr algn="ctr"/>
            <a:r>
              <a:rPr lang="en-US" sz="3600" b="1" dirty="0" err="1">
                <a:solidFill>
                  <a:srgbClr val="FF0000"/>
                </a:solidFill>
                <a:latin typeface="+mn-lt"/>
              </a:rPr>
              <a:t>GloVe</a:t>
            </a:r>
            <a:r>
              <a:rPr lang="en-US" sz="3600" b="1" dirty="0">
                <a:solidFill>
                  <a:srgbClr val="FF0000"/>
                </a:solidFill>
                <a:latin typeface="+mn-lt"/>
              </a:rPr>
              <a:t> </a:t>
            </a:r>
            <a:r>
              <a:rPr lang="en-IN" sz="3600" b="1" dirty="0">
                <a:solidFill>
                  <a:srgbClr val="FF0000"/>
                </a:solidFill>
                <a:latin typeface="+mn-lt"/>
              </a:rPr>
              <a:t>Model </a:t>
            </a:r>
            <a:endParaRPr lang="en-US" sz="3600" b="1" dirty="0">
              <a:solidFill>
                <a:srgbClr val="FF0000"/>
              </a:solidFill>
              <a:latin typeface="+mn-lt"/>
            </a:endParaRPr>
          </a:p>
        </p:txBody>
      </p:sp>
    </p:spTree>
    <p:extLst>
      <p:ext uri="{BB962C8B-B14F-4D97-AF65-F5344CB8AC3E}">
        <p14:creationId xmlns:p14="http://schemas.microsoft.com/office/powerpoint/2010/main" val="34350604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4AE5B-7C3B-B169-59A8-797518571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A5B58-EB2F-3A5E-27BA-2D94222778F3}"/>
              </a:ext>
            </a:extLst>
          </p:cNvPr>
          <p:cNvSpPr>
            <a:spLocks noGrp="1"/>
          </p:cNvSpPr>
          <p:nvPr>
            <p:ph type="title"/>
          </p:nvPr>
        </p:nvSpPr>
        <p:spPr>
          <a:xfrm>
            <a:off x="838200" y="0"/>
            <a:ext cx="10515600" cy="810532"/>
          </a:xfrm>
        </p:spPr>
        <p:txBody>
          <a:bodyPr>
            <a:normAutofit/>
          </a:bodyPr>
          <a:lstStyle/>
          <a:p>
            <a:pPr algn="ctr"/>
            <a:r>
              <a:rPr lang="en-US" sz="3600" dirty="0">
                <a:solidFill>
                  <a:srgbClr val="FF0000"/>
                </a:solidFill>
                <a:latin typeface="+mn-lt"/>
              </a:rPr>
              <a:t>Pre-trained </a:t>
            </a:r>
            <a:r>
              <a:rPr lang="en-US" sz="3600" dirty="0" err="1">
                <a:solidFill>
                  <a:srgbClr val="FF0000"/>
                </a:solidFill>
                <a:latin typeface="+mn-lt"/>
              </a:rPr>
              <a:t>GloVe</a:t>
            </a:r>
            <a:r>
              <a:rPr lang="en-US" sz="3600" dirty="0">
                <a:solidFill>
                  <a:srgbClr val="FF0000"/>
                </a:solidFill>
                <a:latin typeface="+mn-lt"/>
              </a:rPr>
              <a:t> </a:t>
            </a:r>
            <a:r>
              <a:rPr lang="en-IN" sz="3600" dirty="0">
                <a:solidFill>
                  <a:srgbClr val="FF0000"/>
                </a:solidFill>
                <a:latin typeface="+mn-lt"/>
              </a:rPr>
              <a:t>Model </a:t>
            </a:r>
            <a:endParaRPr lang="en-US" sz="3600" dirty="0">
              <a:solidFill>
                <a:srgbClr val="FF0000"/>
              </a:solidFill>
              <a:latin typeface="+mn-lt"/>
            </a:endParaRPr>
          </a:p>
        </p:txBody>
      </p:sp>
      <p:sp>
        <p:nvSpPr>
          <p:cNvPr id="5" name="TextBox 4">
            <a:extLst>
              <a:ext uri="{FF2B5EF4-FFF2-40B4-BE49-F238E27FC236}">
                <a16:creationId xmlns:a16="http://schemas.microsoft.com/office/drawing/2014/main" id="{1F25A65C-FBBA-59EC-126C-7A1EA303480E}"/>
              </a:ext>
            </a:extLst>
          </p:cNvPr>
          <p:cNvSpPr txBox="1"/>
          <p:nvPr/>
        </p:nvSpPr>
        <p:spPr>
          <a:xfrm>
            <a:off x="71120" y="1063952"/>
            <a:ext cx="6979920" cy="3416320"/>
          </a:xfrm>
          <a:prstGeom prst="rect">
            <a:avLst/>
          </a:prstGeom>
          <a:noFill/>
        </p:spPr>
        <p:txBody>
          <a:bodyPr wrap="square">
            <a:spAutoFit/>
          </a:bodyPr>
          <a:lstStyle/>
          <a:p>
            <a:r>
              <a:rPr lang="en-IN" dirty="0">
                <a:latin typeface="Cascadia Code" panose="020B0609020000020004" pitchFamily="49" charset="0"/>
                <a:ea typeface="Cascadia Code" panose="020B0609020000020004" pitchFamily="49" charset="0"/>
                <a:cs typeface="Cascadia Code" panose="020B0609020000020004" pitchFamily="49" charset="0"/>
              </a:rPr>
              <a:t>import </a:t>
            </a:r>
            <a:r>
              <a:rPr lang="en-IN" dirty="0" err="1">
                <a:latin typeface="Cascadia Code" panose="020B0609020000020004" pitchFamily="49" charset="0"/>
                <a:ea typeface="Cascadia Code" panose="020B0609020000020004" pitchFamily="49" charset="0"/>
                <a:cs typeface="Cascadia Code" panose="020B0609020000020004" pitchFamily="49" charset="0"/>
              </a:rPr>
              <a:t>gensim</a:t>
            </a:r>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import </a:t>
            </a:r>
            <a:r>
              <a:rPr lang="en-IN" dirty="0" err="1">
                <a:latin typeface="Cascadia Code" panose="020B0609020000020004" pitchFamily="49" charset="0"/>
                <a:ea typeface="Cascadia Code" panose="020B0609020000020004" pitchFamily="49" charset="0"/>
                <a:cs typeface="Cascadia Code" panose="020B0609020000020004" pitchFamily="49" charset="0"/>
              </a:rPr>
              <a:t>gensim.downloader</a:t>
            </a:r>
            <a:r>
              <a:rPr lang="en-IN" dirty="0">
                <a:latin typeface="Cascadia Code" panose="020B0609020000020004" pitchFamily="49" charset="0"/>
                <a:ea typeface="Cascadia Code" panose="020B0609020000020004" pitchFamily="49" charset="0"/>
                <a:cs typeface="Cascadia Code" panose="020B0609020000020004" pitchFamily="49" charset="0"/>
              </a:rPr>
              <a:t> as </a:t>
            </a:r>
            <a:r>
              <a:rPr lang="en-IN" dirty="0" err="1">
                <a:latin typeface="Cascadia Code" panose="020B0609020000020004" pitchFamily="49" charset="0"/>
                <a:ea typeface="Cascadia Code" panose="020B0609020000020004" pitchFamily="49" charset="0"/>
                <a:cs typeface="Cascadia Code" panose="020B0609020000020004" pitchFamily="49" charset="0"/>
              </a:rPr>
              <a:t>api</a:t>
            </a:r>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err="1">
                <a:latin typeface="Cascadia Code" panose="020B0609020000020004" pitchFamily="49" charset="0"/>
                <a:ea typeface="Cascadia Code" panose="020B0609020000020004" pitchFamily="49" charset="0"/>
                <a:cs typeface="Cascadia Code" panose="020B0609020000020004" pitchFamily="49" charset="0"/>
              </a:rPr>
              <a:t>my_vocab</a:t>
            </a:r>
            <a:r>
              <a:rPr lang="en-IN" dirty="0">
                <a:latin typeface="Cascadia Code" panose="020B0609020000020004" pitchFamily="49" charset="0"/>
                <a:ea typeface="Cascadia Code" panose="020B0609020000020004" pitchFamily="49" charset="0"/>
                <a:cs typeface="Cascadia Code" panose="020B0609020000020004" pitchFamily="49" charset="0"/>
              </a:rPr>
              <a:t> = ['apple','orange','shimla','banana','maruti','mumbai','china','india','husband’]</a:t>
            </a: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err="1">
                <a:latin typeface="Cascadia Code" panose="020B0609020000020004" pitchFamily="49" charset="0"/>
                <a:ea typeface="Cascadia Code" panose="020B0609020000020004" pitchFamily="49" charset="0"/>
                <a:cs typeface="Cascadia Code" panose="020B0609020000020004" pitchFamily="49" charset="0"/>
              </a:rPr>
              <a:t>glove_model</a:t>
            </a:r>
            <a:r>
              <a:rPr lang="en-IN" dirty="0">
                <a:latin typeface="Cascadia Code" panose="020B0609020000020004" pitchFamily="49" charset="0"/>
                <a:ea typeface="Cascadia Code" panose="020B0609020000020004" pitchFamily="49" charset="0"/>
                <a:cs typeface="Cascadia Code" panose="020B0609020000020004" pitchFamily="49" charset="0"/>
              </a:rPr>
              <a:t> = </a:t>
            </a:r>
            <a:r>
              <a:rPr lang="en-IN" dirty="0" err="1">
                <a:latin typeface="Cascadia Code" panose="020B0609020000020004" pitchFamily="49" charset="0"/>
                <a:ea typeface="Cascadia Code" panose="020B0609020000020004" pitchFamily="49" charset="0"/>
                <a:cs typeface="Cascadia Code" panose="020B0609020000020004" pitchFamily="49" charset="0"/>
              </a:rPr>
              <a:t>api.load</a:t>
            </a:r>
            <a:r>
              <a:rPr lang="en-IN" dirty="0">
                <a:latin typeface="Cascadia Code" panose="020B0609020000020004" pitchFamily="49" charset="0"/>
                <a:ea typeface="Cascadia Code" panose="020B0609020000020004" pitchFamily="49" charset="0"/>
                <a:cs typeface="Cascadia Code" panose="020B0609020000020004" pitchFamily="49" charset="0"/>
              </a:rPr>
              <a:t>('glove-wiki-gigaword-300’)</a:t>
            </a: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err="1">
                <a:latin typeface="Cascadia Code" panose="020B0609020000020004" pitchFamily="49" charset="0"/>
                <a:ea typeface="Cascadia Code" panose="020B0609020000020004" pitchFamily="49" charset="0"/>
                <a:cs typeface="Cascadia Code" panose="020B0609020000020004" pitchFamily="49" charset="0"/>
              </a:rPr>
              <a:t>glove_model.most_similar</a:t>
            </a:r>
            <a:r>
              <a:rPr lang="en-IN" dirty="0">
                <a:latin typeface="Cascadia Code" panose="020B0609020000020004" pitchFamily="49" charset="0"/>
                <a:ea typeface="Cascadia Code" panose="020B0609020000020004" pitchFamily="49" charset="0"/>
                <a:cs typeface="Cascadia Code" panose="020B0609020000020004" pitchFamily="49" charset="0"/>
              </a:rPr>
              <a:t>('king',</a:t>
            </a:r>
            <a:r>
              <a:rPr lang="en-IN" dirty="0" err="1">
                <a:latin typeface="Cascadia Code" panose="020B0609020000020004" pitchFamily="49" charset="0"/>
                <a:ea typeface="Cascadia Code" panose="020B0609020000020004" pitchFamily="49" charset="0"/>
                <a:cs typeface="Cascadia Code" panose="020B0609020000020004" pitchFamily="49" charset="0"/>
              </a:rPr>
              <a:t>topn</a:t>
            </a:r>
            <a:r>
              <a:rPr lang="en-IN" dirty="0">
                <a:latin typeface="Cascadia Code" panose="020B0609020000020004" pitchFamily="49" charset="0"/>
                <a:ea typeface="Cascadia Code" panose="020B0609020000020004" pitchFamily="49" charset="0"/>
                <a:cs typeface="Cascadia Code" panose="020B0609020000020004" pitchFamily="49" charset="0"/>
              </a:rPr>
              <a:t>=5)</a:t>
            </a: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err="1">
                <a:latin typeface="Cascadia Code" panose="020B0609020000020004" pitchFamily="49" charset="0"/>
                <a:ea typeface="Cascadia Code" panose="020B0609020000020004" pitchFamily="49" charset="0"/>
                <a:cs typeface="Cascadia Code" panose="020B0609020000020004" pitchFamily="49" charset="0"/>
              </a:rPr>
              <a:t>glove_model</a:t>
            </a:r>
            <a:r>
              <a:rPr lang="en-IN" dirty="0">
                <a:latin typeface="Cascadia Code" panose="020B0609020000020004" pitchFamily="49" charset="0"/>
                <a:ea typeface="Cascadia Code" panose="020B0609020000020004" pitchFamily="49" charset="0"/>
                <a:cs typeface="Cascadia Code" panose="020B0609020000020004" pitchFamily="49" charset="0"/>
              </a:rPr>
              <a:t>['king']</a:t>
            </a:r>
          </a:p>
        </p:txBody>
      </p:sp>
      <p:pic>
        <p:nvPicPr>
          <p:cNvPr id="7" name="Picture 6">
            <a:extLst>
              <a:ext uri="{FF2B5EF4-FFF2-40B4-BE49-F238E27FC236}">
                <a16:creationId xmlns:a16="http://schemas.microsoft.com/office/drawing/2014/main" id="{504A0ECC-7675-A9B3-4A93-F63FED40E065}"/>
              </a:ext>
            </a:extLst>
          </p:cNvPr>
          <p:cNvPicPr>
            <a:picLocks noChangeAspect="1"/>
          </p:cNvPicPr>
          <p:nvPr/>
        </p:nvPicPr>
        <p:blipFill>
          <a:blip r:embed="rId2"/>
          <a:stretch>
            <a:fillRect/>
          </a:stretch>
        </p:blipFill>
        <p:spPr>
          <a:xfrm>
            <a:off x="7451549" y="2940536"/>
            <a:ext cx="4740451" cy="1539736"/>
          </a:xfrm>
          <a:prstGeom prst="rect">
            <a:avLst/>
          </a:prstGeom>
        </p:spPr>
      </p:pic>
      <p:sp>
        <p:nvSpPr>
          <p:cNvPr id="10" name="TextBox 9">
            <a:extLst>
              <a:ext uri="{FF2B5EF4-FFF2-40B4-BE49-F238E27FC236}">
                <a16:creationId xmlns:a16="http://schemas.microsoft.com/office/drawing/2014/main" id="{56104B54-ACE1-A262-4031-47CDAB7C0F75}"/>
              </a:ext>
            </a:extLst>
          </p:cNvPr>
          <p:cNvSpPr txBox="1"/>
          <p:nvPr/>
        </p:nvSpPr>
        <p:spPr>
          <a:xfrm>
            <a:off x="4755931" y="5103674"/>
            <a:ext cx="6257509" cy="1754326"/>
          </a:xfrm>
          <a:prstGeom prst="rect">
            <a:avLst/>
          </a:prstGeom>
          <a:noFill/>
        </p:spPr>
        <p:txBody>
          <a:bodyPr wrap="square">
            <a:spAutoFit/>
          </a:bodyPr>
          <a:lstStyle/>
          <a:p>
            <a:r>
              <a:rPr lang="en-US" dirty="0"/>
              <a:t>array([ 0.0033901, -0.34614  ,  0.28144  ,  0.48382  ,  0.59469  ,</a:t>
            </a:r>
          </a:p>
          <a:p>
            <a:r>
              <a:rPr lang="en-US" dirty="0"/>
              <a:t>        0.012965 ,  0.53982  ,  0.48233  ,  0.21463  , -1.0249   ,</a:t>
            </a:r>
          </a:p>
          <a:p>
            <a:r>
              <a:rPr lang="en-US" dirty="0"/>
              <a:t>       -0.34788  , -0.79001  , -0.15084  ,  0.61374  ,  0.042811 ,</a:t>
            </a:r>
          </a:p>
          <a:p>
            <a:r>
              <a:rPr lang="en-US" dirty="0"/>
              <a:t>        0.19323  ,  0.25462  ,  0.32528  ,  0.05698  ,  0.063253 ,</a:t>
            </a:r>
          </a:p>
          <a:p>
            <a:r>
              <a:rPr lang="en-US" dirty="0"/>
              <a:t>       -0.49439  ,  0.47337  , -0.16761  ,  0.045594 ,  0.30451  ,</a:t>
            </a:r>
          </a:p>
          <a:p>
            <a:r>
              <a:rPr lang="en-US" dirty="0"/>
              <a:t>       -0.35416  , -0.34583  , -0.20118  ,  0.25511  ,  0.091111 ,</a:t>
            </a:r>
            <a:endParaRPr lang="en-IN" dirty="0"/>
          </a:p>
        </p:txBody>
      </p:sp>
    </p:spTree>
    <p:extLst>
      <p:ext uri="{BB962C8B-B14F-4D97-AF65-F5344CB8AC3E}">
        <p14:creationId xmlns:p14="http://schemas.microsoft.com/office/powerpoint/2010/main" val="41682947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9373C-7897-4598-4803-EEDFCFB2AF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F843AC-785F-15E1-9686-A5DF7EBB9998}"/>
              </a:ext>
            </a:extLst>
          </p:cNvPr>
          <p:cNvSpPr>
            <a:spLocks noGrp="1"/>
          </p:cNvSpPr>
          <p:nvPr>
            <p:ph idx="1"/>
          </p:nvPr>
        </p:nvSpPr>
        <p:spPr>
          <a:xfrm>
            <a:off x="142240" y="741680"/>
            <a:ext cx="12049760" cy="6024880"/>
          </a:xfrm>
        </p:spPr>
        <p:txBody>
          <a:bodyPr>
            <a:noAutofit/>
          </a:bodyPr>
          <a:lstStyle/>
          <a:p>
            <a:pPr>
              <a:buFont typeface="Arial" panose="020B0604020202020204" pitchFamily="34" charset="0"/>
              <a:buChar char="•"/>
            </a:pPr>
            <a:endParaRPr lang="en-US" sz="1600" dirty="0"/>
          </a:p>
          <a:p>
            <a:pPr marL="0" indent="0">
              <a:buNone/>
            </a:pPr>
            <a:endParaRPr lang="en-US" sz="1600" dirty="0"/>
          </a:p>
        </p:txBody>
      </p:sp>
      <p:sp>
        <p:nvSpPr>
          <p:cNvPr id="4" name="TextBox 3">
            <a:extLst>
              <a:ext uri="{FF2B5EF4-FFF2-40B4-BE49-F238E27FC236}">
                <a16:creationId xmlns:a16="http://schemas.microsoft.com/office/drawing/2014/main" id="{869A427C-C1C6-9BAA-7FD1-9B314C45111F}"/>
              </a:ext>
            </a:extLst>
          </p:cNvPr>
          <p:cNvSpPr txBox="1"/>
          <p:nvPr/>
        </p:nvSpPr>
        <p:spPr>
          <a:xfrm>
            <a:off x="487680" y="810532"/>
            <a:ext cx="11562080" cy="4431983"/>
          </a:xfrm>
          <a:prstGeom prst="rect">
            <a:avLst/>
          </a:prstGeom>
          <a:noFill/>
        </p:spPr>
        <p:txBody>
          <a:bodyPr wrap="square">
            <a:spAutoFit/>
          </a:bodyPr>
          <a:lstStyle/>
          <a:p>
            <a:pPr algn="just"/>
            <a:r>
              <a:rPr lang="en-US" sz="2400" dirty="0">
                <a:solidFill>
                  <a:srgbClr val="FF0000"/>
                </a:solidFill>
              </a:rPr>
              <a:t>Contextual Limitations</a:t>
            </a:r>
          </a:p>
          <a:p>
            <a:pPr lvl="1" algn="just">
              <a:buFont typeface="Arial" panose="020B0604020202020204" pitchFamily="34" charset="0"/>
              <a:buChar char="•"/>
            </a:pPr>
            <a:r>
              <a:rPr lang="en-US" sz="2400" dirty="0"/>
              <a:t>Glove represents words as fixed vectors, meaning each word has a single representation regardless of its meaning in different contexts. </a:t>
            </a:r>
          </a:p>
          <a:p>
            <a:pPr lvl="1" algn="just"/>
            <a:endParaRPr lang="en-US" sz="2400" dirty="0"/>
          </a:p>
          <a:p>
            <a:pPr marL="0" lvl="1" algn="just"/>
            <a:r>
              <a:rPr lang="en-IN" sz="2400" dirty="0">
                <a:solidFill>
                  <a:srgbClr val="FF0000"/>
                </a:solidFill>
              </a:rPr>
              <a:t>OOV (Out-of-Vocabulary) Problem</a:t>
            </a:r>
            <a:endParaRPr lang="en-US" sz="2400" dirty="0">
              <a:solidFill>
                <a:srgbClr val="FF0000"/>
              </a:solidFill>
            </a:endParaRPr>
          </a:p>
          <a:p>
            <a:pPr lvl="1" algn="just">
              <a:buFont typeface="Arial" panose="020B0604020202020204" pitchFamily="34" charset="0"/>
              <a:buChar char="•"/>
            </a:pPr>
            <a:r>
              <a:rPr lang="en-US" sz="2400" dirty="0"/>
              <a:t>If a word does not appear in the training data (out-of-vocabulary), Glove cannot generate its embedding. </a:t>
            </a:r>
          </a:p>
          <a:p>
            <a:pPr lvl="1" algn="just"/>
            <a:endParaRPr lang="en-US" sz="2400" dirty="0"/>
          </a:p>
          <a:p>
            <a:pPr algn="just"/>
            <a:r>
              <a:rPr lang="en-US" sz="2400" dirty="0">
                <a:solidFill>
                  <a:srgbClr val="FF0000"/>
                </a:solidFill>
              </a:rPr>
              <a:t>Memory and Computation Complexity</a:t>
            </a:r>
          </a:p>
          <a:p>
            <a:pPr algn="just">
              <a:buFont typeface="Arial" panose="020B0604020202020204" pitchFamily="34" charset="0"/>
              <a:buChar char="•"/>
            </a:pPr>
            <a:r>
              <a:rPr lang="en-US" sz="2400" dirty="0"/>
              <a:t>Training a Glove model on large datasets with a large vocabulary may require considerable resources (memory and computation).</a:t>
            </a:r>
          </a:p>
          <a:p>
            <a:endParaRPr lang="en-IN" dirty="0"/>
          </a:p>
        </p:txBody>
      </p:sp>
      <p:sp>
        <p:nvSpPr>
          <p:cNvPr id="2" name="Title 1">
            <a:extLst>
              <a:ext uri="{FF2B5EF4-FFF2-40B4-BE49-F238E27FC236}">
                <a16:creationId xmlns:a16="http://schemas.microsoft.com/office/drawing/2014/main" id="{9AF8C064-18FE-2549-1557-CBBD7B9960EF}"/>
              </a:ext>
            </a:extLst>
          </p:cNvPr>
          <p:cNvSpPr>
            <a:spLocks noGrp="1"/>
          </p:cNvSpPr>
          <p:nvPr>
            <p:ph type="title"/>
          </p:nvPr>
        </p:nvSpPr>
        <p:spPr>
          <a:xfrm>
            <a:off x="838200" y="0"/>
            <a:ext cx="10515600" cy="810532"/>
          </a:xfrm>
        </p:spPr>
        <p:txBody>
          <a:bodyPr>
            <a:normAutofit/>
          </a:bodyPr>
          <a:lstStyle/>
          <a:p>
            <a:pPr algn="ctr"/>
            <a:r>
              <a:rPr lang="en-US" sz="3600" dirty="0">
                <a:solidFill>
                  <a:srgbClr val="FF0000"/>
                </a:solidFill>
              </a:rPr>
              <a:t>Glove </a:t>
            </a:r>
            <a:r>
              <a:rPr lang="en-IN" sz="3600" dirty="0">
                <a:solidFill>
                  <a:srgbClr val="FF0000"/>
                </a:solidFill>
              </a:rPr>
              <a:t>Model </a:t>
            </a:r>
            <a:r>
              <a:rPr lang="en-US" sz="3600" dirty="0">
                <a:solidFill>
                  <a:srgbClr val="FF0000"/>
                </a:solidFill>
              </a:rPr>
              <a:t>Limitations</a:t>
            </a:r>
          </a:p>
        </p:txBody>
      </p:sp>
    </p:spTree>
    <p:extLst>
      <p:ext uri="{BB962C8B-B14F-4D97-AF65-F5344CB8AC3E}">
        <p14:creationId xmlns:p14="http://schemas.microsoft.com/office/powerpoint/2010/main" val="5924871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2BBD2-49AD-182B-B4AC-B106777AA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38BE8-98DC-75D3-0DF0-1AD47069C922}"/>
              </a:ext>
            </a:extLst>
          </p:cNvPr>
          <p:cNvSpPr>
            <a:spLocks noGrp="1"/>
          </p:cNvSpPr>
          <p:nvPr>
            <p:ph type="title"/>
          </p:nvPr>
        </p:nvSpPr>
        <p:spPr>
          <a:xfrm>
            <a:off x="838200" y="0"/>
            <a:ext cx="10515600" cy="810532"/>
          </a:xfrm>
        </p:spPr>
        <p:txBody>
          <a:bodyPr>
            <a:normAutofit/>
          </a:bodyPr>
          <a:lstStyle/>
          <a:p>
            <a:pPr algn="ctr"/>
            <a:r>
              <a:rPr lang="en-US" b="0" i="0" dirty="0" err="1">
                <a:solidFill>
                  <a:srgbClr val="FF0000"/>
                </a:solidFill>
                <a:effectLst/>
                <a:latin typeface="Inter"/>
              </a:rPr>
              <a:t>FastText</a:t>
            </a:r>
            <a:endParaRPr lang="en-US" dirty="0">
              <a:solidFill>
                <a:srgbClr val="FF0000"/>
              </a:solidFill>
              <a:latin typeface="+mn-lt"/>
            </a:endParaRPr>
          </a:p>
        </p:txBody>
      </p:sp>
      <p:sp>
        <p:nvSpPr>
          <p:cNvPr id="5" name="TextBox 4">
            <a:extLst>
              <a:ext uri="{FF2B5EF4-FFF2-40B4-BE49-F238E27FC236}">
                <a16:creationId xmlns:a16="http://schemas.microsoft.com/office/drawing/2014/main" id="{F467F80A-B45E-8349-341D-59289DDCED46}"/>
              </a:ext>
            </a:extLst>
          </p:cNvPr>
          <p:cNvSpPr txBox="1"/>
          <p:nvPr/>
        </p:nvSpPr>
        <p:spPr>
          <a:xfrm>
            <a:off x="71120" y="1063952"/>
            <a:ext cx="12029440" cy="5663089"/>
          </a:xfrm>
          <a:prstGeom prst="rect">
            <a:avLst/>
          </a:prstGeom>
          <a:noFill/>
        </p:spPr>
        <p:txBody>
          <a:bodyPr wrap="square">
            <a:spAutoFit/>
          </a:bodyPr>
          <a:lstStyle/>
          <a:p>
            <a:pPr marL="342900" indent="-342900" algn="just">
              <a:spcBef>
                <a:spcPts val="600"/>
              </a:spcBef>
              <a:buFont typeface="Arial" panose="020B0604020202020204" pitchFamily="34" charset="0"/>
              <a:buChar char="•"/>
            </a:pPr>
            <a:r>
              <a:rPr lang="en-US" sz="2300" i="0" dirty="0" err="1">
                <a:effectLst/>
              </a:rPr>
              <a:t>FastText</a:t>
            </a:r>
            <a:r>
              <a:rPr lang="en-US" sz="2300" i="0" dirty="0">
                <a:effectLst/>
              </a:rPr>
              <a:t> is an open-source library for text representation and classification developed by Facebook’s AI Research (FAIR) team. </a:t>
            </a:r>
          </a:p>
          <a:p>
            <a:pPr marL="342900" indent="-342900" algn="just">
              <a:spcBef>
                <a:spcPts val="600"/>
              </a:spcBef>
              <a:buFont typeface="Arial" panose="020B0604020202020204" pitchFamily="34" charset="0"/>
              <a:buChar char="•"/>
            </a:pPr>
            <a:r>
              <a:rPr lang="en-US" sz="2300" i="0" dirty="0">
                <a:effectLst/>
              </a:rPr>
              <a:t>As Word2Vec and Glove models suffer with </a:t>
            </a:r>
            <a:r>
              <a:rPr lang="en-IN" sz="2300" dirty="0">
                <a:solidFill>
                  <a:srgbClr val="7030A0"/>
                </a:solidFill>
              </a:rPr>
              <a:t>OOV (Out-of-Vocabulary) </a:t>
            </a:r>
            <a:r>
              <a:rPr lang="en-IN" sz="2300" dirty="0"/>
              <a:t>Problem</a:t>
            </a:r>
            <a:r>
              <a:rPr lang="en-US" sz="2300" dirty="0"/>
              <a:t>.</a:t>
            </a:r>
            <a:r>
              <a:rPr lang="en-US" sz="2300" i="0" dirty="0">
                <a:effectLst/>
              </a:rPr>
              <a:t> </a:t>
            </a:r>
          </a:p>
          <a:p>
            <a:pPr marL="342900" indent="-342900" algn="just">
              <a:spcBef>
                <a:spcPts val="600"/>
              </a:spcBef>
              <a:buFont typeface="Arial" panose="020B0604020202020204" pitchFamily="34" charset="0"/>
              <a:buChar char="•"/>
            </a:pPr>
            <a:r>
              <a:rPr lang="en-US" sz="2300" i="0" dirty="0" err="1">
                <a:effectLst/>
              </a:rPr>
              <a:t>FastText</a:t>
            </a:r>
            <a:r>
              <a:rPr lang="en-US" sz="2300" i="0" dirty="0">
                <a:effectLst/>
              </a:rPr>
              <a:t> overcomes this problem</a:t>
            </a:r>
          </a:p>
          <a:p>
            <a:pPr marL="342900" indent="-342900" algn="just">
              <a:spcBef>
                <a:spcPts val="600"/>
              </a:spcBef>
              <a:buFont typeface="Arial" panose="020B0604020202020204" pitchFamily="34" charset="0"/>
              <a:buChar char="•"/>
            </a:pPr>
            <a:r>
              <a:rPr lang="en-US" sz="2300" i="0" dirty="0" err="1">
                <a:effectLst/>
              </a:rPr>
              <a:t>FastText</a:t>
            </a:r>
            <a:r>
              <a:rPr lang="en-US" sz="2300" i="0" dirty="0">
                <a:effectLst/>
              </a:rPr>
              <a:t> breaks word into smaller </a:t>
            </a:r>
            <a:r>
              <a:rPr lang="en-US" sz="2300" i="0" dirty="0" err="1">
                <a:effectLst/>
              </a:rPr>
              <a:t>subword</a:t>
            </a:r>
            <a:r>
              <a:rPr lang="en-US" sz="2300" i="0" dirty="0">
                <a:effectLst/>
              </a:rPr>
              <a:t> units, such as character n-grams.</a:t>
            </a:r>
          </a:p>
          <a:p>
            <a:pPr marL="457200" marR="0" lvl="1" indent="0" algn="just" defTabSz="914400" rtl="0" eaLnBrk="0" fontAlgn="base" latinLnBrk="0" hangingPunct="0">
              <a:lnSpc>
                <a:spcPct val="100000"/>
              </a:lnSpc>
              <a:spcBef>
                <a:spcPts val="600"/>
              </a:spcBef>
              <a:spcAft>
                <a:spcPct val="0"/>
              </a:spcAft>
              <a:buClrTx/>
              <a:buSzTx/>
              <a:buFontTx/>
              <a:buChar char="•"/>
              <a:tabLst/>
            </a:pPr>
            <a:r>
              <a:rPr kumimoji="0" lang="en-US" altLang="en-US" sz="2300" i="0" u="none" strike="noStrike" cap="none" normalizeH="0" baseline="0" dirty="0">
                <a:ln>
                  <a:noFill/>
                </a:ln>
                <a:effectLst/>
              </a:rPr>
              <a:t>For example, for the word "apple" with n-grams of size 3, the generated n-grams would be:</a:t>
            </a:r>
          </a:p>
          <a:p>
            <a:pPr marL="914400" marR="0" lvl="2" indent="0" algn="just" defTabSz="914400" rtl="0" eaLnBrk="0" fontAlgn="base" latinLnBrk="0" hangingPunct="0">
              <a:lnSpc>
                <a:spcPct val="100000"/>
              </a:lnSpc>
              <a:spcBef>
                <a:spcPts val="600"/>
              </a:spcBef>
              <a:spcAft>
                <a:spcPct val="0"/>
              </a:spcAft>
              <a:buClrTx/>
              <a:buSzTx/>
              <a:buFontTx/>
              <a:buChar char="•"/>
              <a:tabLst/>
            </a:pPr>
            <a:r>
              <a:rPr kumimoji="0" lang="en-US" altLang="en-US" sz="2300" i="0" u="none" strike="noStrike" cap="none" normalizeH="0" baseline="0" dirty="0">
                <a:ln>
                  <a:noFill/>
                </a:ln>
                <a:effectLst/>
              </a:rPr>
              <a:t>"&lt;ap", "app", "ppl", "</a:t>
            </a:r>
            <a:r>
              <a:rPr kumimoji="0" lang="en-US" altLang="en-US" sz="2300" i="0" u="none" strike="noStrike" cap="none" normalizeH="0" baseline="0" dirty="0" err="1">
                <a:ln>
                  <a:noFill/>
                </a:ln>
                <a:effectLst/>
              </a:rPr>
              <a:t>ple</a:t>
            </a:r>
            <a:r>
              <a:rPr kumimoji="0" lang="en-US" altLang="en-US" sz="2300" i="0" u="none" strike="noStrike" cap="none" normalizeH="0" baseline="0" dirty="0">
                <a:ln>
                  <a:noFill/>
                </a:ln>
                <a:effectLst/>
              </a:rPr>
              <a:t>", "le&gt;</a:t>
            </a:r>
          </a:p>
          <a:p>
            <a:pPr marL="0" marR="0" lvl="2" indent="0" algn="just" defTabSz="914400" rtl="0" eaLnBrk="0" fontAlgn="base" latinLnBrk="0" hangingPunct="0">
              <a:lnSpc>
                <a:spcPct val="100000"/>
              </a:lnSpc>
              <a:spcBef>
                <a:spcPts val="600"/>
              </a:spcBef>
              <a:spcAft>
                <a:spcPct val="0"/>
              </a:spcAft>
              <a:buClrTx/>
              <a:buSzTx/>
              <a:buFontTx/>
              <a:buChar char="•"/>
              <a:tabLst/>
            </a:pPr>
            <a:r>
              <a:rPr lang="en-US" sz="2300" i="0" dirty="0">
                <a:effectLst/>
              </a:rPr>
              <a:t>So, </a:t>
            </a:r>
            <a:r>
              <a:rPr lang="en-US" sz="2300" i="0" dirty="0" err="1">
                <a:effectLst/>
              </a:rPr>
              <a:t>FastText</a:t>
            </a:r>
            <a:r>
              <a:rPr lang="en-US" sz="2300" i="0" dirty="0">
                <a:effectLst/>
              </a:rPr>
              <a:t> will generate representations for such character n-grams and in turn, these will add up to form the embeddings of a complete word</a:t>
            </a:r>
          </a:p>
          <a:p>
            <a:pPr marL="0" marR="0" lvl="2" indent="0" algn="just" defTabSz="914400" rtl="0" eaLnBrk="0" fontAlgn="base" latinLnBrk="0" hangingPunct="0">
              <a:lnSpc>
                <a:spcPct val="100000"/>
              </a:lnSpc>
              <a:spcBef>
                <a:spcPts val="600"/>
              </a:spcBef>
              <a:spcAft>
                <a:spcPct val="0"/>
              </a:spcAft>
              <a:buClrTx/>
              <a:buSzTx/>
              <a:buFontTx/>
              <a:buChar char="•"/>
              <a:tabLst/>
            </a:pPr>
            <a:r>
              <a:rPr lang="en-US" sz="2300" i="0" dirty="0">
                <a:effectLst/>
              </a:rPr>
              <a:t>Suppose we train the </a:t>
            </a:r>
            <a:r>
              <a:rPr lang="en-US" sz="2300" i="0" dirty="0" err="1">
                <a:effectLst/>
              </a:rPr>
              <a:t>FastText</a:t>
            </a:r>
            <a:r>
              <a:rPr lang="en-US" sz="2300" i="0" dirty="0">
                <a:effectLst/>
              </a:rPr>
              <a:t> model on a corpus and the model is now familiar with a vocabulary. </a:t>
            </a:r>
          </a:p>
          <a:p>
            <a:pPr marL="0" marR="0" lvl="2" indent="0" algn="just" defTabSz="914400" rtl="0" eaLnBrk="0" fontAlgn="base" latinLnBrk="0" hangingPunct="0">
              <a:lnSpc>
                <a:spcPct val="100000"/>
              </a:lnSpc>
              <a:spcBef>
                <a:spcPts val="600"/>
              </a:spcBef>
              <a:spcAft>
                <a:spcPct val="0"/>
              </a:spcAft>
              <a:buClrTx/>
              <a:buSzTx/>
              <a:buFontTx/>
              <a:buChar char="•"/>
              <a:tabLst/>
            </a:pPr>
            <a:r>
              <a:rPr lang="en-US" sz="2300" i="0" dirty="0">
                <a:effectLst/>
              </a:rPr>
              <a:t>If we try to generate embeddings for a word that was absent in the vocabulary during training, the </a:t>
            </a:r>
            <a:r>
              <a:rPr lang="en-US" sz="2300" i="0" dirty="0" err="1">
                <a:effectLst/>
              </a:rPr>
              <a:t>FastText</a:t>
            </a:r>
            <a:r>
              <a:rPr lang="en-US" sz="2300" i="0" dirty="0">
                <a:effectLst/>
              </a:rPr>
              <a:t> model would still be able to generate embeddings for the unseen word as the n-grams information of the word would be present in the vocabulary and the model has already captured that information.</a:t>
            </a:r>
            <a:endParaRPr lang="en-US" sz="2300" dirty="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0947532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7DE3E-4116-F134-F9CE-72718DBC8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BA136-E931-9C3D-864E-C4FCDE074F14}"/>
              </a:ext>
            </a:extLst>
          </p:cNvPr>
          <p:cNvSpPr>
            <a:spLocks noGrp="1"/>
          </p:cNvSpPr>
          <p:nvPr>
            <p:ph type="title"/>
          </p:nvPr>
        </p:nvSpPr>
        <p:spPr>
          <a:xfrm>
            <a:off x="838200" y="0"/>
            <a:ext cx="10515600" cy="810532"/>
          </a:xfrm>
        </p:spPr>
        <p:txBody>
          <a:bodyPr>
            <a:norm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600" b="1" dirty="0">
                <a:solidFill>
                  <a:srgbClr val="FF0000"/>
                </a:solidFill>
                <a:latin typeface="Arial" panose="020B0604020202020204" pitchFamily="34" charset="0"/>
              </a:rPr>
              <a:t>H</a:t>
            </a:r>
            <a:r>
              <a:rPr kumimoji="0" lang="en-US" altLang="en-US" sz="3600" b="1" i="0" u="none" strike="noStrike" cap="none" normalizeH="0" baseline="0" dirty="0">
                <a:ln>
                  <a:noFill/>
                </a:ln>
                <a:solidFill>
                  <a:srgbClr val="FF0000"/>
                </a:solidFill>
                <a:effectLst/>
                <a:latin typeface="Arial" panose="020B0604020202020204" pitchFamily="34" charset="0"/>
              </a:rPr>
              <a:t>ow </a:t>
            </a:r>
            <a:r>
              <a:rPr kumimoji="0" lang="en-US" altLang="en-US" sz="3600" b="1" i="0" u="none" strike="noStrike" cap="none" normalizeH="0" baseline="0" dirty="0" err="1">
                <a:ln>
                  <a:noFill/>
                </a:ln>
                <a:solidFill>
                  <a:srgbClr val="FF0000"/>
                </a:solidFill>
                <a:effectLst/>
                <a:latin typeface="Arial" panose="020B0604020202020204" pitchFamily="34" charset="0"/>
              </a:rPr>
              <a:t>FastText</a:t>
            </a:r>
            <a:r>
              <a:rPr kumimoji="0" lang="en-US" altLang="en-US" sz="3600" b="1" i="0" u="none" strike="noStrike" cap="none" normalizeH="0" baseline="0" dirty="0">
                <a:ln>
                  <a:noFill/>
                </a:ln>
                <a:solidFill>
                  <a:srgbClr val="FF0000"/>
                </a:solidFill>
                <a:effectLst/>
                <a:latin typeface="Arial" panose="020B0604020202020204" pitchFamily="34" charset="0"/>
              </a:rPr>
              <a:t> vectorizes text</a:t>
            </a:r>
          </a:p>
        </p:txBody>
      </p:sp>
      <p:sp>
        <p:nvSpPr>
          <p:cNvPr id="3" name="Rectangle 1">
            <a:extLst>
              <a:ext uri="{FF2B5EF4-FFF2-40B4-BE49-F238E27FC236}">
                <a16:creationId xmlns:a16="http://schemas.microsoft.com/office/drawing/2014/main" id="{C9079307-FF9A-352A-A735-833306C152FC}"/>
              </a:ext>
            </a:extLst>
          </p:cNvPr>
          <p:cNvSpPr>
            <a:spLocks noChangeArrowheads="1"/>
          </p:cNvSpPr>
          <p:nvPr/>
        </p:nvSpPr>
        <p:spPr bwMode="auto">
          <a:xfrm>
            <a:off x="243333" y="917910"/>
            <a:ext cx="1183690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Tokenization</a:t>
            </a:r>
            <a:r>
              <a:rPr kumimoji="0" lang="en-US" altLang="en-US" sz="2400" b="0" i="0" u="none" strike="noStrike" cap="none" normalizeH="0" baseline="0" dirty="0">
                <a:ln>
                  <a:noFill/>
                </a:ln>
                <a:solidFill>
                  <a:schemeClr val="tx1"/>
                </a:solidFill>
                <a:effectLs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rPr>
              <a:t>FastText</a:t>
            </a:r>
            <a:r>
              <a:rPr kumimoji="0" lang="en-US" altLang="en-US" sz="2400" b="0" i="0" u="none" strike="noStrike" cap="none" normalizeH="0" baseline="0" dirty="0">
                <a:ln>
                  <a:noFill/>
                </a:ln>
                <a:solidFill>
                  <a:schemeClr val="tx1"/>
                </a:solidFill>
                <a:effectLst/>
              </a:rPr>
              <a:t> starts by splitting the input text into individual tokens (words).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Character n-grams</a:t>
            </a:r>
            <a:r>
              <a:rPr kumimoji="0" lang="en-US" altLang="en-US" sz="2400" b="0" i="0" u="none" strike="noStrike" cap="none" normalizeH="0" baseline="0" dirty="0">
                <a:ln>
                  <a:noFill/>
                </a:ln>
                <a:solidFill>
                  <a:schemeClr val="tx1"/>
                </a:solidFill>
                <a:effectLs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Each word is broken into character n-grams. For example, for the word "apple" with n-grams of size 3, the generated n-grams would be:</a:t>
            </a:r>
          </a:p>
          <a:p>
            <a:pPr marL="914400" marR="0" lvl="2"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"&lt;ap", "app", "ppl", "</a:t>
            </a:r>
            <a:r>
              <a:rPr kumimoji="0" lang="en-US" altLang="en-US" sz="2400" b="0" i="0" u="none" strike="noStrike" cap="none" normalizeH="0" baseline="0" dirty="0" err="1">
                <a:ln>
                  <a:noFill/>
                </a:ln>
                <a:solidFill>
                  <a:schemeClr val="tx1"/>
                </a:solidFill>
                <a:effectLst/>
              </a:rPr>
              <a:t>ple</a:t>
            </a:r>
            <a:r>
              <a:rPr kumimoji="0" lang="en-US" altLang="en-US" sz="2400" b="0" i="0" u="none" strike="noStrike" cap="none" normalizeH="0" baseline="0" dirty="0">
                <a:ln>
                  <a:noFill/>
                </a:ln>
                <a:solidFill>
                  <a:schemeClr val="tx1"/>
                </a:solidFill>
                <a:effectLst/>
              </a:rPr>
              <a:t>", "le&gt;".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The start (&lt;) and end (&gt;) characters are added to capture the boundaries of words.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Training</a:t>
            </a:r>
            <a:r>
              <a:rPr kumimoji="0" lang="en-US" altLang="en-US" sz="2400" b="0" i="0" u="none" strike="noStrike" cap="none" normalizeH="0" baseline="0" dirty="0">
                <a:ln>
                  <a:noFill/>
                </a:ln>
                <a:solidFill>
                  <a:schemeClr val="tx1"/>
                </a:solidFill>
                <a:effectLs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rPr>
              <a:t>FastText</a:t>
            </a:r>
            <a:r>
              <a:rPr kumimoji="0" lang="en-US" altLang="en-US" sz="2400" b="0" i="0" u="none" strike="noStrike" cap="none" normalizeH="0" baseline="0" dirty="0">
                <a:ln>
                  <a:noFill/>
                </a:ln>
                <a:solidFill>
                  <a:schemeClr val="tx1"/>
                </a:solidFill>
                <a:effectLst/>
              </a:rPr>
              <a:t> uses the </a:t>
            </a:r>
            <a:r>
              <a:rPr kumimoji="0" lang="en-US" altLang="en-US" sz="2400" b="0" i="0" u="none" strike="noStrike" cap="none" normalizeH="0" baseline="0" dirty="0">
                <a:ln>
                  <a:noFill/>
                </a:ln>
                <a:solidFill>
                  <a:srgbClr val="7030A0"/>
                </a:solidFill>
                <a:effectLst/>
              </a:rPr>
              <a:t>skip-gram or CBOW (Continuous Bag of Words) </a:t>
            </a:r>
            <a:r>
              <a:rPr kumimoji="0" lang="en-US" altLang="en-US" sz="2400" b="0" i="0" u="none" strike="noStrike" cap="none" normalizeH="0" baseline="0" dirty="0">
                <a:ln>
                  <a:noFill/>
                </a:ln>
                <a:solidFill>
                  <a:schemeClr val="tx1"/>
                </a:solidFill>
                <a:effectLst/>
              </a:rPr>
              <a:t>approach for training, similar to Word2Vec.</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Word Representation</a:t>
            </a:r>
            <a:r>
              <a:rPr kumimoji="0" lang="en-US" altLang="en-US" sz="2400" b="0" i="0" u="none" strike="noStrike" cap="none" normalizeH="0" baseline="0" dirty="0">
                <a:ln>
                  <a:noFill/>
                </a:ln>
                <a:solidFill>
                  <a:schemeClr val="tx1"/>
                </a:solidFill>
                <a:effectLs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Each n-gram is assigned a vector (embedding) through the training process.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A word's final vector is the sum (or average) of the embeddings of its n-grams. </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This ensures that words sharing similar characters or </a:t>
            </a:r>
            <a:r>
              <a:rPr kumimoji="0" lang="en-US" altLang="en-US" sz="2400" b="0" i="0" u="none" strike="noStrike" cap="none" normalizeH="0" baseline="0" dirty="0" err="1">
                <a:ln>
                  <a:noFill/>
                </a:ln>
                <a:solidFill>
                  <a:schemeClr val="tx1"/>
                </a:solidFill>
                <a:effectLst/>
              </a:rPr>
              <a:t>subword</a:t>
            </a:r>
            <a:r>
              <a:rPr kumimoji="0" lang="en-US" altLang="en-US" sz="2400" b="0" i="0" u="none" strike="noStrike" cap="none" normalizeH="0" baseline="0" dirty="0">
                <a:ln>
                  <a:noFill/>
                </a:ln>
                <a:solidFill>
                  <a:schemeClr val="tx1"/>
                </a:solidFill>
                <a:effectLst/>
              </a:rPr>
              <a:t> structures are close to each other in vector space.</a:t>
            </a:r>
          </a:p>
        </p:txBody>
      </p:sp>
    </p:spTree>
    <p:extLst>
      <p:ext uri="{BB962C8B-B14F-4D97-AF65-F5344CB8AC3E}">
        <p14:creationId xmlns:p14="http://schemas.microsoft.com/office/powerpoint/2010/main" val="17260385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20EF3-FD4E-D0CB-623D-3CFA71AFC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AEE24-61C1-F3B0-E87E-73685F5F2652}"/>
              </a:ext>
            </a:extLst>
          </p:cNvPr>
          <p:cNvSpPr>
            <a:spLocks noGrp="1"/>
          </p:cNvSpPr>
          <p:nvPr>
            <p:ph type="title"/>
          </p:nvPr>
        </p:nvSpPr>
        <p:spPr>
          <a:xfrm>
            <a:off x="838200" y="0"/>
            <a:ext cx="10515600" cy="810532"/>
          </a:xfrm>
        </p:spPr>
        <p:txBody>
          <a:bodyPr>
            <a:normAutofit/>
          </a:bodyPr>
          <a:lstStyle/>
          <a:p>
            <a:pPr algn="ctr"/>
            <a:r>
              <a:rPr lang="en-US" sz="3600" dirty="0">
                <a:solidFill>
                  <a:srgbClr val="FF0000"/>
                </a:solidFill>
                <a:latin typeface="+mn-lt"/>
              </a:rPr>
              <a:t>Word2Vec Vs </a:t>
            </a:r>
            <a:r>
              <a:rPr lang="en-US" sz="3600" dirty="0" err="1">
                <a:solidFill>
                  <a:srgbClr val="FF0000"/>
                </a:solidFill>
                <a:latin typeface="+mn-lt"/>
              </a:rPr>
              <a:t>FastText</a:t>
            </a:r>
            <a:endParaRPr lang="en-US" sz="3600" dirty="0">
              <a:solidFill>
                <a:srgbClr val="FF0000"/>
              </a:solidFill>
              <a:latin typeface="+mn-lt"/>
            </a:endParaRPr>
          </a:p>
        </p:txBody>
      </p:sp>
      <p:pic>
        <p:nvPicPr>
          <p:cNvPr id="4" name="Picture 3">
            <a:extLst>
              <a:ext uri="{FF2B5EF4-FFF2-40B4-BE49-F238E27FC236}">
                <a16:creationId xmlns:a16="http://schemas.microsoft.com/office/drawing/2014/main" id="{EC71AC0F-4C64-3516-1DC4-ADA9E51BD599}"/>
              </a:ext>
            </a:extLst>
          </p:cNvPr>
          <p:cNvPicPr>
            <a:picLocks noChangeAspect="1"/>
          </p:cNvPicPr>
          <p:nvPr/>
        </p:nvPicPr>
        <p:blipFill>
          <a:blip r:embed="rId2"/>
          <a:stretch>
            <a:fillRect/>
          </a:stretch>
        </p:blipFill>
        <p:spPr>
          <a:xfrm>
            <a:off x="786219" y="975361"/>
            <a:ext cx="10217061" cy="5631550"/>
          </a:xfrm>
          <a:prstGeom prst="rect">
            <a:avLst/>
          </a:prstGeom>
        </p:spPr>
      </p:pic>
    </p:spTree>
    <p:extLst>
      <p:ext uri="{BB962C8B-B14F-4D97-AF65-F5344CB8AC3E}">
        <p14:creationId xmlns:p14="http://schemas.microsoft.com/office/powerpoint/2010/main" val="27122917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9227B-988A-2B23-9EB0-CA32F988C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D135F-C79F-E001-D1FD-87A142E6D526}"/>
              </a:ext>
            </a:extLst>
          </p:cNvPr>
          <p:cNvSpPr>
            <a:spLocks noGrp="1"/>
          </p:cNvSpPr>
          <p:nvPr>
            <p:ph type="title"/>
          </p:nvPr>
        </p:nvSpPr>
        <p:spPr>
          <a:xfrm>
            <a:off x="838200" y="0"/>
            <a:ext cx="10515600" cy="810532"/>
          </a:xfrm>
        </p:spPr>
        <p:txBody>
          <a:bodyPr>
            <a:norm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err="1">
                <a:ln>
                  <a:noFill/>
                </a:ln>
                <a:solidFill>
                  <a:srgbClr val="FF0000"/>
                </a:solidFill>
                <a:effectLst/>
                <a:latin typeface="Arial" panose="020B0604020202020204" pitchFamily="34" charset="0"/>
              </a:rPr>
              <a:t>FastText</a:t>
            </a:r>
            <a:r>
              <a:rPr kumimoji="0" lang="en-US" altLang="en-US" sz="3600" b="1" i="0" u="none" strike="noStrike" cap="none" normalizeH="0" baseline="0" dirty="0">
                <a:ln>
                  <a:noFill/>
                </a:ln>
                <a:solidFill>
                  <a:srgbClr val="FF0000"/>
                </a:solidFill>
                <a:effectLst/>
                <a:latin typeface="Arial" panose="020B0604020202020204" pitchFamily="34" charset="0"/>
              </a:rPr>
              <a:t> Model</a:t>
            </a:r>
          </a:p>
        </p:txBody>
      </p:sp>
      <p:sp>
        <p:nvSpPr>
          <p:cNvPr id="3" name="Rectangle 1">
            <a:extLst>
              <a:ext uri="{FF2B5EF4-FFF2-40B4-BE49-F238E27FC236}">
                <a16:creationId xmlns:a16="http://schemas.microsoft.com/office/drawing/2014/main" id="{B1EF9A43-BC4C-259D-475D-F2B980F6AA2D}"/>
              </a:ext>
            </a:extLst>
          </p:cNvPr>
          <p:cNvSpPr>
            <a:spLocks noChangeArrowheads="1"/>
          </p:cNvSpPr>
          <p:nvPr/>
        </p:nvSpPr>
        <p:spPr bwMode="auto">
          <a:xfrm>
            <a:off x="243333" y="1248771"/>
            <a:ext cx="11836907" cy="497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import </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a:t>
            </a:r>
            <a:endPar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import </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gensim</a:t>
            </a:r>
            <a:endPar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from </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gensim.models</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import </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FastText</a:t>
            </a:r>
            <a:endPar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from </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nltk.tokenize</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import </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word_tokenize</a:t>
            </a:r>
            <a:endPar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ts val="600"/>
              </a:spcBef>
              <a:spcAft>
                <a:spcPct val="0"/>
              </a:spcAft>
              <a:buClrTx/>
              <a:buSzTx/>
              <a:tabLst/>
            </a:pPr>
            <a:endPar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sentences =[</a:t>
            </a: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"I love programming and machine learning",</a:t>
            </a: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"natural language processing is fun"</a:t>
            </a: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a:t>
            </a: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tokenized_sentences</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 [</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word_tokenize</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(sentence)for sentence in sentences]</a:t>
            </a: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model=</a:t>
            </a:r>
            <a:r>
              <a:rPr kumimoji="0" lang="en-US" altLang="en-US" i="0" u="none" strike="noStrike" cap="none" normalizeH="0" baseline="0" dirty="0" err="1">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FastText</a:t>
            </a:r>
            <a:r>
              <a:rPr kumimoji="0" lang="en-US" altLang="en-US"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(sentences=</a:t>
            </a:r>
            <a:r>
              <a:rPr kumimoji="0" lang="en-US" altLang="en-US" i="0" u="none" strike="noStrike" cap="none" normalizeH="0" baseline="0" dirty="0" err="1">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tokenized_sentences,vector_size</a:t>
            </a:r>
            <a:r>
              <a:rPr kumimoji="0" lang="en-US" altLang="en-US"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=10,window=3,min_count=1, sg=1)</a:t>
            </a:r>
            <a:endParaRPr lang="en-US" altLang="en-US" dirty="0">
              <a:solidFill>
                <a:srgbClr val="7030A0"/>
              </a:solidFill>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model.wv</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['fun’]</a:t>
            </a: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model.wv.most_similar</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('programming', </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topn</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=5)</a:t>
            </a:r>
          </a:p>
          <a:p>
            <a:pPr marL="0" marR="0" lvl="0" indent="0" algn="l" defTabSz="914400" rtl="0" eaLnBrk="0" fontAlgn="base" latinLnBrk="0" hangingPunct="0">
              <a:lnSpc>
                <a:spcPct val="100000"/>
              </a:lnSpc>
              <a:spcBef>
                <a:spcPts val="600"/>
              </a:spcBef>
              <a:spcAft>
                <a:spcPct val="0"/>
              </a:spcAft>
              <a:buClrTx/>
              <a:buSzTx/>
              <a:tabLst/>
            </a:pP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model.wv</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r>
              <a:rPr kumimoji="0" lang="en-US" altLang="en-US"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abc</a:t>
            </a:r>
            <a:r>
              <a:rPr kumimoji="0" lang="en-US" altLang="en-US"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a:t>
            </a:r>
          </a:p>
        </p:txBody>
      </p:sp>
      <p:pic>
        <p:nvPicPr>
          <p:cNvPr id="5" name="Picture 4">
            <a:extLst>
              <a:ext uri="{FF2B5EF4-FFF2-40B4-BE49-F238E27FC236}">
                <a16:creationId xmlns:a16="http://schemas.microsoft.com/office/drawing/2014/main" id="{9B89ED06-6E72-0FCE-9775-152318B34262}"/>
              </a:ext>
            </a:extLst>
          </p:cNvPr>
          <p:cNvPicPr>
            <a:picLocks noChangeAspect="1"/>
          </p:cNvPicPr>
          <p:nvPr/>
        </p:nvPicPr>
        <p:blipFill>
          <a:blip r:embed="rId2"/>
          <a:stretch>
            <a:fillRect/>
          </a:stretch>
        </p:blipFill>
        <p:spPr>
          <a:xfrm>
            <a:off x="6927579" y="1503665"/>
            <a:ext cx="5264421" cy="558829"/>
          </a:xfrm>
          <a:prstGeom prst="rect">
            <a:avLst/>
          </a:prstGeom>
        </p:spPr>
      </p:pic>
      <p:pic>
        <p:nvPicPr>
          <p:cNvPr id="7" name="Picture 6">
            <a:extLst>
              <a:ext uri="{FF2B5EF4-FFF2-40B4-BE49-F238E27FC236}">
                <a16:creationId xmlns:a16="http://schemas.microsoft.com/office/drawing/2014/main" id="{6C1443C2-A843-FA2B-07D5-6A58E20CFAAC}"/>
              </a:ext>
            </a:extLst>
          </p:cNvPr>
          <p:cNvPicPr>
            <a:picLocks noChangeAspect="1"/>
          </p:cNvPicPr>
          <p:nvPr/>
        </p:nvPicPr>
        <p:blipFill>
          <a:blip r:embed="rId3"/>
          <a:stretch>
            <a:fillRect/>
          </a:stretch>
        </p:blipFill>
        <p:spPr>
          <a:xfrm>
            <a:off x="7599614" y="2560204"/>
            <a:ext cx="4023426" cy="1478609"/>
          </a:xfrm>
          <a:prstGeom prst="rect">
            <a:avLst/>
          </a:prstGeom>
        </p:spPr>
      </p:pic>
      <p:pic>
        <p:nvPicPr>
          <p:cNvPr id="9" name="Picture 8">
            <a:extLst>
              <a:ext uri="{FF2B5EF4-FFF2-40B4-BE49-F238E27FC236}">
                <a16:creationId xmlns:a16="http://schemas.microsoft.com/office/drawing/2014/main" id="{DF9C72A1-9A9A-20D5-0008-52AE67A6B6FE}"/>
              </a:ext>
            </a:extLst>
          </p:cNvPr>
          <p:cNvPicPr>
            <a:picLocks noChangeAspect="1"/>
          </p:cNvPicPr>
          <p:nvPr/>
        </p:nvPicPr>
        <p:blipFill>
          <a:blip r:embed="rId4"/>
          <a:stretch>
            <a:fillRect/>
          </a:stretch>
        </p:blipFill>
        <p:spPr>
          <a:xfrm>
            <a:off x="6739616" y="6278899"/>
            <a:ext cx="5340624" cy="438173"/>
          </a:xfrm>
          <a:prstGeom prst="rect">
            <a:avLst/>
          </a:prstGeom>
        </p:spPr>
      </p:pic>
    </p:spTree>
    <p:extLst>
      <p:ext uri="{BB962C8B-B14F-4D97-AF65-F5344CB8AC3E}">
        <p14:creationId xmlns:p14="http://schemas.microsoft.com/office/powerpoint/2010/main" val="1469850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3929</TotalTime>
  <Words>8609</Words>
  <Application>Microsoft Office PowerPoint</Application>
  <PresentationFormat>Widescreen</PresentationFormat>
  <Paragraphs>981</Paragraphs>
  <Slides>73</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73</vt:i4>
      </vt:variant>
    </vt:vector>
  </HeadingPairs>
  <TitlesOfParts>
    <vt:vector size="90" baseType="lpstr">
      <vt:lpstr>-apple-system</vt:lpstr>
      <vt:lpstr>Arial</vt:lpstr>
      <vt:lpstr>Arial Unicode MS</vt:lpstr>
      <vt:lpstr>Calibri</vt:lpstr>
      <vt:lpstr>Calibri Light</vt:lpstr>
      <vt:lpstr>Cascadia Code</vt:lpstr>
      <vt:lpstr>Courier New</vt:lpstr>
      <vt:lpstr>Inter</vt:lpstr>
      <vt:lpstr>inter-bold</vt:lpstr>
      <vt:lpstr>inter-regular</vt:lpstr>
      <vt:lpstr>Nunito</vt:lpstr>
      <vt:lpstr>sohne</vt:lpstr>
      <vt:lpstr>source-serif-pro</vt:lpstr>
      <vt:lpstr>Symbol</vt:lpstr>
      <vt:lpstr>Times New Roman</vt:lpstr>
      <vt:lpstr>Wingdings</vt:lpstr>
      <vt:lpstr>Office Theme</vt:lpstr>
      <vt:lpstr>Natural Language Processing Course code: CSE3015  Module 1 Introduction to NLP </vt:lpstr>
      <vt:lpstr>Syllabus</vt:lpstr>
      <vt:lpstr>Introduction</vt:lpstr>
      <vt:lpstr>PowerPoint Presentation</vt:lpstr>
      <vt:lpstr>PowerPoint Presentation</vt:lpstr>
      <vt:lpstr>Need of NLP</vt:lpstr>
      <vt:lpstr>Need of NLP/Application of NLP</vt:lpstr>
      <vt:lpstr>Need of NLP/Application of NLP</vt:lpstr>
      <vt:lpstr>NLP Pipeline</vt:lpstr>
      <vt:lpstr>NLP Pipeline</vt:lpstr>
      <vt:lpstr>NLP Pipeline</vt:lpstr>
      <vt:lpstr>NLP Pipeline</vt:lpstr>
      <vt:lpstr>NLP Pipeline</vt:lpstr>
      <vt:lpstr>Challenges in NLP</vt:lpstr>
      <vt:lpstr>Challenges in NLP</vt:lpstr>
      <vt:lpstr>Introduction to NLTK</vt:lpstr>
      <vt:lpstr>Preprocessing techniques</vt:lpstr>
      <vt:lpstr>Text Wrangling</vt:lpstr>
      <vt:lpstr>Text Wrangling/Text Cleaning Techniques</vt:lpstr>
      <vt:lpstr>sentence splitter</vt:lpstr>
      <vt:lpstr>Word Tokenization</vt:lpstr>
      <vt:lpstr>Stop word removal</vt:lpstr>
      <vt:lpstr>Stop word removal</vt:lpstr>
      <vt:lpstr>Stop word removal</vt:lpstr>
      <vt:lpstr>Rare word removal</vt:lpstr>
      <vt:lpstr>Rare word removal</vt:lpstr>
      <vt:lpstr>stemming</vt:lpstr>
      <vt:lpstr>Porter Stemmer Example</vt:lpstr>
      <vt:lpstr>Lancaster Stemmer Example</vt:lpstr>
      <vt:lpstr>Snowball Stemmer Example</vt:lpstr>
      <vt:lpstr>RegexpStemmer Stemmer Example</vt:lpstr>
      <vt:lpstr>lemmatization</vt:lpstr>
      <vt:lpstr>lemmatization</vt:lpstr>
      <vt:lpstr>spell correction using Edit distance method</vt:lpstr>
      <vt:lpstr>PowerPoint Presentation</vt:lpstr>
      <vt:lpstr>Punctuation, Special Characters, HTML Tags, stopword and numbers Removal and Lemmatization</vt:lpstr>
      <vt:lpstr>Text Representation in NLP</vt:lpstr>
      <vt:lpstr>Text Representation Techniques</vt:lpstr>
      <vt:lpstr>One Hot Encoding</vt:lpstr>
      <vt:lpstr>One Hot Encoding</vt:lpstr>
      <vt:lpstr>PowerPoint Presentation</vt:lpstr>
      <vt:lpstr>PowerPoint Presentation</vt:lpstr>
      <vt:lpstr>disadvantages</vt:lpstr>
      <vt:lpstr>Bag of Words (BoW)</vt:lpstr>
      <vt:lpstr>PowerPoint Presentation</vt:lpstr>
      <vt:lpstr>PowerPoint Presentation</vt:lpstr>
      <vt:lpstr>Limitations</vt:lpstr>
      <vt:lpstr>PowerPoint Presentation</vt:lpstr>
      <vt:lpstr>TF-IDF</vt:lpstr>
      <vt:lpstr>PowerPoint Presentation</vt:lpstr>
      <vt:lpstr>PowerPoint Presentation</vt:lpstr>
      <vt:lpstr>PowerPoint Presentation</vt:lpstr>
      <vt:lpstr>TF-IDF</vt:lpstr>
      <vt:lpstr>TF-IDF</vt:lpstr>
      <vt:lpstr>Word embeddings</vt:lpstr>
      <vt:lpstr>Word Embedding Techniques/models</vt:lpstr>
      <vt:lpstr>Word2Vec</vt:lpstr>
      <vt:lpstr>Word2Vec with CBOW </vt:lpstr>
      <vt:lpstr>PowerPoint Presentation</vt:lpstr>
      <vt:lpstr>PowerPoint Presentation</vt:lpstr>
      <vt:lpstr>Word2Vec with skip-gram</vt:lpstr>
      <vt:lpstr>PowerPoint Presentation</vt:lpstr>
      <vt:lpstr>Word2Vec Model </vt:lpstr>
      <vt:lpstr>Word2Vec Model Limitations</vt:lpstr>
      <vt:lpstr>GloVe Model </vt:lpstr>
      <vt:lpstr>GloVe Model </vt:lpstr>
      <vt:lpstr>GloVe Model </vt:lpstr>
      <vt:lpstr>Pre-trained GloVe Model </vt:lpstr>
      <vt:lpstr>Glove Model Limitations</vt:lpstr>
      <vt:lpstr>FastText</vt:lpstr>
      <vt:lpstr>How FastText vectorizes text</vt:lpstr>
      <vt:lpstr>Word2Vec Vs FastText</vt:lpstr>
      <vt:lpstr>FastText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dc:creator>
  <cp:lastModifiedBy>Venkata Rami Reddy Ch</cp:lastModifiedBy>
  <cp:revision>161</cp:revision>
  <dcterms:created xsi:type="dcterms:W3CDTF">2023-01-04T11:19:22Z</dcterms:created>
  <dcterms:modified xsi:type="dcterms:W3CDTF">2025-01-10T10:08:33Z</dcterms:modified>
</cp:coreProperties>
</file>