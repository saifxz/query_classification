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5" r:id="rId3"/>
    <p:sldId id="276" r:id="rId4"/>
    <p:sldId id="294" r:id="rId5"/>
    <p:sldId id="288" r:id="rId6"/>
    <p:sldId id="292" r:id="rId7"/>
    <p:sldId id="293" r:id="rId8"/>
    <p:sldId id="278" r:id="rId9"/>
    <p:sldId id="280" r:id="rId10"/>
    <p:sldId id="289" r:id="rId11"/>
    <p:sldId id="283" r:id="rId12"/>
    <p:sldId id="279" r:id="rId13"/>
    <p:sldId id="281" r:id="rId14"/>
    <p:sldId id="284" r:id="rId15"/>
    <p:sldId id="285" r:id="rId16"/>
    <p:sldId id="287" r:id="rId17"/>
    <p:sldId id="295" r:id="rId18"/>
    <p:sldId id="296" r:id="rId19"/>
    <p:sldId id="297" r:id="rId20"/>
    <p:sldId id="298" r:id="rId21"/>
    <p:sldId id="299" r:id="rId22"/>
    <p:sldId id="300" r:id="rId23"/>
    <p:sldId id="305" r:id="rId24"/>
    <p:sldId id="301" r:id="rId25"/>
    <p:sldId id="302" r:id="rId26"/>
    <p:sldId id="306" r:id="rId27"/>
    <p:sldId id="303" r:id="rId28"/>
    <p:sldId id="30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376"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61C13-A377-90A3-2320-89F7C8D713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860DF62-6CB4-4597-4E9F-221DE662F3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E6DFFFC-1750-42E8-00FA-52A6288F1058}"/>
              </a:ext>
            </a:extLst>
          </p:cNvPr>
          <p:cNvSpPr>
            <a:spLocks noGrp="1"/>
          </p:cNvSpPr>
          <p:nvPr>
            <p:ph type="dt" sz="half" idx="10"/>
          </p:nvPr>
        </p:nvSpPr>
        <p:spPr/>
        <p:txBody>
          <a:bodyPr/>
          <a:lstStyle/>
          <a:p>
            <a:fld id="{A0340BFE-B4C4-458C-A7C6-031E64A1B324}" type="datetimeFigureOut">
              <a:rPr lang="en-IN" smtClean="0"/>
              <a:t>15-04-2025</a:t>
            </a:fld>
            <a:endParaRPr lang="en-IN"/>
          </a:p>
        </p:txBody>
      </p:sp>
      <p:sp>
        <p:nvSpPr>
          <p:cNvPr id="5" name="Footer Placeholder 4">
            <a:extLst>
              <a:ext uri="{FF2B5EF4-FFF2-40B4-BE49-F238E27FC236}">
                <a16:creationId xmlns:a16="http://schemas.microsoft.com/office/drawing/2014/main" id="{C1176720-F6CF-2572-6CD0-300C46D9AA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DF0A3D-FB93-647B-075A-A4C1A78DFC92}"/>
              </a:ext>
            </a:extLst>
          </p:cNvPr>
          <p:cNvSpPr>
            <a:spLocks noGrp="1"/>
          </p:cNvSpPr>
          <p:nvPr>
            <p:ph type="sldNum" sz="quarter" idx="12"/>
          </p:nvPr>
        </p:nvSpPr>
        <p:spPr/>
        <p:txBody>
          <a:bodyPr/>
          <a:lstStyle/>
          <a:p>
            <a:fld id="{BCCE6355-6259-49ED-BF33-CC1693BD3D6D}" type="slidenum">
              <a:rPr lang="en-IN" smtClean="0"/>
              <a:t>‹#›</a:t>
            </a:fld>
            <a:endParaRPr lang="en-IN"/>
          </a:p>
        </p:txBody>
      </p:sp>
    </p:spTree>
    <p:extLst>
      <p:ext uri="{BB962C8B-B14F-4D97-AF65-F5344CB8AC3E}">
        <p14:creationId xmlns:p14="http://schemas.microsoft.com/office/powerpoint/2010/main" val="728607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AB703-F1D4-A8E4-FDF4-37D555D6CB7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4F38F12-43C3-9BA5-D2C6-6F1EC63079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2F34A1-88BE-1E99-B455-D52275DA66D4}"/>
              </a:ext>
            </a:extLst>
          </p:cNvPr>
          <p:cNvSpPr>
            <a:spLocks noGrp="1"/>
          </p:cNvSpPr>
          <p:nvPr>
            <p:ph type="dt" sz="half" idx="10"/>
          </p:nvPr>
        </p:nvSpPr>
        <p:spPr/>
        <p:txBody>
          <a:bodyPr/>
          <a:lstStyle/>
          <a:p>
            <a:fld id="{A0340BFE-B4C4-458C-A7C6-031E64A1B324}" type="datetimeFigureOut">
              <a:rPr lang="en-IN" smtClean="0"/>
              <a:t>15-04-2025</a:t>
            </a:fld>
            <a:endParaRPr lang="en-IN"/>
          </a:p>
        </p:txBody>
      </p:sp>
      <p:sp>
        <p:nvSpPr>
          <p:cNvPr id="5" name="Footer Placeholder 4">
            <a:extLst>
              <a:ext uri="{FF2B5EF4-FFF2-40B4-BE49-F238E27FC236}">
                <a16:creationId xmlns:a16="http://schemas.microsoft.com/office/drawing/2014/main" id="{F1AE74CC-A04F-FC7C-D397-112AB6D48C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E7F712-5563-E09C-86D7-04FE5F25951B}"/>
              </a:ext>
            </a:extLst>
          </p:cNvPr>
          <p:cNvSpPr>
            <a:spLocks noGrp="1"/>
          </p:cNvSpPr>
          <p:nvPr>
            <p:ph type="sldNum" sz="quarter" idx="12"/>
          </p:nvPr>
        </p:nvSpPr>
        <p:spPr/>
        <p:txBody>
          <a:bodyPr/>
          <a:lstStyle/>
          <a:p>
            <a:fld id="{BCCE6355-6259-49ED-BF33-CC1693BD3D6D}" type="slidenum">
              <a:rPr lang="en-IN" smtClean="0"/>
              <a:t>‹#›</a:t>
            </a:fld>
            <a:endParaRPr lang="en-IN"/>
          </a:p>
        </p:txBody>
      </p:sp>
    </p:spTree>
    <p:extLst>
      <p:ext uri="{BB962C8B-B14F-4D97-AF65-F5344CB8AC3E}">
        <p14:creationId xmlns:p14="http://schemas.microsoft.com/office/powerpoint/2010/main" val="4114939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E5595-D2A9-2D7E-6C7E-B21DDCB0F6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B5ECD6E-49A9-FA05-C980-B287EF6F086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A0A6F5-3C21-E368-DD72-BD750AA9883E}"/>
              </a:ext>
            </a:extLst>
          </p:cNvPr>
          <p:cNvSpPr>
            <a:spLocks noGrp="1"/>
          </p:cNvSpPr>
          <p:nvPr>
            <p:ph type="dt" sz="half" idx="10"/>
          </p:nvPr>
        </p:nvSpPr>
        <p:spPr/>
        <p:txBody>
          <a:bodyPr/>
          <a:lstStyle/>
          <a:p>
            <a:fld id="{A0340BFE-B4C4-458C-A7C6-031E64A1B324}" type="datetimeFigureOut">
              <a:rPr lang="en-IN" smtClean="0"/>
              <a:t>15-04-2025</a:t>
            </a:fld>
            <a:endParaRPr lang="en-IN"/>
          </a:p>
        </p:txBody>
      </p:sp>
      <p:sp>
        <p:nvSpPr>
          <p:cNvPr id="5" name="Footer Placeholder 4">
            <a:extLst>
              <a:ext uri="{FF2B5EF4-FFF2-40B4-BE49-F238E27FC236}">
                <a16:creationId xmlns:a16="http://schemas.microsoft.com/office/drawing/2014/main" id="{6EFB8511-3560-AE5B-9566-74A177826C6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110B44-CA15-FAC5-45E7-B77A944BE402}"/>
              </a:ext>
            </a:extLst>
          </p:cNvPr>
          <p:cNvSpPr>
            <a:spLocks noGrp="1"/>
          </p:cNvSpPr>
          <p:nvPr>
            <p:ph type="sldNum" sz="quarter" idx="12"/>
          </p:nvPr>
        </p:nvSpPr>
        <p:spPr/>
        <p:txBody>
          <a:bodyPr/>
          <a:lstStyle/>
          <a:p>
            <a:fld id="{BCCE6355-6259-49ED-BF33-CC1693BD3D6D}" type="slidenum">
              <a:rPr lang="en-IN" smtClean="0"/>
              <a:t>‹#›</a:t>
            </a:fld>
            <a:endParaRPr lang="en-IN"/>
          </a:p>
        </p:txBody>
      </p:sp>
    </p:spTree>
    <p:extLst>
      <p:ext uri="{BB962C8B-B14F-4D97-AF65-F5344CB8AC3E}">
        <p14:creationId xmlns:p14="http://schemas.microsoft.com/office/powerpoint/2010/main" val="4074229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68916-EAE6-3162-79D9-702CC7B27D6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E06562D-865E-07B2-A0EC-289ECADFB0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4E87C1C-F42A-F851-BC6E-CC3125F1E8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B46CCDC-4EBD-AEF0-CD5F-E8EEC2106861}"/>
              </a:ext>
            </a:extLst>
          </p:cNvPr>
          <p:cNvSpPr>
            <a:spLocks noGrp="1"/>
          </p:cNvSpPr>
          <p:nvPr>
            <p:ph type="dt" sz="half" idx="10"/>
          </p:nvPr>
        </p:nvSpPr>
        <p:spPr/>
        <p:txBody>
          <a:bodyPr/>
          <a:lstStyle/>
          <a:p>
            <a:fld id="{A0340BFE-B4C4-458C-A7C6-031E64A1B324}" type="datetimeFigureOut">
              <a:rPr lang="en-IN" smtClean="0"/>
              <a:t>15-04-2025</a:t>
            </a:fld>
            <a:endParaRPr lang="en-IN"/>
          </a:p>
        </p:txBody>
      </p:sp>
      <p:sp>
        <p:nvSpPr>
          <p:cNvPr id="6" name="Footer Placeholder 5">
            <a:extLst>
              <a:ext uri="{FF2B5EF4-FFF2-40B4-BE49-F238E27FC236}">
                <a16:creationId xmlns:a16="http://schemas.microsoft.com/office/drawing/2014/main" id="{65E4FF33-559E-9BD7-D6CA-71ACA8A43E4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3F0B83-1EB0-179A-AC82-BF8DE5C7E353}"/>
              </a:ext>
            </a:extLst>
          </p:cNvPr>
          <p:cNvSpPr>
            <a:spLocks noGrp="1"/>
          </p:cNvSpPr>
          <p:nvPr>
            <p:ph type="sldNum" sz="quarter" idx="12"/>
          </p:nvPr>
        </p:nvSpPr>
        <p:spPr/>
        <p:txBody>
          <a:bodyPr/>
          <a:lstStyle/>
          <a:p>
            <a:fld id="{BCCE6355-6259-49ED-BF33-CC1693BD3D6D}" type="slidenum">
              <a:rPr lang="en-IN" smtClean="0"/>
              <a:t>‹#›</a:t>
            </a:fld>
            <a:endParaRPr lang="en-IN"/>
          </a:p>
        </p:txBody>
      </p:sp>
    </p:spTree>
    <p:extLst>
      <p:ext uri="{BB962C8B-B14F-4D97-AF65-F5344CB8AC3E}">
        <p14:creationId xmlns:p14="http://schemas.microsoft.com/office/powerpoint/2010/main" val="1195470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04546-10AD-1EF4-4211-59CF6CA3813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8135495-E359-C657-1F42-80B34D15EC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95DBF4-5FE8-7794-F855-6D9BED101C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1BCC986-F371-FC72-3867-09D19B48589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3034DD-B961-4BDA-9D2A-AA8485C065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E7D9BEA-5DEB-F8C9-4F24-2F10E1A1099C}"/>
              </a:ext>
            </a:extLst>
          </p:cNvPr>
          <p:cNvSpPr>
            <a:spLocks noGrp="1"/>
          </p:cNvSpPr>
          <p:nvPr>
            <p:ph type="dt" sz="half" idx="10"/>
          </p:nvPr>
        </p:nvSpPr>
        <p:spPr/>
        <p:txBody>
          <a:bodyPr/>
          <a:lstStyle/>
          <a:p>
            <a:fld id="{A0340BFE-B4C4-458C-A7C6-031E64A1B324}" type="datetimeFigureOut">
              <a:rPr lang="en-IN" smtClean="0"/>
              <a:t>15-04-2025</a:t>
            </a:fld>
            <a:endParaRPr lang="en-IN"/>
          </a:p>
        </p:txBody>
      </p:sp>
      <p:sp>
        <p:nvSpPr>
          <p:cNvPr id="8" name="Footer Placeholder 7">
            <a:extLst>
              <a:ext uri="{FF2B5EF4-FFF2-40B4-BE49-F238E27FC236}">
                <a16:creationId xmlns:a16="http://schemas.microsoft.com/office/drawing/2014/main" id="{6D6A89F1-D900-94E7-4A95-070DCD8322D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D212CFF-251E-64A5-E494-07F7FAA7AFDE}"/>
              </a:ext>
            </a:extLst>
          </p:cNvPr>
          <p:cNvSpPr>
            <a:spLocks noGrp="1"/>
          </p:cNvSpPr>
          <p:nvPr>
            <p:ph type="sldNum" sz="quarter" idx="12"/>
          </p:nvPr>
        </p:nvSpPr>
        <p:spPr/>
        <p:txBody>
          <a:bodyPr/>
          <a:lstStyle/>
          <a:p>
            <a:fld id="{BCCE6355-6259-49ED-BF33-CC1693BD3D6D}" type="slidenum">
              <a:rPr lang="en-IN" smtClean="0"/>
              <a:t>‹#›</a:t>
            </a:fld>
            <a:endParaRPr lang="en-IN"/>
          </a:p>
        </p:txBody>
      </p:sp>
    </p:spTree>
    <p:extLst>
      <p:ext uri="{BB962C8B-B14F-4D97-AF65-F5344CB8AC3E}">
        <p14:creationId xmlns:p14="http://schemas.microsoft.com/office/powerpoint/2010/main" val="34265014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4B672-4947-E6CB-771F-87D43F4E023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D7727E6-9CEF-074A-8F70-08BBA05FEA4C}"/>
              </a:ext>
            </a:extLst>
          </p:cNvPr>
          <p:cNvSpPr>
            <a:spLocks noGrp="1"/>
          </p:cNvSpPr>
          <p:nvPr>
            <p:ph type="dt" sz="half" idx="10"/>
          </p:nvPr>
        </p:nvSpPr>
        <p:spPr/>
        <p:txBody>
          <a:bodyPr/>
          <a:lstStyle/>
          <a:p>
            <a:fld id="{A0340BFE-B4C4-458C-A7C6-031E64A1B324}" type="datetimeFigureOut">
              <a:rPr lang="en-IN" smtClean="0"/>
              <a:t>15-04-2025</a:t>
            </a:fld>
            <a:endParaRPr lang="en-IN"/>
          </a:p>
        </p:txBody>
      </p:sp>
      <p:sp>
        <p:nvSpPr>
          <p:cNvPr id="4" name="Footer Placeholder 3">
            <a:extLst>
              <a:ext uri="{FF2B5EF4-FFF2-40B4-BE49-F238E27FC236}">
                <a16:creationId xmlns:a16="http://schemas.microsoft.com/office/drawing/2014/main" id="{CA0F9EAC-8FCA-CD60-9915-006393013CF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67746DC-88C0-C311-1C30-9754D4CBEF04}"/>
              </a:ext>
            </a:extLst>
          </p:cNvPr>
          <p:cNvSpPr>
            <a:spLocks noGrp="1"/>
          </p:cNvSpPr>
          <p:nvPr>
            <p:ph type="sldNum" sz="quarter" idx="12"/>
          </p:nvPr>
        </p:nvSpPr>
        <p:spPr/>
        <p:txBody>
          <a:bodyPr/>
          <a:lstStyle/>
          <a:p>
            <a:fld id="{BCCE6355-6259-49ED-BF33-CC1693BD3D6D}" type="slidenum">
              <a:rPr lang="en-IN" smtClean="0"/>
              <a:t>‹#›</a:t>
            </a:fld>
            <a:endParaRPr lang="en-IN"/>
          </a:p>
        </p:txBody>
      </p:sp>
    </p:spTree>
    <p:extLst>
      <p:ext uri="{BB962C8B-B14F-4D97-AF65-F5344CB8AC3E}">
        <p14:creationId xmlns:p14="http://schemas.microsoft.com/office/powerpoint/2010/main" val="4022791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58DF2D-4965-A5BD-8157-6D76020A7B78}"/>
              </a:ext>
            </a:extLst>
          </p:cNvPr>
          <p:cNvSpPr>
            <a:spLocks noGrp="1"/>
          </p:cNvSpPr>
          <p:nvPr>
            <p:ph type="dt" sz="half" idx="10"/>
          </p:nvPr>
        </p:nvSpPr>
        <p:spPr/>
        <p:txBody>
          <a:bodyPr/>
          <a:lstStyle/>
          <a:p>
            <a:fld id="{A0340BFE-B4C4-458C-A7C6-031E64A1B324}" type="datetimeFigureOut">
              <a:rPr lang="en-IN" smtClean="0"/>
              <a:t>15-04-2025</a:t>
            </a:fld>
            <a:endParaRPr lang="en-IN"/>
          </a:p>
        </p:txBody>
      </p:sp>
      <p:sp>
        <p:nvSpPr>
          <p:cNvPr id="3" name="Footer Placeholder 2">
            <a:extLst>
              <a:ext uri="{FF2B5EF4-FFF2-40B4-BE49-F238E27FC236}">
                <a16:creationId xmlns:a16="http://schemas.microsoft.com/office/drawing/2014/main" id="{B8F170E6-D37C-9454-95BD-8B0535B9F68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D8523D4-02F6-FD06-19F1-45A6CF6DD60A}"/>
              </a:ext>
            </a:extLst>
          </p:cNvPr>
          <p:cNvSpPr>
            <a:spLocks noGrp="1"/>
          </p:cNvSpPr>
          <p:nvPr>
            <p:ph type="sldNum" sz="quarter" idx="12"/>
          </p:nvPr>
        </p:nvSpPr>
        <p:spPr/>
        <p:txBody>
          <a:bodyPr/>
          <a:lstStyle/>
          <a:p>
            <a:fld id="{BCCE6355-6259-49ED-BF33-CC1693BD3D6D}" type="slidenum">
              <a:rPr lang="en-IN" smtClean="0"/>
              <a:t>‹#›</a:t>
            </a:fld>
            <a:endParaRPr lang="en-IN"/>
          </a:p>
        </p:txBody>
      </p:sp>
    </p:spTree>
    <p:extLst>
      <p:ext uri="{BB962C8B-B14F-4D97-AF65-F5344CB8AC3E}">
        <p14:creationId xmlns:p14="http://schemas.microsoft.com/office/powerpoint/2010/main" val="730990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94CDD-0E58-B2EA-F668-59B9D6D8B6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9391441-2027-2E9E-7B8B-E7D46E6374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C2834F1-B22C-EDF9-2DC6-9B033A168A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625A7A-B1D2-193F-8672-992E6BBE16F5}"/>
              </a:ext>
            </a:extLst>
          </p:cNvPr>
          <p:cNvSpPr>
            <a:spLocks noGrp="1"/>
          </p:cNvSpPr>
          <p:nvPr>
            <p:ph type="dt" sz="half" idx="10"/>
          </p:nvPr>
        </p:nvSpPr>
        <p:spPr/>
        <p:txBody>
          <a:bodyPr/>
          <a:lstStyle/>
          <a:p>
            <a:fld id="{A0340BFE-B4C4-458C-A7C6-031E64A1B324}" type="datetimeFigureOut">
              <a:rPr lang="en-IN" smtClean="0"/>
              <a:t>15-04-2025</a:t>
            </a:fld>
            <a:endParaRPr lang="en-IN"/>
          </a:p>
        </p:txBody>
      </p:sp>
      <p:sp>
        <p:nvSpPr>
          <p:cNvPr id="6" name="Footer Placeholder 5">
            <a:extLst>
              <a:ext uri="{FF2B5EF4-FFF2-40B4-BE49-F238E27FC236}">
                <a16:creationId xmlns:a16="http://schemas.microsoft.com/office/drawing/2014/main" id="{3E7CE40D-4817-CC1E-CFAB-4C40DD4F5CF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C9C6CAE-9365-6569-93C8-C51F09A3C7C9}"/>
              </a:ext>
            </a:extLst>
          </p:cNvPr>
          <p:cNvSpPr>
            <a:spLocks noGrp="1"/>
          </p:cNvSpPr>
          <p:nvPr>
            <p:ph type="sldNum" sz="quarter" idx="12"/>
          </p:nvPr>
        </p:nvSpPr>
        <p:spPr/>
        <p:txBody>
          <a:bodyPr/>
          <a:lstStyle/>
          <a:p>
            <a:fld id="{BCCE6355-6259-49ED-BF33-CC1693BD3D6D}" type="slidenum">
              <a:rPr lang="en-IN" smtClean="0"/>
              <a:t>‹#›</a:t>
            </a:fld>
            <a:endParaRPr lang="en-IN"/>
          </a:p>
        </p:txBody>
      </p:sp>
    </p:spTree>
    <p:extLst>
      <p:ext uri="{BB962C8B-B14F-4D97-AF65-F5344CB8AC3E}">
        <p14:creationId xmlns:p14="http://schemas.microsoft.com/office/powerpoint/2010/main" val="3602905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14BC1-4B65-7557-125F-6EB7DF112A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57FB169-699C-6C6C-4B77-E2E0345C87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F08F7C-7A61-24F9-DC15-D924D47DAE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C56458-5489-D750-C4DD-3CA2D25818DC}"/>
              </a:ext>
            </a:extLst>
          </p:cNvPr>
          <p:cNvSpPr>
            <a:spLocks noGrp="1"/>
          </p:cNvSpPr>
          <p:nvPr>
            <p:ph type="dt" sz="half" idx="10"/>
          </p:nvPr>
        </p:nvSpPr>
        <p:spPr/>
        <p:txBody>
          <a:bodyPr/>
          <a:lstStyle/>
          <a:p>
            <a:fld id="{A0340BFE-B4C4-458C-A7C6-031E64A1B324}" type="datetimeFigureOut">
              <a:rPr lang="en-IN" smtClean="0"/>
              <a:t>15-04-2025</a:t>
            </a:fld>
            <a:endParaRPr lang="en-IN"/>
          </a:p>
        </p:txBody>
      </p:sp>
      <p:sp>
        <p:nvSpPr>
          <p:cNvPr id="6" name="Footer Placeholder 5">
            <a:extLst>
              <a:ext uri="{FF2B5EF4-FFF2-40B4-BE49-F238E27FC236}">
                <a16:creationId xmlns:a16="http://schemas.microsoft.com/office/drawing/2014/main" id="{2059B430-4ED2-6815-618A-EAF8F573F91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25B04A-B936-A2C1-88FD-3FC6730111F9}"/>
              </a:ext>
            </a:extLst>
          </p:cNvPr>
          <p:cNvSpPr>
            <a:spLocks noGrp="1"/>
          </p:cNvSpPr>
          <p:nvPr>
            <p:ph type="sldNum" sz="quarter" idx="12"/>
          </p:nvPr>
        </p:nvSpPr>
        <p:spPr/>
        <p:txBody>
          <a:bodyPr/>
          <a:lstStyle/>
          <a:p>
            <a:fld id="{BCCE6355-6259-49ED-BF33-CC1693BD3D6D}" type="slidenum">
              <a:rPr lang="en-IN" smtClean="0"/>
              <a:t>‹#›</a:t>
            </a:fld>
            <a:endParaRPr lang="en-IN"/>
          </a:p>
        </p:txBody>
      </p:sp>
    </p:spTree>
    <p:extLst>
      <p:ext uri="{BB962C8B-B14F-4D97-AF65-F5344CB8AC3E}">
        <p14:creationId xmlns:p14="http://schemas.microsoft.com/office/powerpoint/2010/main" val="2189101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FF52F-34F7-1F1C-C41E-47374617526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5DE473B-AB97-35A8-C0FF-92FE522D02A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F46299-6196-0005-85BD-3B68908DDDFA}"/>
              </a:ext>
            </a:extLst>
          </p:cNvPr>
          <p:cNvSpPr>
            <a:spLocks noGrp="1"/>
          </p:cNvSpPr>
          <p:nvPr>
            <p:ph type="dt" sz="half" idx="10"/>
          </p:nvPr>
        </p:nvSpPr>
        <p:spPr/>
        <p:txBody>
          <a:bodyPr/>
          <a:lstStyle/>
          <a:p>
            <a:fld id="{A0340BFE-B4C4-458C-A7C6-031E64A1B324}" type="datetimeFigureOut">
              <a:rPr lang="en-IN" smtClean="0"/>
              <a:t>15-04-2025</a:t>
            </a:fld>
            <a:endParaRPr lang="en-IN"/>
          </a:p>
        </p:txBody>
      </p:sp>
      <p:sp>
        <p:nvSpPr>
          <p:cNvPr id="5" name="Footer Placeholder 4">
            <a:extLst>
              <a:ext uri="{FF2B5EF4-FFF2-40B4-BE49-F238E27FC236}">
                <a16:creationId xmlns:a16="http://schemas.microsoft.com/office/drawing/2014/main" id="{53187DDF-87E6-435A-1ED8-D32A1C2541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2F85A8-FFE8-40A4-318F-1DDA0ACC6984}"/>
              </a:ext>
            </a:extLst>
          </p:cNvPr>
          <p:cNvSpPr>
            <a:spLocks noGrp="1"/>
          </p:cNvSpPr>
          <p:nvPr>
            <p:ph type="sldNum" sz="quarter" idx="12"/>
          </p:nvPr>
        </p:nvSpPr>
        <p:spPr/>
        <p:txBody>
          <a:bodyPr/>
          <a:lstStyle/>
          <a:p>
            <a:fld id="{BCCE6355-6259-49ED-BF33-CC1693BD3D6D}" type="slidenum">
              <a:rPr lang="en-IN" smtClean="0"/>
              <a:t>‹#›</a:t>
            </a:fld>
            <a:endParaRPr lang="en-IN"/>
          </a:p>
        </p:txBody>
      </p:sp>
    </p:spTree>
    <p:extLst>
      <p:ext uri="{BB962C8B-B14F-4D97-AF65-F5344CB8AC3E}">
        <p14:creationId xmlns:p14="http://schemas.microsoft.com/office/powerpoint/2010/main" val="3315958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898490-DDA0-7E9E-9B9C-4DCAF517287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035E27-FAD3-CD61-4FDA-BF783AA1BD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5BB6CA-5FEF-05EF-C31C-7DE05A2732E1}"/>
              </a:ext>
            </a:extLst>
          </p:cNvPr>
          <p:cNvSpPr>
            <a:spLocks noGrp="1"/>
          </p:cNvSpPr>
          <p:nvPr>
            <p:ph type="dt" sz="half" idx="10"/>
          </p:nvPr>
        </p:nvSpPr>
        <p:spPr/>
        <p:txBody>
          <a:bodyPr/>
          <a:lstStyle/>
          <a:p>
            <a:fld id="{A0340BFE-B4C4-458C-A7C6-031E64A1B324}" type="datetimeFigureOut">
              <a:rPr lang="en-IN" smtClean="0"/>
              <a:t>15-04-2025</a:t>
            </a:fld>
            <a:endParaRPr lang="en-IN"/>
          </a:p>
        </p:txBody>
      </p:sp>
      <p:sp>
        <p:nvSpPr>
          <p:cNvPr id="5" name="Footer Placeholder 4">
            <a:extLst>
              <a:ext uri="{FF2B5EF4-FFF2-40B4-BE49-F238E27FC236}">
                <a16:creationId xmlns:a16="http://schemas.microsoft.com/office/drawing/2014/main" id="{1A1F9093-DB82-E983-BF02-6D17C2BF71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391139-25AF-BD87-437D-2AF5B5F21404}"/>
              </a:ext>
            </a:extLst>
          </p:cNvPr>
          <p:cNvSpPr>
            <a:spLocks noGrp="1"/>
          </p:cNvSpPr>
          <p:nvPr>
            <p:ph type="sldNum" sz="quarter" idx="12"/>
          </p:nvPr>
        </p:nvSpPr>
        <p:spPr/>
        <p:txBody>
          <a:bodyPr/>
          <a:lstStyle/>
          <a:p>
            <a:fld id="{BCCE6355-6259-49ED-BF33-CC1693BD3D6D}" type="slidenum">
              <a:rPr lang="en-IN" smtClean="0"/>
              <a:t>‹#›</a:t>
            </a:fld>
            <a:endParaRPr lang="en-IN"/>
          </a:p>
        </p:txBody>
      </p:sp>
    </p:spTree>
    <p:extLst>
      <p:ext uri="{BB962C8B-B14F-4D97-AF65-F5344CB8AC3E}">
        <p14:creationId xmlns:p14="http://schemas.microsoft.com/office/powerpoint/2010/main" val="3047780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EEC3384-FE94-CD32-A8BE-FCBFE740C1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09DF1FC-3122-6281-3DBB-AE92722FFF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F1A4F3-E196-EC18-C160-8276845E7D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340BFE-B4C4-458C-A7C6-031E64A1B324}" type="datetimeFigureOut">
              <a:rPr lang="en-IN" smtClean="0"/>
              <a:t>15-04-2025</a:t>
            </a:fld>
            <a:endParaRPr lang="en-IN"/>
          </a:p>
        </p:txBody>
      </p:sp>
      <p:sp>
        <p:nvSpPr>
          <p:cNvPr id="5" name="Footer Placeholder 4">
            <a:extLst>
              <a:ext uri="{FF2B5EF4-FFF2-40B4-BE49-F238E27FC236}">
                <a16:creationId xmlns:a16="http://schemas.microsoft.com/office/drawing/2014/main" id="{D8D51301-DC83-8F81-D599-BA47BD6277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523CC46-B7C6-8A0A-6DD6-0750756021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CE6355-6259-49ED-BF33-CC1693BD3D6D}" type="slidenum">
              <a:rPr lang="en-IN" smtClean="0"/>
              <a:t>‹#›</a:t>
            </a:fld>
            <a:endParaRPr lang="en-IN"/>
          </a:p>
        </p:txBody>
      </p:sp>
    </p:spTree>
    <p:extLst>
      <p:ext uri="{BB962C8B-B14F-4D97-AF65-F5344CB8AC3E}">
        <p14:creationId xmlns:p14="http://schemas.microsoft.com/office/powerpoint/2010/main" val="12495327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www.promptcloud.com/web-scraping-service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promptcloud.com/blog/web-crawling-in-ecommerce-applications/" TargetMode="External"/><Relationship Id="rId2" Type="http://schemas.openxmlformats.org/officeDocument/2006/relationships/hyperlink" Target="https://www.promptcloud.com/media-monitoring-using-web-crawlin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techtarget.com/whatis/definition/DuckDuckGo"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docs.fastly.com/products/compliance-processes-and-safeguards?_gl=1*1nxt64b*_gcl_au*MjgwNjE1ODQzLjE3MjIzNzM1Nzg.*_ga*MTcyNjY1NjQ2NC4xNzIyMzczNTgw*_ga_ETDRC9QJ6S*MTcyOTE4NzQ1NS4yNC4xLjE3MjkxODgwNzEuNTkuMC4w"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en.wikipedia.org/wiki/Web_scraping" TargetMode="External"/><Relationship Id="rId2" Type="http://schemas.openxmlformats.org/officeDocument/2006/relationships/hyperlink" Target="https://en.wikipedia.org/wiki/Web_crawler" TargetMode="External"/><Relationship Id="rId1" Type="http://schemas.openxmlformats.org/officeDocument/2006/relationships/slideLayout" Target="../slideLayouts/slideLayout2.xml"/><Relationship Id="rId4" Type="http://schemas.openxmlformats.org/officeDocument/2006/relationships/hyperlink" Target="https://www.python.org/" TargetMode="Externa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docs.scrapy.org/en/latest/topics/architecture.html#component-engine" TargetMode="External"/><Relationship Id="rId7" Type="http://schemas.openxmlformats.org/officeDocument/2006/relationships/hyperlink" Target="https://docs.scrapy.org/en/latest/topics/architecture.html#component-pipelines" TargetMode="External"/><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hyperlink" Target="https://docs.scrapy.org/en/latest/topics/architecture.html#component-downloader" TargetMode="External"/><Relationship Id="rId5" Type="http://schemas.openxmlformats.org/officeDocument/2006/relationships/hyperlink" Target="https://docs.scrapy.org/en/latest/topics/architecture.html#component-scheduler" TargetMode="External"/><Relationship Id="rId4" Type="http://schemas.openxmlformats.org/officeDocument/2006/relationships/hyperlink" Target="https://docs.scrapy.org/en/latest/topics/architecture.html#component-spiders"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86088-E049-0AA3-7185-56A40D98D105}"/>
              </a:ext>
            </a:extLst>
          </p:cNvPr>
          <p:cNvSpPr>
            <a:spLocks noGrp="1"/>
          </p:cNvSpPr>
          <p:nvPr>
            <p:ph type="ctrTitle"/>
          </p:nvPr>
        </p:nvSpPr>
        <p:spPr>
          <a:xfrm>
            <a:off x="1524000" y="680720"/>
            <a:ext cx="9144000" cy="2829243"/>
          </a:xfrm>
        </p:spPr>
        <p:txBody>
          <a:bodyPr>
            <a:normAutofit fontScale="90000"/>
          </a:bodyPr>
          <a:lstStyle/>
          <a:p>
            <a:r>
              <a:rPr lang="en-IN" sz="4400" b="1" dirty="0">
                <a:solidFill>
                  <a:srgbClr val="000000"/>
                </a:solidFill>
                <a:effectLst/>
                <a:latin typeface="Times New Roman" panose="02020603050405020304" pitchFamily="18" charset="0"/>
                <a:ea typeface="Calibri" panose="020F0502020204030204" pitchFamily="34" charset="0"/>
              </a:rPr>
              <a:t>Natural Language Processing</a:t>
            </a:r>
            <a:br>
              <a:rPr lang="en-IN" sz="4400" b="1" dirty="0">
                <a:solidFill>
                  <a:srgbClr val="000000"/>
                </a:solidFill>
                <a:effectLst/>
                <a:latin typeface="Times New Roman" panose="02020603050405020304" pitchFamily="18" charset="0"/>
                <a:ea typeface="Calibri" panose="020F0502020204030204" pitchFamily="34" charset="0"/>
              </a:rPr>
            </a:br>
            <a:r>
              <a:rPr lang="en-IN" sz="4400" b="1" dirty="0">
                <a:solidFill>
                  <a:srgbClr val="000000"/>
                </a:solidFill>
                <a:effectLst/>
                <a:latin typeface="Times New Roman" panose="02020603050405020304" pitchFamily="18" charset="0"/>
                <a:ea typeface="Calibri" panose="020F0502020204030204" pitchFamily="34" charset="0"/>
              </a:rPr>
              <a:t>Course code: CSE3015</a:t>
            </a:r>
            <a:br>
              <a:rPr lang="en-IN" sz="4400" b="1" dirty="0">
                <a:solidFill>
                  <a:srgbClr val="000000"/>
                </a:solidFill>
                <a:effectLst/>
                <a:latin typeface="Times New Roman" panose="02020603050405020304" pitchFamily="18" charset="0"/>
                <a:ea typeface="Calibri" panose="020F0502020204030204" pitchFamily="34" charset="0"/>
              </a:rPr>
            </a:br>
            <a:r>
              <a:rPr lang="en-IN" sz="4400" b="1" dirty="0">
                <a:solidFill>
                  <a:srgbClr val="000000"/>
                </a:solidFill>
                <a:effectLst/>
                <a:latin typeface="Times New Roman" panose="02020603050405020304" pitchFamily="18" charset="0"/>
                <a:ea typeface="Calibri" panose="020F0502020204030204" pitchFamily="34" charset="0"/>
              </a:rPr>
              <a:t/>
            </a:r>
            <a:br>
              <a:rPr lang="en-IN" sz="4400" b="1" dirty="0">
                <a:solidFill>
                  <a:srgbClr val="000000"/>
                </a:solidFill>
                <a:effectLst/>
                <a:latin typeface="Times New Roman" panose="02020603050405020304" pitchFamily="18" charset="0"/>
                <a:ea typeface="Calibri" panose="020F0502020204030204" pitchFamily="34" charset="0"/>
              </a:rPr>
            </a:br>
            <a:r>
              <a:rPr lang="en-IN" sz="4400" b="1" dirty="0">
                <a:solidFill>
                  <a:srgbClr val="000000"/>
                </a:solidFill>
                <a:effectLst/>
                <a:latin typeface="Times New Roman" panose="02020603050405020304" pitchFamily="18" charset="0"/>
                <a:ea typeface="Calibri" panose="020F0502020204030204" pitchFamily="34" charset="0"/>
              </a:rPr>
              <a:t>Module 5</a:t>
            </a:r>
            <a:br>
              <a:rPr lang="en-IN" sz="4400" b="1" dirty="0">
                <a:solidFill>
                  <a:srgbClr val="000000"/>
                </a:solidFill>
                <a:effectLst/>
                <a:latin typeface="Times New Roman" panose="02020603050405020304" pitchFamily="18" charset="0"/>
                <a:ea typeface="Calibri" panose="020F0502020204030204" pitchFamily="34" charset="0"/>
              </a:rPr>
            </a:br>
            <a:r>
              <a:rPr lang="en-IN" sz="3600" b="1" dirty="0">
                <a:solidFill>
                  <a:srgbClr val="0070C0"/>
                </a:solidFill>
                <a:effectLst/>
                <a:latin typeface="Times New Roman" panose="02020603050405020304" pitchFamily="18" charset="0"/>
                <a:ea typeface="Calibri" panose="020F0502020204030204" pitchFamily="34" charset="0"/>
              </a:rPr>
              <a:t>Web Crawling and Social Media Mining</a:t>
            </a:r>
            <a:endParaRPr lang="en-IN" sz="3600" dirty="0">
              <a:solidFill>
                <a:srgbClr val="0070C0"/>
              </a:solidFill>
            </a:endParaRPr>
          </a:p>
        </p:txBody>
      </p:sp>
      <p:sp>
        <p:nvSpPr>
          <p:cNvPr id="3" name="Subtitle 2">
            <a:extLst>
              <a:ext uri="{FF2B5EF4-FFF2-40B4-BE49-F238E27FC236}">
                <a16:creationId xmlns:a16="http://schemas.microsoft.com/office/drawing/2014/main" id="{F9155CBB-E2D6-145E-4CAB-EDA263B81B3C}"/>
              </a:ext>
            </a:extLst>
          </p:cNvPr>
          <p:cNvSpPr>
            <a:spLocks noGrp="1"/>
          </p:cNvSpPr>
          <p:nvPr>
            <p:ph type="subTitle" idx="1"/>
          </p:nvPr>
        </p:nvSpPr>
        <p:spPr>
          <a:xfrm>
            <a:off x="5577840" y="4521518"/>
            <a:ext cx="6492240" cy="1655762"/>
          </a:xfrm>
        </p:spPr>
        <p:txBody>
          <a:bodyPr>
            <a:normAutofit/>
          </a:bodyPr>
          <a:lstStyle/>
          <a:p>
            <a:endParaRPr lang="en-IN" b="1" dirty="0"/>
          </a:p>
        </p:txBody>
      </p:sp>
    </p:spTree>
    <p:extLst>
      <p:ext uri="{BB962C8B-B14F-4D97-AF65-F5344CB8AC3E}">
        <p14:creationId xmlns:p14="http://schemas.microsoft.com/office/powerpoint/2010/main" val="3253524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28243-2929-F3A7-ED86-669632DF1932}"/>
              </a:ext>
            </a:extLst>
          </p:cNvPr>
          <p:cNvSpPr>
            <a:spLocks noGrp="1"/>
          </p:cNvSpPr>
          <p:nvPr>
            <p:ph type="title"/>
          </p:nvPr>
        </p:nvSpPr>
        <p:spPr>
          <a:xfrm>
            <a:off x="838200" y="71121"/>
            <a:ext cx="10515600" cy="691515"/>
          </a:xfrm>
        </p:spPr>
        <p:txBody>
          <a:bodyPr>
            <a:normAutofit fontScale="90000"/>
          </a:bodyPr>
          <a:lstStyle/>
          <a:p>
            <a:r>
              <a:rPr lang="en-IN" b="1" dirty="0">
                <a:solidFill>
                  <a:srgbClr val="0070C0"/>
                </a:solidFill>
              </a:rPr>
              <a:t>Syllabus</a:t>
            </a:r>
          </a:p>
        </p:txBody>
      </p:sp>
      <p:sp>
        <p:nvSpPr>
          <p:cNvPr id="3" name="Content Placeholder 2">
            <a:extLst>
              <a:ext uri="{FF2B5EF4-FFF2-40B4-BE49-F238E27FC236}">
                <a16:creationId xmlns:a16="http://schemas.microsoft.com/office/drawing/2014/main" id="{3E797254-9563-06C9-4870-D09489130C32}"/>
              </a:ext>
            </a:extLst>
          </p:cNvPr>
          <p:cNvSpPr>
            <a:spLocks noGrp="1"/>
          </p:cNvSpPr>
          <p:nvPr>
            <p:ph idx="1"/>
          </p:nvPr>
        </p:nvSpPr>
        <p:spPr>
          <a:xfrm>
            <a:off x="358140" y="846772"/>
            <a:ext cx="11475720" cy="5787707"/>
          </a:xfrm>
        </p:spPr>
        <p:txBody>
          <a:bodyPr>
            <a:noAutofit/>
          </a:bodyPr>
          <a:lstStyle/>
          <a:p>
            <a:pPr>
              <a:lnSpc>
                <a:spcPct val="100000"/>
              </a:lnSpc>
              <a:spcBef>
                <a:spcPts val="0"/>
              </a:spcBef>
              <a:spcAft>
                <a:spcPts val="600"/>
              </a:spcAft>
            </a:pPr>
            <a:r>
              <a:rPr lang="en-IN" sz="2400" dirty="0">
                <a:effectLst/>
                <a:latin typeface="Times New Roman" panose="02020603050405020304" pitchFamily="18" charset="0"/>
                <a:ea typeface="Calibri" panose="020F0502020204030204" pitchFamily="34" charset="0"/>
              </a:rPr>
              <a:t>Web crawler </a:t>
            </a:r>
          </a:p>
          <a:p>
            <a:pPr lvl="1">
              <a:lnSpc>
                <a:spcPct val="100000"/>
              </a:lnSpc>
              <a:spcBef>
                <a:spcPts val="0"/>
              </a:spcBef>
              <a:spcAft>
                <a:spcPts val="600"/>
              </a:spcAft>
            </a:pPr>
            <a:r>
              <a:rPr lang="en-IN" dirty="0">
                <a:effectLst/>
                <a:latin typeface="Times New Roman" panose="02020603050405020304" pitchFamily="18" charset="0"/>
                <a:ea typeface="Calibri" panose="020F0502020204030204" pitchFamily="34" charset="0"/>
              </a:rPr>
              <a:t>Writing first crawler</a:t>
            </a:r>
          </a:p>
          <a:p>
            <a:pPr>
              <a:lnSpc>
                <a:spcPct val="100000"/>
              </a:lnSpc>
              <a:spcBef>
                <a:spcPts val="0"/>
              </a:spcBef>
              <a:spcAft>
                <a:spcPts val="600"/>
              </a:spcAft>
            </a:pPr>
            <a:r>
              <a:rPr lang="en-IN" sz="2400" dirty="0">
                <a:effectLst/>
                <a:latin typeface="Times New Roman" panose="02020603050405020304" pitchFamily="18" charset="0"/>
                <a:ea typeface="Calibri" panose="020F0502020204030204" pitchFamily="34" charset="0"/>
              </a:rPr>
              <a:t>Data flow in Scrapy</a:t>
            </a:r>
          </a:p>
          <a:p>
            <a:pPr>
              <a:lnSpc>
                <a:spcPct val="100000"/>
              </a:lnSpc>
              <a:spcBef>
                <a:spcPts val="0"/>
              </a:spcBef>
              <a:spcAft>
                <a:spcPts val="600"/>
              </a:spcAft>
            </a:pPr>
            <a:r>
              <a:rPr lang="en-IN" sz="2400" dirty="0">
                <a:effectLst/>
                <a:latin typeface="Times New Roman" panose="02020603050405020304" pitchFamily="18" charset="0"/>
                <a:ea typeface="Calibri" panose="020F0502020204030204" pitchFamily="34" charset="0"/>
              </a:rPr>
              <a:t>Scrapy shell.</a:t>
            </a:r>
          </a:p>
          <a:p>
            <a:pPr>
              <a:lnSpc>
                <a:spcPct val="100000"/>
              </a:lnSpc>
              <a:spcBef>
                <a:spcPts val="0"/>
              </a:spcBef>
              <a:spcAft>
                <a:spcPts val="600"/>
              </a:spcAft>
            </a:pPr>
            <a:r>
              <a:rPr lang="en-IN" sz="2400" dirty="0">
                <a:effectLst/>
                <a:latin typeface="Times New Roman" panose="02020603050405020304" pitchFamily="18" charset="0"/>
                <a:ea typeface="Calibri" panose="020F0502020204030204" pitchFamily="34" charset="0"/>
              </a:rPr>
              <a:t> Social Media Mining</a:t>
            </a:r>
          </a:p>
          <a:p>
            <a:pPr lvl="1">
              <a:lnSpc>
                <a:spcPct val="100000"/>
              </a:lnSpc>
              <a:spcBef>
                <a:spcPts val="0"/>
              </a:spcBef>
              <a:spcAft>
                <a:spcPts val="600"/>
              </a:spcAft>
            </a:pPr>
            <a:r>
              <a:rPr lang="en-IN" dirty="0">
                <a:effectLst/>
                <a:latin typeface="Times New Roman" panose="02020603050405020304" pitchFamily="18" charset="0"/>
                <a:ea typeface="Calibri" panose="020F0502020204030204" pitchFamily="34" charset="0"/>
              </a:rPr>
              <a:t>Data Collections</a:t>
            </a:r>
          </a:p>
          <a:p>
            <a:pPr lvl="1">
              <a:lnSpc>
                <a:spcPct val="100000"/>
              </a:lnSpc>
              <a:spcBef>
                <a:spcPts val="0"/>
              </a:spcBef>
              <a:spcAft>
                <a:spcPts val="600"/>
              </a:spcAft>
            </a:pPr>
            <a:r>
              <a:rPr lang="en-IN" dirty="0">
                <a:effectLst/>
                <a:latin typeface="Times New Roman" panose="02020603050405020304" pitchFamily="18" charset="0"/>
                <a:ea typeface="Calibri" panose="020F0502020204030204" pitchFamily="34" charset="0"/>
              </a:rPr>
              <a:t>Data Extraction</a:t>
            </a:r>
          </a:p>
          <a:p>
            <a:pPr lvl="1">
              <a:lnSpc>
                <a:spcPct val="100000"/>
              </a:lnSpc>
              <a:spcBef>
                <a:spcPts val="0"/>
              </a:spcBef>
              <a:spcAft>
                <a:spcPts val="600"/>
              </a:spcAft>
            </a:pPr>
            <a:r>
              <a:rPr lang="en-IN" dirty="0">
                <a:effectLst/>
                <a:latin typeface="Times New Roman" panose="02020603050405020304" pitchFamily="18" charset="0"/>
                <a:ea typeface="Calibri" panose="020F0502020204030204" pitchFamily="34" charset="0"/>
              </a:rPr>
              <a:t> Geo visualization.</a:t>
            </a:r>
            <a:endParaRPr lang="en-IN" dirty="0"/>
          </a:p>
        </p:txBody>
      </p:sp>
    </p:spTree>
    <p:extLst>
      <p:ext uri="{BB962C8B-B14F-4D97-AF65-F5344CB8AC3E}">
        <p14:creationId xmlns:p14="http://schemas.microsoft.com/office/powerpoint/2010/main" val="1499637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89101-55DC-9E81-DE7F-B05076B802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40694F-2FEF-095F-4A98-6352858F1897}"/>
              </a:ext>
            </a:extLst>
          </p:cNvPr>
          <p:cNvSpPr>
            <a:spLocks noGrp="1"/>
          </p:cNvSpPr>
          <p:nvPr>
            <p:ph type="title"/>
          </p:nvPr>
        </p:nvSpPr>
        <p:spPr>
          <a:xfrm>
            <a:off x="838200" y="0"/>
            <a:ext cx="10515600" cy="609600"/>
          </a:xfrm>
        </p:spPr>
        <p:txBody>
          <a:bodyPr>
            <a:noAutofit/>
          </a:bodyPr>
          <a:lstStyle/>
          <a:p>
            <a:pPr algn="ctr"/>
            <a:r>
              <a:rPr lang="en-US" sz="4400" dirty="0">
                <a:solidFill>
                  <a:srgbClr val="0070C0"/>
                </a:solidFill>
              </a:rPr>
              <a:t>search engine</a:t>
            </a:r>
            <a:endParaRPr lang="en-IN" dirty="0">
              <a:solidFill>
                <a:srgbClr val="0070C0"/>
              </a:solidFill>
              <a:latin typeface="+mn-lt"/>
            </a:endParaRPr>
          </a:p>
        </p:txBody>
      </p:sp>
      <p:sp>
        <p:nvSpPr>
          <p:cNvPr id="3" name="Content Placeholder 2">
            <a:extLst>
              <a:ext uri="{FF2B5EF4-FFF2-40B4-BE49-F238E27FC236}">
                <a16:creationId xmlns:a16="http://schemas.microsoft.com/office/drawing/2014/main" id="{F692A2CF-D893-8BA5-7973-C7B0D3CD3F79}"/>
              </a:ext>
            </a:extLst>
          </p:cNvPr>
          <p:cNvSpPr>
            <a:spLocks noGrp="1"/>
          </p:cNvSpPr>
          <p:nvPr>
            <p:ph idx="1"/>
          </p:nvPr>
        </p:nvSpPr>
        <p:spPr>
          <a:xfrm>
            <a:off x="132079" y="843280"/>
            <a:ext cx="6705535" cy="5933440"/>
          </a:xfrm>
        </p:spPr>
        <p:txBody>
          <a:bodyPr>
            <a:noAutofit/>
          </a:bodyPr>
          <a:lstStyle/>
          <a:p>
            <a:pPr algn="just">
              <a:lnSpc>
                <a:spcPct val="100000"/>
              </a:lnSpc>
              <a:spcBef>
                <a:spcPts val="200"/>
              </a:spcBef>
              <a:spcAft>
                <a:spcPts val="200"/>
              </a:spcAft>
            </a:pPr>
            <a:r>
              <a:rPr lang="en-US" sz="2400" dirty="0"/>
              <a:t>A </a:t>
            </a:r>
            <a:r>
              <a:rPr lang="en-US" sz="2400" b="1" dirty="0"/>
              <a:t>search engine</a:t>
            </a:r>
            <a:r>
              <a:rPr lang="en-US" sz="2400" dirty="0"/>
              <a:t> is a software system that helps users </a:t>
            </a:r>
            <a:r>
              <a:rPr lang="en-US" sz="2400" b="1" dirty="0"/>
              <a:t>find information</a:t>
            </a:r>
            <a:r>
              <a:rPr lang="en-US" sz="2400" dirty="0"/>
              <a:t> on the internet by </a:t>
            </a:r>
            <a:r>
              <a:rPr lang="en-US" sz="2400" b="1" dirty="0"/>
              <a:t>searching</a:t>
            </a:r>
            <a:r>
              <a:rPr lang="en-US" sz="2400" dirty="0"/>
              <a:t> through indexed content and returning </a:t>
            </a:r>
            <a:r>
              <a:rPr lang="en-US" sz="2400" b="1" dirty="0"/>
              <a:t>relevant results</a:t>
            </a:r>
            <a:r>
              <a:rPr lang="en-US" sz="2400" dirty="0"/>
              <a:t>.</a:t>
            </a:r>
          </a:p>
          <a:p>
            <a:pPr algn="just">
              <a:lnSpc>
                <a:spcPct val="100000"/>
              </a:lnSpc>
              <a:spcBef>
                <a:spcPts val="200"/>
              </a:spcBef>
              <a:spcAft>
                <a:spcPts val="200"/>
              </a:spcAft>
            </a:pPr>
            <a:r>
              <a:rPr lang="en-US" sz="2400" dirty="0"/>
              <a:t>A </a:t>
            </a:r>
            <a:r>
              <a:rPr lang="en-US" sz="2400" b="1" dirty="0"/>
              <a:t>search engine</a:t>
            </a:r>
            <a:r>
              <a:rPr lang="en-US" sz="2400" dirty="0"/>
              <a:t> takes a query (what you type), </a:t>
            </a:r>
            <a:r>
              <a:rPr lang="en-US" sz="2400" b="1" dirty="0"/>
              <a:t>searches its index</a:t>
            </a:r>
            <a:r>
              <a:rPr lang="en-US" sz="2400" dirty="0"/>
              <a:t>, and shows the </a:t>
            </a:r>
            <a:r>
              <a:rPr lang="en-US" sz="2400" b="1" dirty="0"/>
              <a:t>most relevant web pages</a:t>
            </a:r>
            <a:r>
              <a:rPr lang="en-US" sz="2400" dirty="0"/>
              <a:t> (or documents).</a:t>
            </a:r>
          </a:p>
          <a:p>
            <a:pPr>
              <a:spcBef>
                <a:spcPts val="200"/>
              </a:spcBef>
              <a:spcAft>
                <a:spcPts val="200"/>
              </a:spcAft>
              <a:buNone/>
            </a:pPr>
            <a:r>
              <a:rPr lang="en-US" sz="2400" b="1" dirty="0">
                <a:solidFill>
                  <a:srgbClr val="FF0000"/>
                </a:solidFill>
              </a:rPr>
              <a:t>How It Works:</a:t>
            </a:r>
          </a:p>
          <a:p>
            <a:pPr>
              <a:spcBef>
                <a:spcPts val="200"/>
              </a:spcBef>
              <a:spcAft>
                <a:spcPts val="200"/>
              </a:spcAft>
              <a:buFont typeface="+mj-lt"/>
              <a:buAutoNum type="arabicPeriod"/>
            </a:pPr>
            <a:r>
              <a:rPr lang="en-US" sz="2400" b="1" dirty="0"/>
              <a:t>Crawling</a:t>
            </a:r>
            <a:r>
              <a:rPr lang="en-US" sz="2400" dirty="0"/>
              <a:t> – Collects web pages.</a:t>
            </a:r>
          </a:p>
          <a:p>
            <a:pPr>
              <a:spcBef>
                <a:spcPts val="200"/>
              </a:spcBef>
              <a:spcAft>
                <a:spcPts val="200"/>
              </a:spcAft>
              <a:buFont typeface="+mj-lt"/>
              <a:buAutoNum type="arabicPeriod"/>
            </a:pPr>
            <a:r>
              <a:rPr lang="en-US" sz="2400" b="1" dirty="0"/>
              <a:t>Indexing</a:t>
            </a:r>
            <a:r>
              <a:rPr lang="en-US" sz="2400" dirty="0"/>
              <a:t> – Organizes and stores content.</a:t>
            </a:r>
          </a:p>
          <a:p>
            <a:pPr>
              <a:spcBef>
                <a:spcPts val="200"/>
              </a:spcBef>
              <a:spcAft>
                <a:spcPts val="200"/>
              </a:spcAft>
              <a:buFont typeface="+mj-lt"/>
              <a:buAutoNum type="arabicPeriod"/>
            </a:pPr>
            <a:r>
              <a:rPr lang="en-US" sz="2400" b="1" dirty="0"/>
              <a:t>Searching</a:t>
            </a:r>
            <a:r>
              <a:rPr lang="en-US" sz="2400" dirty="0"/>
              <a:t> – Matches your query to relevant pages.</a:t>
            </a:r>
          </a:p>
          <a:p>
            <a:pPr>
              <a:spcBef>
                <a:spcPts val="200"/>
              </a:spcBef>
              <a:spcAft>
                <a:spcPts val="200"/>
              </a:spcAft>
              <a:buFont typeface="+mj-lt"/>
              <a:buAutoNum type="arabicPeriod"/>
            </a:pPr>
            <a:r>
              <a:rPr lang="en-US" sz="2400" b="1" dirty="0"/>
              <a:t>Ranking</a:t>
            </a:r>
            <a:r>
              <a:rPr lang="en-US" sz="2400" dirty="0"/>
              <a:t> – Sorts results based on relevance and quality.</a:t>
            </a:r>
          </a:p>
          <a:p>
            <a:pPr>
              <a:spcBef>
                <a:spcPts val="200"/>
              </a:spcBef>
              <a:spcAft>
                <a:spcPts val="200"/>
              </a:spcAft>
              <a:buFont typeface="+mj-lt"/>
              <a:buAutoNum type="arabicPeriod"/>
            </a:pPr>
            <a:r>
              <a:rPr lang="en-US" sz="2400" b="1" dirty="0"/>
              <a:t>Displaying</a:t>
            </a:r>
            <a:r>
              <a:rPr lang="en-US" sz="2400" dirty="0"/>
              <a:t> – Shows you results with snippets, titles, links, etc.</a:t>
            </a:r>
          </a:p>
          <a:p>
            <a:pPr algn="just">
              <a:lnSpc>
                <a:spcPct val="100000"/>
              </a:lnSpc>
              <a:spcBef>
                <a:spcPts val="200"/>
              </a:spcBef>
              <a:spcAft>
                <a:spcPts val="200"/>
              </a:spcAft>
            </a:pPr>
            <a:endParaRPr lang="en-US" sz="2400" dirty="0"/>
          </a:p>
        </p:txBody>
      </p:sp>
      <p:pic>
        <p:nvPicPr>
          <p:cNvPr id="4" name="Picture 3">
            <a:extLst>
              <a:ext uri="{FF2B5EF4-FFF2-40B4-BE49-F238E27FC236}">
                <a16:creationId xmlns:a16="http://schemas.microsoft.com/office/drawing/2014/main" id="{3B0D293B-0166-5400-7D29-1DC840477B10}"/>
              </a:ext>
            </a:extLst>
          </p:cNvPr>
          <p:cNvPicPr>
            <a:picLocks noChangeAspect="1"/>
          </p:cNvPicPr>
          <p:nvPr/>
        </p:nvPicPr>
        <p:blipFill>
          <a:blip r:embed="rId2"/>
          <a:stretch>
            <a:fillRect/>
          </a:stretch>
        </p:blipFill>
        <p:spPr>
          <a:xfrm>
            <a:off x="6837615" y="1076960"/>
            <a:ext cx="5371050" cy="5699760"/>
          </a:xfrm>
          <a:prstGeom prst="rect">
            <a:avLst/>
          </a:prstGeom>
        </p:spPr>
      </p:pic>
    </p:spTree>
    <p:extLst>
      <p:ext uri="{BB962C8B-B14F-4D97-AF65-F5344CB8AC3E}">
        <p14:creationId xmlns:p14="http://schemas.microsoft.com/office/powerpoint/2010/main" val="1278595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B13E7-564F-51DB-1F39-D5B699BD8B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CB1EC7-A312-0C61-3D00-D047BBCCC12E}"/>
              </a:ext>
            </a:extLst>
          </p:cNvPr>
          <p:cNvSpPr>
            <a:spLocks noGrp="1"/>
          </p:cNvSpPr>
          <p:nvPr>
            <p:ph type="title"/>
          </p:nvPr>
        </p:nvSpPr>
        <p:spPr>
          <a:xfrm>
            <a:off x="838200" y="0"/>
            <a:ext cx="10515600" cy="609600"/>
          </a:xfrm>
        </p:spPr>
        <p:txBody>
          <a:bodyPr>
            <a:noAutofit/>
          </a:bodyPr>
          <a:lstStyle/>
          <a:p>
            <a:pPr algn="ctr"/>
            <a:r>
              <a:rPr lang="en-US" i="0" dirty="0">
                <a:solidFill>
                  <a:srgbClr val="0070C0"/>
                </a:solidFill>
                <a:effectLst/>
                <a:latin typeface="+mn-lt"/>
              </a:rPr>
              <a:t>web crawler</a:t>
            </a:r>
            <a:endParaRPr lang="en-IN" dirty="0">
              <a:solidFill>
                <a:srgbClr val="0070C0"/>
              </a:solidFill>
              <a:latin typeface="+mn-lt"/>
            </a:endParaRPr>
          </a:p>
        </p:txBody>
      </p:sp>
      <p:sp>
        <p:nvSpPr>
          <p:cNvPr id="3" name="Content Placeholder 2">
            <a:extLst>
              <a:ext uri="{FF2B5EF4-FFF2-40B4-BE49-F238E27FC236}">
                <a16:creationId xmlns:a16="http://schemas.microsoft.com/office/drawing/2014/main" id="{FEF04ABA-4852-581D-E29E-4ED33951714D}"/>
              </a:ext>
            </a:extLst>
          </p:cNvPr>
          <p:cNvSpPr>
            <a:spLocks noGrp="1"/>
          </p:cNvSpPr>
          <p:nvPr>
            <p:ph idx="1"/>
          </p:nvPr>
        </p:nvSpPr>
        <p:spPr>
          <a:xfrm>
            <a:off x="132080" y="802640"/>
            <a:ext cx="11907520" cy="5974080"/>
          </a:xfrm>
        </p:spPr>
        <p:txBody>
          <a:bodyPr>
            <a:noAutofit/>
          </a:bodyPr>
          <a:lstStyle/>
          <a:p>
            <a:pPr algn="just">
              <a:lnSpc>
                <a:spcPct val="100000"/>
              </a:lnSpc>
              <a:spcBef>
                <a:spcPts val="600"/>
              </a:spcBef>
              <a:spcAft>
                <a:spcPts val="600"/>
              </a:spcAft>
            </a:pPr>
            <a:r>
              <a:rPr lang="en-US" sz="2400" dirty="0"/>
              <a:t>A </a:t>
            </a:r>
            <a:r>
              <a:rPr lang="en-US" sz="2400" b="1" dirty="0"/>
              <a:t>web crawler</a:t>
            </a:r>
            <a:r>
              <a:rPr lang="en-US" sz="2400" dirty="0"/>
              <a:t> also known as a </a:t>
            </a:r>
            <a:r>
              <a:rPr lang="en-US" sz="2400" b="1" dirty="0"/>
              <a:t>spider</a:t>
            </a:r>
            <a:r>
              <a:rPr lang="en-US" sz="2400" dirty="0"/>
              <a:t> or </a:t>
            </a:r>
            <a:r>
              <a:rPr lang="en-US" sz="2400" b="1" dirty="0"/>
              <a:t>bot</a:t>
            </a:r>
            <a:r>
              <a:rPr lang="en-US" sz="2400" dirty="0"/>
              <a:t> is a program that automatically browses the web, discovers new or updated web pages(links), and collects data from them.</a:t>
            </a:r>
            <a:endParaRPr lang="en-US" sz="2400" b="0" i="0" dirty="0">
              <a:solidFill>
                <a:srgbClr val="272727"/>
              </a:solidFill>
              <a:effectLst/>
            </a:endParaRPr>
          </a:p>
          <a:p>
            <a:pPr algn="just">
              <a:lnSpc>
                <a:spcPct val="100000"/>
              </a:lnSpc>
              <a:spcBef>
                <a:spcPts val="600"/>
              </a:spcBef>
              <a:spcAft>
                <a:spcPts val="600"/>
              </a:spcAft>
            </a:pPr>
            <a:r>
              <a:rPr lang="en-US" sz="2400" b="0" i="0" dirty="0">
                <a:effectLst/>
              </a:rPr>
              <a:t>A </a:t>
            </a:r>
            <a:r>
              <a:rPr lang="en-US" sz="2400" b="1" i="0" dirty="0">
                <a:effectLst/>
              </a:rPr>
              <a:t>web crawler</a:t>
            </a:r>
            <a:r>
              <a:rPr lang="en-US" sz="2400" dirty="0"/>
              <a:t> </a:t>
            </a:r>
            <a:r>
              <a:rPr lang="en-US" sz="2400" b="0" i="0" dirty="0">
                <a:effectLst/>
              </a:rPr>
              <a:t>is a digital bot that crawls the World Wide Web to find and index pages for search engines.</a:t>
            </a:r>
          </a:p>
          <a:p>
            <a:pPr algn="just">
              <a:lnSpc>
                <a:spcPct val="100000"/>
              </a:lnSpc>
              <a:spcBef>
                <a:spcPts val="600"/>
              </a:spcBef>
              <a:spcAft>
                <a:spcPts val="600"/>
              </a:spcAft>
            </a:pPr>
            <a:r>
              <a:rPr lang="en-US" sz="2400" b="0" i="0" dirty="0">
                <a:effectLst/>
              </a:rPr>
              <a:t>Web Crawler, also known as Spider or a Robot, is a program that downloads web pages associated with the given URLs, extracts the hyperlinks contained in them and downloads the web pages continuously that are found by these hyperlinks. </a:t>
            </a:r>
          </a:p>
        </p:txBody>
      </p:sp>
      <p:sp>
        <p:nvSpPr>
          <p:cNvPr id="5" name="TextBox 4">
            <a:extLst>
              <a:ext uri="{FF2B5EF4-FFF2-40B4-BE49-F238E27FC236}">
                <a16:creationId xmlns:a16="http://schemas.microsoft.com/office/drawing/2014/main" id="{7626D0A6-7B71-4792-04CC-D7FD3B7CBCCE}"/>
              </a:ext>
            </a:extLst>
          </p:cNvPr>
          <p:cNvSpPr txBox="1"/>
          <p:nvPr/>
        </p:nvSpPr>
        <p:spPr>
          <a:xfrm>
            <a:off x="0" y="3999637"/>
            <a:ext cx="8625840" cy="2308324"/>
          </a:xfrm>
          <a:prstGeom prst="rect">
            <a:avLst/>
          </a:prstGeom>
          <a:noFill/>
        </p:spPr>
        <p:txBody>
          <a:bodyPr wrap="square">
            <a:spAutoFit/>
          </a:bodyPr>
          <a:lstStyle/>
          <a:p>
            <a:pPr>
              <a:buNone/>
            </a:pPr>
            <a:r>
              <a:rPr lang="en-US" sz="2400" b="1" dirty="0"/>
              <a:t>What Does a Web Crawler Do?</a:t>
            </a:r>
          </a:p>
          <a:p>
            <a:pPr>
              <a:buFont typeface="+mj-lt"/>
              <a:buAutoNum type="arabicPeriod"/>
            </a:pPr>
            <a:r>
              <a:rPr lang="en-US" sz="2400" b="1" dirty="0"/>
              <a:t>Starts with a list of URLs</a:t>
            </a:r>
            <a:r>
              <a:rPr lang="en-US" sz="2400" dirty="0"/>
              <a:t> (called </a:t>
            </a:r>
            <a:r>
              <a:rPr lang="en-US" sz="2400" i="1" dirty="0"/>
              <a:t>seed URLs</a:t>
            </a:r>
            <a:r>
              <a:rPr lang="en-US" sz="2400" dirty="0"/>
              <a:t>)</a:t>
            </a:r>
          </a:p>
          <a:p>
            <a:pPr>
              <a:buFont typeface="+mj-lt"/>
              <a:buAutoNum type="arabicPeriod"/>
            </a:pPr>
            <a:r>
              <a:rPr lang="en-US" sz="2400" dirty="0"/>
              <a:t>Visits each URL and downloads the web page</a:t>
            </a:r>
          </a:p>
          <a:p>
            <a:pPr>
              <a:buFont typeface="+mj-lt"/>
              <a:buAutoNum type="arabicPeriod"/>
            </a:pPr>
            <a:r>
              <a:rPr lang="en-US" sz="2400" b="1" dirty="0"/>
              <a:t>Extracts all the links</a:t>
            </a:r>
            <a:r>
              <a:rPr lang="en-US" sz="2400" dirty="0"/>
              <a:t> on that page</a:t>
            </a:r>
          </a:p>
          <a:p>
            <a:pPr>
              <a:buFont typeface="+mj-lt"/>
              <a:buAutoNum type="arabicPeriod"/>
            </a:pPr>
            <a:r>
              <a:rPr lang="en-US" sz="2400" dirty="0"/>
              <a:t>Adds new, unseen links to a list (called the </a:t>
            </a:r>
            <a:r>
              <a:rPr lang="en-US" sz="2400" i="1" dirty="0"/>
              <a:t>frontier</a:t>
            </a:r>
            <a:r>
              <a:rPr lang="en-US" sz="2400" dirty="0"/>
              <a:t>)</a:t>
            </a:r>
          </a:p>
          <a:p>
            <a:pPr>
              <a:buFont typeface="+mj-lt"/>
              <a:buAutoNum type="arabicPeriod"/>
            </a:pPr>
            <a:r>
              <a:rPr lang="en-US" sz="2400" dirty="0"/>
              <a:t>Repeats the process for each new URL</a:t>
            </a:r>
          </a:p>
        </p:txBody>
      </p:sp>
      <p:pic>
        <p:nvPicPr>
          <p:cNvPr id="12" name="Picture 11">
            <a:extLst>
              <a:ext uri="{FF2B5EF4-FFF2-40B4-BE49-F238E27FC236}">
                <a16:creationId xmlns:a16="http://schemas.microsoft.com/office/drawing/2014/main" id="{41B55A84-CB2C-1AFD-8C9E-0DBF2607F659}"/>
              </a:ext>
            </a:extLst>
          </p:cNvPr>
          <p:cNvPicPr>
            <a:picLocks noChangeAspect="1"/>
          </p:cNvPicPr>
          <p:nvPr/>
        </p:nvPicPr>
        <p:blipFill>
          <a:blip r:embed="rId2"/>
          <a:stretch>
            <a:fillRect/>
          </a:stretch>
        </p:blipFill>
        <p:spPr>
          <a:xfrm>
            <a:off x="7521362" y="3878476"/>
            <a:ext cx="4650318" cy="2979524"/>
          </a:xfrm>
          <a:prstGeom prst="rect">
            <a:avLst/>
          </a:prstGeom>
        </p:spPr>
      </p:pic>
    </p:spTree>
    <p:extLst>
      <p:ext uri="{BB962C8B-B14F-4D97-AF65-F5344CB8AC3E}">
        <p14:creationId xmlns:p14="http://schemas.microsoft.com/office/powerpoint/2010/main" val="1468367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348B7-B0D2-5EEB-8226-96634FE73729}"/>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A43984A6-763D-4B21-D8FF-3A39ACEC26F0}"/>
              </a:ext>
            </a:extLst>
          </p:cNvPr>
          <p:cNvSpPr txBox="1">
            <a:spLocks/>
          </p:cNvSpPr>
          <p:nvPr/>
        </p:nvSpPr>
        <p:spPr>
          <a:xfrm>
            <a:off x="838200" y="0"/>
            <a:ext cx="10515600" cy="6096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650"/>
              </a:lnSpc>
              <a:spcAft>
                <a:spcPts val="900"/>
              </a:spcAft>
            </a:pPr>
            <a:r>
              <a:rPr lang="en-US" sz="4000" b="1" dirty="0">
                <a:solidFill>
                  <a:srgbClr val="0070C0"/>
                </a:solidFill>
                <a:latin typeface="+mn-lt"/>
              </a:rPr>
              <a:t/>
            </a:r>
            <a:br>
              <a:rPr lang="en-US" sz="4000" b="1" dirty="0">
                <a:solidFill>
                  <a:srgbClr val="0070C0"/>
                </a:solidFill>
                <a:latin typeface="+mn-lt"/>
              </a:rPr>
            </a:br>
            <a:r>
              <a:rPr lang="en-US" sz="4000" b="1" dirty="0">
                <a:solidFill>
                  <a:srgbClr val="0070C0"/>
                </a:solidFill>
                <a:latin typeface="+mn-lt"/>
              </a:rPr>
              <a:t>How Web Crawlers Work</a:t>
            </a:r>
          </a:p>
        </p:txBody>
      </p:sp>
      <p:sp>
        <p:nvSpPr>
          <p:cNvPr id="9" name="TextBox 8">
            <a:extLst>
              <a:ext uri="{FF2B5EF4-FFF2-40B4-BE49-F238E27FC236}">
                <a16:creationId xmlns:a16="http://schemas.microsoft.com/office/drawing/2014/main" id="{F1273DF9-5617-40B9-599C-F9D9D4A3C71A}"/>
              </a:ext>
            </a:extLst>
          </p:cNvPr>
          <p:cNvSpPr txBox="1"/>
          <p:nvPr/>
        </p:nvSpPr>
        <p:spPr>
          <a:xfrm>
            <a:off x="0" y="609600"/>
            <a:ext cx="9174480" cy="3836948"/>
          </a:xfrm>
          <a:prstGeom prst="rect">
            <a:avLst/>
          </a:prstGeom>
          <a:noFill/>
        </p:spPr>
        <p:txBody>
          <a:bodyPr wrap="square">
            <a:spAutoFit/>
          </a:bodyPr>
          <a:lstStyle/>
          <a:p>
            <a:pPr algn="just">
              <a:spcBef>
                <a:spcPts val="200"/>
              </a:spcBef>
              <a:spcAft>
                <a:spcPts val="200"/>
              </a:spcAft>
            </a:pPr>
            <a:r>
              <a:rPr lang="en-US" sz="2200" b="1" i="0" dirty="0">
                <a:effectLst/>
              </a:rPr>
              <a:t>Start with a list of URLs:</a:t>
            </a:r>
          </a:p>
          <a:p>
            <a:pPr marL="342900" indent="-342900" algn="just">
              <a:spcBef>
                <a:spcPts val="200"/>
              </a:spcBef>
              <a:spcAft>
                <a:spcPts val="200"/>
              </a:spcAft>
              <a:buFont typeface="Arial" panose="020B0604020202020204" pitchFamily="34" charset="0"/>
              <a:buChar char="•"/>
            </a:pPr>
            <a:r>
              <a:rPr lang="en-US" sz="2200" b="0" i="0" dirty="0">
                <a:effectLst/>
              </a:rPr>
              <a:t>The web crawler starts with a list of URLs to visit. </a:t>
            </a:r>
          </a:p>
          <a:p>
            <a:pPr algn="just">
              <a:spcBef>
                <a:spcPts val="200"/>
              </a:spcBef>
              <a:spcAft>
                <a:spcPts val="200"/>
              </a:spcAft>
            </a:pPr>
            <a:r>
              <a:rPr lang="en-US" sz="2200" b="1" i="0" dirty="0">
                <a:effectLst/>
              </a:rPr>
              <a:t>Visit each URL:</a:t>
            </a:r>
          </a:p>
          <a:p>
            <a:pPr marL="342900" indent="-342900" algn="just">
              <a:spcBef>
                <a:spcPts val="200"/>
              </a:spcBef>
              <a:spcAft>
                <a:spcPts val="200"/>
              </a:spcAft>
              <a:buFont typeface="Arial" panose="020B0604020202020204" pitchFamily="34" charset="0"/>
              <a:buChar char="•"/>
            </a:pPr>
            <a:r>
              <a:rPr lang="en-US" sz="2200" b="0" i="0" dirty="0">
                <a:effectLst/>
              </a:rPr>
              <a:t>The web crawler then begins to visit each URL on the list. </a:t>
            </a:r>
          </a:p>
          <a:p>
            <a:pPr marL="342900" indent="-342900" algn="just">
              <a:spcBef>
                <a:spcPts val="200"/>
              </a:spcBef>
              <a:spcAft>
                <a:spcPts val="200"/>
              </a:spcAft>
              <a:buFont typeface="Arial" panose="020B0604020202020204" pitchFamily="34" charset="0"/>
              <a:buChar char="•"/>
            </a:pPr>
            <a:r>
              <a:rPr lang="en-US" sz="2200" b="0" i="0" dirty="0">
                <a:effectLst/>
              </a:rPr>
              <a:t>It does this by sending an HTTP request to the server that hosts the website.</a:t>
            </a:r>
          </a:p>
          <a:p>
            <a:pPr algn="just">
              <a:spcBef>
                <a:spcPts val="200"/>
              </a:spcBef>
              <a:spcAft>
                <a:spcPts val="200"/>
              </a:spcAft>
            </a:pPr>
            <a:r>
              <a:rPr lang="en-US" sz="2200" b="1" i="0" dirty="0">
                <a:effectLst/>
              </a:rPr>
              <a:t>Collect data: </a:t>
            </a:r>
          </a:p>
          <a:p>
            <a:pPr marL="342900" indent="-342900" algn="just">
              <a:spcBef>
                <a:spcPts val="200"/>
              </a:spcBef>
              <a:spcAft>
                <a:spcPts val="200"/>
              </a:spcAft>
              <a:buFont typeface="Arial" panose="020B0604020202020204" pitchFamily="34" charset="0"/>
              <a:buChar char="•"/>
            </a:pPr>
            <a:r>
              <a:rPr lang="en-US" sz="2200" b="0" i="0" dirty="0">
                <a:effectLst/>
              </a:rPr>
              <a:t>Once the web crawler has accessed a website, it collects data from the HTML code and other resources such as CSS, JavaScript, images, and videos. </a:t>
            </a:r>
          </a:p>
          <a:p>
            <a:pPr marL="342900" indent="-342900" algn="just">
              <a:spcBef>
                <a:spcPts val="200"/>
              </a:spcBef>
              <a:spcAft>
                <a:spcPts val="200"/>
              </a:spcAft>
              <a:buFont typeface="Arial" panose="020B0604020202020204" pitchFamily="34" charset="0"/>
              <a:buChar char="•"/>
            </a:pPr>
            <a:r>
              <a:rPr lang="en-US" sz="2200" b="0" i="0" dirty="0">
                <a:effectLst/>
              </a:rPr>
              <a:t>The data collected can include text, images, links, metadata, and other information about the web page.</a:t>
            </a:r>
          </a:p>
        </p:txBody>
      </p:sp>
      <p:pic>
        <p:nvPicPr>
          <p:cNvPr id="11" name="Picture 10">
            <a:extLst>
              <a:ext uri="{FF2B5EF4-FFF2-40B4-BE49-F238E27FC236}">
                <a16:creationId xmlns:a16="http://schemas.microsoft.com/office/drawing/2014/main" id="{49A9363B-7F58-1362-8E21-B5FDCF5134FC}"/>
              </a:ext>
            </a:extLst>
          </p:cNvPr>
          <p:cNvPicPr>
            <a:picLocks noChangeAspect="1"/>
          </p:cNvPicPr>
          <p:nvPr/>
        </p:nvPicPr>
        <p:blipFill>
          <a:blip r:embed="rId2"/>
          <a:stretch>
            <a:fillRect/>
          </a:stretch>
        </p:blipFill>
        <p:spPr>
          <a:xfrm>
            <a:off x="8333741" y="4075106"/>
            <a:ext cx="3210559" cy="2782894"/>
          </a:xfrm>
          <a:prstGeom prst="rect">
            <a:avLst/>
          </a:prstGeom>
        </p:spPr>
      </p:pic>
      <p:pic>
        <p:nvPicPr>
          <p:cNvPr id="13" name="Picture 12">
            <a:extLst>
              <a:ext uri="{FF2B5EF4-FFF2-40B4-BE49-F238E27FC236}">
                <a16:creationId xmlns:a16="http://schemas.microsoft.com/office/drawing/2014/main" id="{9CD78135-EB04-3A2A-57EC-DC33828E266B}"/>
              </a:ext>
            </a:extLst>
          </p:cNvPr>
          <p:cNvPicPr>
            <a:picLocks noChangeAspect="1"/>
          </p:cNvPicPr>
          <p:nvPr/>
        </p:nvPicPr>
        <p:blipFill>
          <a:blip r:embed="rId3"/>
          <a:stretch>
            <a:fillRect/>
          </a:stretch>
        </p:blipFill>
        <p:spPr>
          <a:xfrm>
            <a:off x="9337040" y="873760"/>
            <a:ext cx="2844801" cy="3229275"/>
          </a:xfrm>
          <a:prstGeom prst="rect">
            <a:avLst/>
          </a:prstGeom>
        </p:spPr>
      </p:pic>
      <p:sp>
        <p:nvSpPr>
          <p:cNvPr id="3" name="TextBox 2">
            <a:extLst>
              <a:ext uri="{FF2B5EF4-FFF2-40B4-BE49-F238E27FC236}">
                <a16:creationId xmlns:a16="http://schemas.microsoft.com/office/drawing/2014/main" id="{DC71572C-BD26-9565-2C78-5B29A58288A0}"/>
              </a:ext>
            </a:extLst>
          </p:cNvPr>
          <p:cNvSpPr txBox="1"/>
          <p:nvPr/>
        </p:nvSpPr>
        <p:spPr>
          <a:xfrm>
            <a:off x="0" y="4539149"/>
            <a:ext cx="8333741" cy="2226250"/>
          </a:xfrm>
          <a:prstGeom prst="rect">
            <a:avLst/>
          </a:prstGeom>
          <a:noFill/>
        </p:spPr>
        <p:txBody>
          <a:bodyPr wrap="square">
            <a:spAutoFit/>
          </a:bodyPr>
          <a:lstStyle/>
          <a:p>
            <a:pPr algn="just">
              <a:spcBef>
                <a:spcPts val="200"/>
              </a:spcBef>
              <a:spcAft>
                <a:spcPts val="200"/>
              </a:spcAft>
            </a:pPr>
            <a:r>
              <a:rPr lang="en-US" sz="2200" b="1" i="0" dirty="0">
                <a:effectLst/>
              </a:rPr>
              <a:t>Follow links: </a:t>
            </a:r>
          </a:p>
          <a:p>
            <a:pPr marL="342900" indent="-342900" algn="just">
              <a:spcBef>
                <a:spcPts val="200"/>
              </a:spcBef>
              <a:spcAft>
                <a:spcPts val="200"/>
              </a:spcAft>
              <a:buFont typeface="Arial" panose="020B0604020202020204" pitchFamily="34" charset="0"/>
              <a:buChar char="•"/>
            </a:pPr>
            <a:r>
              <a:rPr lang="en-US" sz="2200" b="0" i="0" dirty="0">
                <a:effectLst/>
              </a:rPr>
              <a:t>The web crawler follows the links found on the web page to discover new pages to crawl.</a:t>
            </a:r>
          </a:p>
          <a:p>
            <a:pPr marL="342900" indent="-342900" algn="just">
              <a:spcBef>
                <a:spcPts val="200"/>
              </a:spcBef>
              <a:spcAft>
                <a:spcPts val="200"/>
              </a:spcAft>
              <a:buFont typeface="Arial" panose="020B0604020202020204" pitchFamily="34" charset="0"/>
              <a:buChar char="•"/>
            </a:pPr>
            <a:r>
              <a:rPr lang="en-US" sz="2200" b="0" i="0" dirty="0">
                <a:effectLst/>
              </a:rPr>
              <a:t> It repeats this process for each new page it finds until it has visited all the pages in the original list, or until it reaches a specified depth or limit.</a:t>
            </a:r>
          </a:p>
        </p:txBody>
      </p:sp>
    </p:spTree>
    <p:extLst>
      <p:ext uri="{BB962C8B-B14F-4D97-AF65-F5344CB8AC3E}">
        <p14:creationId xmlns:p14="http://schemas.microsoft.com/office/powerpoint/2010/main" val="1389060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159BA-B22B-1415-F566-3273C41836CD}"/>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67EE7301-31C4-DD40-D5C5-191E474B5350}"/>
              </a:ext>
            </a:extLst>
          </p:cNvPr>
          <p:cNvSpPr txBox="1">
            <a:spLocks/>
          </p:cNvSpPr>
          <p:nvPr/>
        </p:nvSpPr>
        <p:spPr>
          <a:xfrm>
            <a:off x="838200" y="0"/>
            <a:ext cx="10515600" cy="6096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650"/>
              </a:lnSpc>
              <a:spcAft>
                <a:spcPts val="900"/>
              </a:spcAft>
            </a:pPr>
            <a:r>
              <a:rPr lang="en-US" sz="4000" b="1" dirty="0">
                <a:solidFill>
                  <a:srgbClr val="0070C0"/>
                </a:solidFill>
                <a:latin typeface="+mn-lt"/>
              </a:rPr>
              <a:t/>
            </a:r>
            <a:br>
              <a:rPr lang="en-US" sz="4000" b="1" dirty="0">
                <a:solidFill>
                  <a:srgbClr val="0070C0"/>
                </a:solidFill>
                <a:latin typeface="+mn-lt"/>
              </a:rPr>
            </a:br>
            <a:r>
              <a:rPr lang="en-US" sz="4000" b="1" dirty="0">
                <a:solidFill>
                  <a:srgbClr val="0070C0"/>
                </a:solidFill>
                <a:latin typeface="+mn-lt"/>
              </a:rPr>
              <a:t>How Web Crawlers Work</a:t>
            </a:r>
          </a:p>
        </p:txBody>
      </p:sp>
      <p:sp>
        <p:nvSpPr>
          <p:cNvPr id="9" name="TextBox 8">
            <a:extLst>
              <a:ext uri="{FF2B5EF4-FFF2-40B4-BE49-F238E27FC236}">
                <a16:creationId xmlns:a16="http://schemas.microsoft.com/office/drawing/2014/main" id="{A8BA4E88-4BD0-0C0E-5001-FA6757F6ECBA}"/>
              </a:ext>
            </a:extLst>
          </p:cNvPr>
          <p:cNvSpPr txBox="1"/>
          <p:nvPr/>
        </p:nvSpPr>
        <p:spPr>
          <a:xfrm>
            <a:off x="132080" y="609600"/>
            <a:ext cx="11948160" cy="5355312"/>
          </a:xfrm>
          <a:prstGeom prst="rect">
            <a:avLst/>
          </a:prstGeom>
          <a:noFill/>
        </p:spPr>
        <p:txBody>
          <a:bodyPr wrap="square">
            <a:spAutoFit/>
          </a:bodyPr>
          <a:lstStyle/>
          <a:p>
            <a:pPr algn="just">
              <a:spcBef>
                <a:spcPts val="600"/>
              </a:spcBef>
              <a:spcAft>
                <a:spcPts val="600"/>
              </a:spcAft>
            </a:pPr>
            <a:r>
              <a:rPr lang="en-IN" sz="2400" dirty="0">
                <a:solidFill>
                  <a:srgbClr val="FF0000"/>
                </a:solidFill>
              </a:rPr>
              <a:t>Indexing </a:t>
            </a:r>
          </a:p>
          <a:p>
            <a:pPr marL="342900" indent="-342900" algn="just">
              <a:spcBef>
                <a:spcPts val="600"/>
              </a:spcBef>
              <a:spcAft>
                <a:spcPts val="600"/>
              </a:spcAft>
              <a:buFont typeface="Arial" panose="020B0604020202020204" pitchFamily="34" charset="0"/>
              <a:buChar char="•"/>
            </a:pPr>
            <a:r>
              <a:rPr lang="en-US" sz="2400" b="1" dirty="0"/>
              <a:t>Indexing</a:t>
            </a:r>
            <a:r>
              <a:rPr lang="en-US" sz="2400" dirty="0"/>
              <a:t> is the process of storing and organizing the data collected by the crawler so it can be searched quickly and efficiently.</a:t>
            </a:r>
            <a:endParaRPr lang="en-IN" sz="2400" b="1" i="0" dirty="0">
              <a:effectLst/>
            </a:endParaRPr>
          </a:p>
          <a:p>
            <a:pPr algn="just">
              <a:spcBef>
                <a:spcPts val="600"/>
              </a:spcBef>
              <a:spcAft>
                <a:spcPts val="600"/>
              </a:spcAft>
            </a:pPr>
            <a:endParaRPr lang="en-IN" sz="2400" b="1" dirty="0"/>
          </a:p>
          <a:p>
            <a:pPr>
              <a:buNone/>
            </a:pPr>
            <a:r>
              <a:rPr lang="en-US" sz="2400" b="1" dirty="0">
                <a:solidFill>
                  <a:srgbClr val="FF0000"/>
                </a:solidFill>
              </a:rPr>
              <a:t>How it works:</a:t>
            </a:r>
          </a:p>
          <a:p>
            <a:pPr>
              <a:buFont typeface="+mj-lt"/>
              <a:buAutoNum type="arabicPeriod"/>
            </a:pPr>
            <a:r>
              <a:rPr lang="en-US" sz="2400" b="1" dirty="0"/>
              <a:t>Text Extraction</a:t>
            </a:r>
            <a:r>
              <a:rPr lang="en-US" sz="2400" dirty="0"/>
              <a:t> – Extract raw content (ignoring tags and scripts).</a:t>
            </a:r>
          </a:p>
          <a:p>
            <a:pPr>
              <a:buFont typeface="+mj-lt"/>
              <a:buAutoNum type="arabicPeriod"/>
            </a:pPr>
            <a:r>
              <a:rPr lang="en-US" sz="2400" b="1" dirty="0"/>
              <a:t>Tokenization</a:t>
            </a:r>
            <a:r>
              <a:rPr lang="en-US" sz="2400" dirty="0"/>
              <a:t> – Break the text into individual words or tokens.</a:t>
            </a:r>
          </a:p>
          <a:p>
            <a:pPr>
              <a:buFont typeface="+mj-lt"/>
              <a:buAutoNum type="arabicPeriod"/>
            </a:pPr>
            <a:r>
              <a:rPr lang="en-US" sz="2400" b="1" dirty="0"/>
              <a:t>Stop-word Removal</a:t>
            </a:r>
            <a:r>
              <a:rPr lang="en-US" sz="2400" dirty="0"/>
              <a:t> – Remove common words like "the", "is", etc.</a:t>
            </a:r>
          </a:p>
          <a:p>
            <a:pPr>
              <a:buFont typeface="+mj-lt"/>
              <a:buAutoNum type="arabicPeriod"/>
            </a:pPr>
            <a:r>
              <a:rPr lang="en-US" sz="2400" b="1" dirty="0"/>
              <a:t>Stemming/Lemmatization</a:t>
            </a:r>
            <a:r>
              <a:rPr lang="en-US" sz="2400" dirty="0"/>
              <a:t> – Reduce words to their root form.</a:t>
            </a:r>
          </a:p>
          <a:p>
            <a:pPr>
              <a:buFont typeface="+mj-lt"/>
              <a:buAutoNum type="arabicPeriod"/>
            </a:pPr>
            <a:r>
              <a:rPr lang="en-US" sz="2400" b="1" dirty="0"/>
              <a:t>Inverted Index Creation</a:t>
            </a:r>
            <a:r>
              <a:rPr lang="en-US" sz="2400" dirty="0"/>
              <a:t> – Create a data structure that maps each word to the pages it appears on.</a:t>
            </a:r>
          </a:p>
          <a:p>
            <a:pPr>
              <a:buFont typeface="+mj-lt"/>
              <a:buAutoNum type="arabicPeriod"/>
            </a:pPr>
            <a:r>
              <a:rPr lang="en-US" sz="2400" b="1" dirty="0"/>
              <a:t>Metadata Storage</a:t>
            </a:r>
            <a:r>
              <a:rPr lang="en-US" sz="2400" dirty="0"/>
              <a:t> – Store things like page titles, keywords, and frequency of terms.</a:t>
            </a:r>
            <a:endParaRPr lang="en-IN" sz="2400" b="1" dirty="0"/>
          </a:p>
          <a:p>
            <a:pPr algn="just">
              <a:spcBef>
                <a:spcPts val="600"/>
              </a:spcBef>
              <a:spcAft>
                <a:spcPts val="600"/>
              </a:spcAft>
            </a:pPr>
            <a:endParaRPr lang="en-IN" sz="2400" b="1" i="0" dirty="0">
              <a:effectLst/>
            </a:endParaRPr>
          </a:p>
        </p:txBody>
      </p:sp>
    </p:spTree>
    <p:extLst>
      <p:ext uri="{BB962C8B-B14F-4D97-AF65-F5344CB8AC3E}">
        <p14:creationId xmlns:p14="http://schemas.microsoft.com/office/powerpoint/2010/main" val="4961534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475EA-3B70-E4DE-2978-EA9FA986FD03}"/>
            </a:ext>
          </a:extLst>
        </p:cNvPr>
        <p:cNvGrpSpPr/>
        <p:nvPr/>
      </p:nvGrpSpPr>
      <p:grpSpPr>
        <a:xfrm>
          <a:off x="0" y="0"/>
          <a:ext cx="0" cy="0"/>
          <a:chOff x="0" y="0"/>
          <a:chExt cx="0" cy="0"/>
        </a:xfrm>
      </p:grpSpPr>
      <p:sp>
        <p:nvSpPr>
          <p:cNvPr id="14" name="Title 1">
            <a:extLst>
              <a:ext uri="{FF2B5EF4-FFF2-40B4-BE49-F238E27FC236}">
                <a16:creationId xmlns:a16="http://schemas.microsoft.com/office/drawing/2014/main" id="{CEDADB97-9258-3B7E-ED08-C03C69AB8A76}"/>
              </a:ext>
            </a:extLst>
          </p:cNvPr>
          <p:cNvSpPr txBox="1">
            <a:spLocks/>
          </p:cNvSpPr>
          <p:nvPr/>
        </p:nvSpPr>
        <p:spPr>
          <a:xfrm>
            <a:off x="838200" y="0"/>
            <a:ext cx="10515600" cy="6096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ts val="1650"/>
              </a:lnSpc>
              <a:spcAft>
                <a:spcPts val="900"/>
              </a:spcAft>
            </a:pPr>
            <a:r>
              <a:rPr lang="en-US" sz="4000" b="1" dirty="0">
                <a:solidFill>
                  <a:srgbClr val="0070C0"/>
                </a:solidFill>
                <a:latin typeface="+mn-lt"/>
              </a:rPr>
              <a:t/>
            </a:r>
            <a:br>
              <a:rPr lang="en-US" sz="4000" b="1" dirty="0">
                <a:solidFill>
                  <a:srgbClr val="0070C0"/>
                </a:solidFill>
                <a:latin typeface="+mn-lt"/>
              </a:rPr>
            </a:br>
            <a:r>
              <a:rPr lang="en-US" sz="4000" b="1" dirty="0">
                <a:solidFill>
                  <a:srgbClr val="0070C0"/>
                </a:solidFill>
                <a:latin typeface="+mn-lt"/>
              </a:rPr>
              <a:t>How Web Crawlers Work</a:t>
            </a:r>
          </a:p>
        </p:txBody>
      </p:sp>
      <p:sp>
        <p:nvSpPr>
          <p:cNvPr id="3" name="Rectangle 1">
            <a:extLst>
              <a:ext uri="{FF2B5EF4-FFF2-40B4-BE49-F238E27FC236}">
                <a16:creationId xmlns:a16="http://schemas.microsoft.com/office/drawing/2014/main" id="{992BBB54-28F7-993C-0748-1B64F9A01EE0}"/>
              </a:ext>
            </a:extLst>
          </p:cNvPr>
          <p:cNvSpPr>
            <a:spLocks noChangeArrowheads="1"/>
          </p:cNvSpPr>
          <p:nvPr/>
        </p:nvSpPr>
        <p:spPr bwMode="auto">
          <a:xfrm>
            <a:off x="0" y="861814"/>
            <a:ext cx="59690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rgbClr val="FF0000"/>
                </a:solidFill>
                <a:effectLst/>
                <a:latin typeface="Arial" panose="020B0604020202020204" pitchFamily="34" charset="0"/>
              </a:rPr>
              <a:t>Inverted Index Example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rgbClr val="FF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Let’s say you crawl 3 pages: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Page1: "Machine learning is fun"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Page2: "Learning is essential"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Page3: "Deep learning with Python“</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2400" dirty="0">
              <a:latin typeface="Arial" panose="020B0604020202020204" pitchFamily="34" charset="0"/>
            </a:endParaRPr>
          </a:p>
        </p:txBody>
      </p:sp>
      <p:pic>
        <p:nvPicPr>
          <p:cNvPr id="5" name="Picture 4">
            <a:extLst>
              <a:ext uri="{FF2B5EF4-FFF2-40B4-BE49-F238E27FC236}">
                <a16:creationId xmlns:a16="http://schemas.microsoft.com/office/drawing/2014/main" id="{E2B4E995-A094-9E53-FFA5-65F6CBCC09DE}"/>
              </a:ext>
            </a:extLst>
          </p:cNvPr>
          <p:cNvPicPr>
            <a:picLocks noChangeAspect="1"/>
          </p:cNvPicPr>
          <p:nvPr/>
        </p:nvPicPr>
        <p:blipFill>
          <a:blip r:embed="rId2"/>
          <a:stretch>
            <a:fillRect/>
          </a:stretch>
        </p:blipFill>
        <p:spPr>
          <a:xfrm>
            <a:off x="5879782" y="1895277"/>
            <a:ext cx="6312218" cy="4962723"/>
          </a:xfrm>
          <a:prstGeom prst="rect">
            <a:avLst/>
          </a:prstGeom>
        </p:spPr>
      </p:pic>
      <p:sp>
        <p:nvSpPr>
          <p:cNvPr id="7" name="TextBox 6">
            <a:extLst>
              <a:ext uri="{FF2B5EF4-FFF2-40B4-BE49-F238E27FC236}">
                <a16:creationId xmlns:a16="http://schemas.microsoft.com/office/drawing/2014/main" id="{7B7DDBE0-E1B8-A1BC-2365-0C8AD6D43598}"/>
              </a:ext>
            </a:extLst>
          </p:cNvPr>
          <p:cNvSpPr txBox="1"/>
          <p:nvPr/>
        </p:nvSpPr>
        <p:spPr>
          <a:xfrm>
            <a:off x="6400800" y="1067772"/>
            <a:ext cx="4856480"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The </a:t>
            </a:r>
            <a:r>
              <a:rPr kumimoji="0" lang="en-US" altLang="en-US" sz="2400" b="1" i="0" u="none" strike="noStrike" cap="none" normalizeH="0" baseline="0" dirty="0">
                <a:ln>
                  <a:noFill/>
                </a:ln>
                <a:solidFill>
                  <a:schemeClr val="tx1"/>
                </a:solidFill>
                <a:effectLst/>
                <a:latin typeface="Arial" panose="020B0604020202020204" pitchFamily="34" charset="0"/>
              </a:rPr>
              <a:t>inverted index</a:t>
            </a:r>
            <a:r>
              <a:rPr kumimoji="0" lang="en-US" altLang="en-US" sz="2400" b="0" i="0" u="none" strike="noStrike" cap="none" normalizeH="0" baseline="0" dirty="0">
                <a:ln>
                  <a:noFill/>
                </a:ln>
                <a:solidFill>
                  <a:schemeClr val="tx1"/>
                </a:solidFill>
                <a:effectLst/>
                <a:latin typeface="Arial" panose="020B0604020202020204" pitchFamily="34" charset="0"/>
              </a:rPr>
              <a:t> will look like:</a:t>
            </a:r>
          </a:p>
        </p:txBody>
      </p:sp>
    </p:spTree>
    <p:extLst>
      <p:ext uri="{BB962C8B-B14F-4D97-AF65-F5344CB8AC3E}">
        <p14:creationId xmlns:p14="http://schemas.microsoft.com/office/powerpoint/2010/main" val="177387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829DE-A95E-9447-E4E8-41814762A1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7AD56C-EB17-380D-8881-7567908B917E}"/>
              </a:ext>
            </a:extLst>
          </p:cNvPr>
          <p:cNvSpPr>
            <a:spLocks noGrp="1"/>
          </p:cNvSpPr>
          <p:nvPr>
            <p:ph type="title"/>
          </p:nvPr>
        </p:nvSpPr>
        <p:spPr>
          <a:xfrm>
            <a:off x="838200" y="0"/>
            <a:ext cx="10515600" cy="609600"/>
          </a:xfrm>
        </p:spPr>
        <p:txBody>
          <a:bodyPr>
            <a:noAutofit/>
          </a:bodyPr>
          <a:lstStyle/>
          <a:p>
            <a:pPr algn="ctr">
              <a:buNone/>
            </a:pPr>
            <a:r>
              <a:rPr lang="en-US" sz="4000" i="0" dirty="0">
                <a:solidFill>
                  <a:srgbClr val="0070C0"/>
                </a:solidFill>
                <a:effectLst/>
                <a:latin typeface="Arial" panose="020B0604020202020204" pitchFamily="34" charset="0"/>
              </a:rPr>
              <a:t>Web crawling vs. web scraping</a:t>
            </a:r>
          </a:p>
        </p:txBody>
      </p:sp>
      <p:sp>
        <p:nvSpPr>
          <p:cNvPr id="3" name="Content Placeholder 2">
            <a:extLst>
              <a:ext uri="{FF2B5EF4-FFF2-40B4-BE49-F238E27FC236}">
                <a16:creationId xmlns:a16="http://schemas.microsoft.com/office/drawing/2014/main" id="{50546547-8222-D5E4-C9B6-F15BA95AD15A}"/>
              </a:ext>
            </a:extLst>
          </p:cNvPr>
          <p:cNvSpPr>
            <a:spLocks noGrp="1"/>
          </p:cNvSpPr>
          <p:nvPr>
            <p:ph idx="1"/>
          </p:nvPr>
        </p:nvSpPr>
        <p:spPr>
          <a:xfrm>
            <a:off x="309880" y="1168400"/>
            <a:ext cx="11729720" cy="5608320"/>
          </a:xfrm>
        </p:spPr>
        <p:txBody>
          <a:bodyPr>
            <a:noAutofit/>
          </a:bodyPr>
          <a:lstStyle/>
          <a:p>
            <a:pPr algn="just">
              <a:spcAft>
                <a:spcPts val="1500"/>
              </a:spcAft>
            </a:pPr>
            <a:r>
              <a:rPr lang="en-US" sz="2400" i="0" strike="noStrike" dirty="0">
                <a:effectLst/>
                <a:cs typeface="Poppins" panose="00000500000000000000" pitchFamily="2" charset="0"/>
                <a:hlinkClick r:id="rId2">
                  <a:extLst>
                    <a:ext uri="{A12FA001-AC4F-418D-AE19-62706E023703}">
                      <ahyp:hlinkClr xmlns:ahyp="http://schemas.microsoft.com/office/drawing/2018/hyperlinkcolor" xmlns="" val="tx"/>
                    </a:ext>
                  </a:extLst>
                </a:hlinkClick>
              </a:rPr>
              <a:t>Web scraping</a:t>
            </a:r>
            <a:r>
              <a:rPr lang="en-US" sz="2400" i="0" strike="noStrike" dirty="0">
                <a:effectLst/>
                <a:cs typeface="Poppins" panose="00000500000000000000" pitchFamily="2" charset="0"/>
              </a:rPr>
              <a:t> </a:t>
            </a:r>
            <a:r>
              <a:rPr lang="en-US" sz="2400" b="0" i="0" dirty="0">
                <a:effectLst/>
                <a:cs typeface="Poppins" panose="00000500000000000000" pitchFamily="2" charset="0"/>
              </a:rPr>
              <a:t>is the process of </a:t>
            </a:r>
            <a:r>
              <a:rPr lang="en-US" sz="2400" b="0" i="0" dirty="0">
                <a:solidFill>
                  <a:srgbClr val="7030A0"/>
                </a:solidFill>
                <a:effectLst/>
                <a:cs typeface="Poppins" panose="00000500000000000000" pitchFamily="2" charset="0"/>
              </a:rPr>
              <a:t>extracting specific data from web pages</a:t>
            </a:r>
            <a:r>
              <a:rPr lang="en-US" sz="2400" b="0" i="0" dirty="0">
                <a:effectLst/>
                <a:cs typeface="Poppins" panose="00000500000000000000" pitchFamily="2" charset="0"/>
              </a:rPr>
              <a:t>, often using automated software or tools. </a:t>
            </a:r>
          </a:p>
          <a:p>
            <a:pPr algn="just">
              <a:spcAft>
                <a:spcPts val="1500"/>
              </a:spcAft>
            </a:pPr>
            <a:r>
              <a:rPr lang="en-US" sz="2400" b="0" i="0" dirty="0">
                <a:effectLst/>
                <a:cs typeface="Poppins" panose="00000500000000000000" pitchFamily="2" charset="0"/>
              </a:rPr>
              <a:t>Web scraping usually involves targeting specific websites or pages, and extracting only the relevant data, such as product prices or customer reviews.</a:t>
            </a:r>
          </a:p>
          <a:p>
            <a:pPr algn="just">
              <a:spcAft>
                <a:spcPts val="1500"/>
              </a:spcAft>
            </a:pPr>
            <a:r>
              <a:rPr lang="en-US" sz="2400" b="0" i="0" dirty="0">
                <a:effectLst/>
                <a:cs typeface="Poppins" panose="00000500000000000000" pitchFamily="2" charset="0"/>
              </a:rPr>
              <a:t>Web crawling, on the other hand, is the process of systematically browsing the internet to collect information from websites, without necessarily targeting specific pages or data.</a:t>
            </a:r>
          </a:p>
          <a:p>
            <a:pPr algn="just">
              <a:spcAft>
                <a:spcPts val="1500"/>
              </a:spcAft>
            </a:pPr>
            <a:r>
              <a:rPr lang="en-US" sz="2400" b="0" i="0" dirty="0">
                <a:effectLst/>
                <a:cs typeface="Poppins" panose="00000500000000000000" pitchFamily="2" charset="0"/>
              </a:rPr>
              <a:t>Web crawlers follow links from one web page to another, and collect information on a wide range of topics, such as web page content, metadata, and URLs.</a:t>
            </a:r>
          </a:p>
          <a:p>
            <a:pPr algn="just">
              <a:spcAft>
                <a:spcPts val="1500"/>
              </a:spcAft>
            </a:pPr>
            <a:r>
              <a:rPr lang="en-US" sz="2400" b="0" i="0" dirty="0">
                <a:effectLst/>
                <a:cs typeface="Poppins" panose="00000500000000000000" pitchFamily="2" charset="0"/>
              </a:rPr>
              <a:t>While web scraping is often used to extract data for specific purposes, such as market research or data analysis, web crawling is usually used for more general purposes, such as search engine indexing or website optimization.</a:t>
            </a:r>
          </a:p>
        </p:txBody>
      </p:sp>
    </p:spTree>
    <p:extLst>
      <p:ext uri="{BB962C8B-B14F-4D97-AF65-F5344CB8AC3E}">
        <p14:creationId xmlns:p14="http://schemas.microsoft.com/office/powerpoint/2010/main" val="223829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0C96F-3BC1-0FBE-2EA6-8399D64A5A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B0992B-0E44-5303-AEC1-FC5B85C295FC}"/>
              </a:ext>
            </a:extLst>
          </p:cNvPr>
          <p:cNvSpPr>
            <a:spLocks noGrp="1"/>
          </p:cNvSpPr>
          <p:nvPr>
            <p:ph type="title"/>
          </p:nvPr>
        </p:nvSpPr>
        <p:spPr>
          <a:xfrm>
            <a:off x="838200" y="81280"/>
            <a:ext cx="10515600" cy="609600"/>
          </a:xfrm>
        </p:spPr>
        <p:txBody>
          <a:bodyPr>
            <a:normAutofit/>
          </a:bodyPr>
          <a:lstStyle/>
          <a:p>
            <a:pPr algn="l">
              <a:lnSpc>
                <a:spcPts val="2850"/>
              </a:lnSpc>
              <a:spcAft>
                <a:spcPts val="2250"/>
              </a:spcAft>
            </a:pPr>
            <a:r>
              <a:rPr lang="en-IN" b="1" i="0" dirty="0">
                <a:solidFill>
                  <a:srgbClr val="0070C0"/>
                </a:solidFill>
                <a:effectLst/>
                <a:latin typeface="DM Sans" panose="020F0502020204030204" pitchFamily="2" charset="0"/>
              </a:rPr>
              <a:t>Web crawling applications</a:t>
            </a:r>
          </a:p>
        </p:txBody>
      </p:sp>
      <p:sp>
        <p:nvSpPr>
          <p:cNvPr id="3" name="Content Placeholder 2">
            <a:extLst>
              <a:ext uri="{FF2B5EF4-FFF2-40B4-BE49-F238E27FC236}">
                <a16:creationId xmlns:a16="http://schemas.microsoft.com/office/drawing/2014/main" id="{88A1F10F-3070-D7FC-9F03-B3480DA76CC0}"/>
              </a:ext>
            </a:extLst>
          </p:cNvPr>
          <p:cNvSpPr>
            <a:spLocks noGrp="1"/>
          </p:cNvSpPr>
          <p:nvPr>
            <p:ph idx="1"/>
          </p:nvPr>
        </p:nvSpPr>
        <p:spPr>
          <a:xfrm>
            <a:off x="223520" y="843280"/>
            <a:ext cx="11816080" cy="5933440"/>
          </a:xfrm>
        </p:spPr>
        <p:txBody>
          <a:bodyPr>
            <a:noAutofit/>
          </a:bodyPr>
          <a:lstStyle/>
          <a:p>
            <a:pPr algn="just">
              <a:spcBef>
                <a:spcPts val="600"/>
              </a:spcBef>
              <a:spcAft>
                <a:spcPts val="600"/>
              </a:spcAft>
              <a:buFont typeface="Arial" panose="020B0604020202020204" pitchFamily="34" charset="0"/>
              <a:buChar char="•"/>
            </a:pPr>
            <a:r>
              <a:rPr lang="en-US" sz="2400" b="1" i="0" dirty="0">
                <a:effectLst/>
                <a:cs typeface="Poppins" panose="00000500000000000000" pitchFamily="2" charset="0"/>
              </a:rPr>
              <a:t>Search engine indexing: </a:t>
            </a:r>
            <a:r>
              <a:rPr lang="en-US" sz="2400" b="0" i="0" dirty="0">
                <a:effectLst/>
                <a:cs typeface="Poppins" panose="00000500000000000000" pitchFamily="2" charset="0"/>
              </a:rPr>
              <a:t>Web crawling is essential for search engines like Google, Bing, and Yahoo to index web pages and make them searchable.</a:t>
            </a:r>
          </a:p>
          <a:p>
            <a:pPr algn="just">
              <a:spcBef>
                <a:spcPts val="600"/>
              </a:spcBef>
              <a:spcAft>
                <a:spcPts val="600"/>
              </a:spcAft>
              <a:buFont typeface="Arial" panose="020B0604020202020204" pitchFamily="34" charset="0"/>
              <a:buChar char="•"/>
            </a:pPr>
            <a:r>
              <a:rPr lang="en-US" sz="2400" b="1" i="0" dirty="0">
                <a:effectLst/>
                <a:cs typeface="Poppins" panose="00000500000000000000" pitchFamily="2" charset="0"/>
              </a:rPr>
              <a:t>Website optimization</a:t>
            </a:r>
            <a:r>
              <a:rPr lang="en-US" sz="2400" b="0" i="0" dirty="0">
                <a:effectLst/>
                <a:cs typeface="Poppins" panose="00000500000000000000" pitchFamily="2" charset="0"/>
              </a:rPr>
              <a:t>: Web crawling can help website owners optimize their sites for search engines and improve their overall online presence.</a:t>
            </a:r>
          </a:p>
          <a:p>
            <a:pPr algn="just">
              <a:spcBef>
                <a:spcPts val="600"/>
              </a:spcBef>
              <a:spcAft>
                <a:spcPts val="600"/>
              </a:spcAft>
              <a:buFont typeface="Arial" panose="020B0604020202020204" pitchFamily="34" charset="0"/>
              <a:buChar char="•"/>
            </a:pPr>
            <a:r>
              <a:rPr lang="en-US" sz="2400" b="1" i="0" dirty="0">
                <a:effectLst/>
                <a:cs typeface="Poppins" panose="00000500000000000000" pitchFamily="2" charset="0"/>
              </a:rPr>
              <a:t>Market research: </a:t>
            </a:r>
            <a:r>
              <a:rPr lang="en-US" sz="2400" b="0" i="0" dirty="0">
                <a:effectLst/>
                <a:cs typeface="Poppins" panose="00000500000000000000" pitchFamily="2" charset="0"/>
              </a:rPr>
              <a:t>Web crawling can be used to collect data on competitors, prices, and market trends, helping businesses make informed decisions about their products and services.</a:t>
            </a:r>
          </a:p>
          <a:p>
            <a:pPr algn="just">
              <a:spcBef>
                <a:spcPts val="600"/>
              </a:spcBef>
              <a:spcAft>
                <a:spcPts val="600"/>
              </a:spcAft>
              <a:buFont typeface="Arial" panose="020B0604020202020204" pitchFamily="34" charset="0"/>
              <a:buChar char="•"/>
            </a:pPr>
            <a:r>
              <a:rPr lang="en-US" sz="2400" b="1" i="0" dirty="0">
                <a:effectLst/>
                <a:cs typeface="Poppins" panose="00000500000000000000" pitchFamily="2" charset="0"/>
              </a:rPr>
              <a:t>Social media monitoring: </a:t>
            </a:r>
            <a:r>
              <a:rPr lang="en-US" sz="2400" b="0" i="0" dirty="0">
                <a:effectLst/>
                <a:cs typeface="Poppins" panose="00000500000000000000" pitchFamily="2" charset="0"/>
              </a:rPr>
              <a:t>Web crawling can be used to gather data on social media platforms, such as user activity, engagement rates, and sentiment analysis.</a:t>
            </a:r>
          </a:p>
          <a:p>
            <a:pPr algn="just">
              <a:spcBef>
                <a:spcPts val="600"/>
              </a:spcBef>
              <a:spcAft>
                <a:spcPts val="600"/>
              </a:spcAft>
              <a:buFont typeface="Arial" panose="020B0604020202020204" pitchFamily="34" charset="0"/>
              <a:buChar char="•"/>
            </a:pPr>
            <a:r>
              <a:rPr lang="en-US" sz="2400" b="1" i="0" u="none" strike="noStrike" dirty="0">
                <a:solidFill>
                  <a:srgbClr val="0563C1"/>
                </a:solidFill>
                <a:effectLst/>
                <a:cs typeface="Poppins" panose="00000500000000000000" pitchFamily="2" charset="0"/>
                <a:hlinkClick r:id="rId2">
                  <a:extLst>
                    <a:ext uri="{A12FA001-AC4F-418D-AE19-62706E023703}">
                      <ahyp:hlinkClr xmlns:ahyp="http://schemas.microsoft.com/office/drawing/2018/hyperlinkcolor" xmlns="" val="tx"/>
                    </a:ext>
                  </a:extLst>
                </a:hlinkClick>
              </a:rPr>
              <a:t>News and </a:t>
            </a:r>
            <a:r>
              <a:rPr lang="en-US" sz="2400" b="1" i="0" u="none" strike="noStrike" dirty="0" err="1">
                <a:effectLst/>
                <a:cs typeface="Poppins" panose="00000500000000000000" pitchFamily="2" charset="0"/>
                <a:hlinkClick r:id="rId2">
                  <a:extLst>
                    <a:ext uri="{A12FA001-AC4F-418D-AE19-62706E023703}">
                      <ahyp:hlinkClr xmlns:ahyp="http://schemas.microsoft.com/office/drawing/2018/hyperlinkcolor" xmlns="" val="tx"/>
                    </a:ext>
                  </a:extLst>
                </a:hlinkClick>
              </a:rPr>
              <a:t>media:</a:t>
            </a:r>
            <a:r>
              <a:rPr lang="en-US" sz="2400" b="0" i="0" dirty="0" err="1">
                <a:effectLst/>
                <a:cs typeface="Poppins" panose="00000500000000000000" pitchFamily="2" charset="0"/>
              </a:rPr>
              <a:t>Web</a:t>
            </a:r>
            <a:r>
              <a:rPr lang="en-US" sz="2400" b="0" i="0" dirty="0">
                <a:effectLst/>
                <a:cs typeface="Poppins" panose="00000500000000000000" pitchFamily="2" charset="0"/>
              </a:rPr>
              <a:t> crawling is important for news and media organizations that need to stay up-to-date on the latest events and trends.</a:t>
            </a:r>
          </a:p>
          <a:p>
            <a:pPr algn="just">
              <a:spcBef>
                <a:spcPts val="600"/>
              </a:spcBef>
              <a:spcAft>
                <a:spcPts val="600"/>
              </a:spcAft>
              <a:buFont typeface="Arial" panose="020B0604020202020204" pitchFamily="34" charset="0"/>
              <a:buChar char="•"/>
            </a:pPr>
            <a:r>
              <a:rPr lang="en-US" sz="2400" b="1" i="0" u="none" strike="noStrike" dirty="0" err="1">
                <a:effectLst/>
                <a:cs typeface="Poppins" panose="00000500000000000000" pitchFamily="2" charset="0"/>
                <a:hlinkClick r:id="rId3">
                  <a:extLst>
                    <a:ext uri="{A12FA001-AC4F-418D-AE19-62706E023703}">
                      <ahyp:hlinkClr xmlns:ahyp="http://schemas.microsoft.com/office/drawing/2018/hyperlinkcolor" xmlns="" val="tx"/>
                    </a:ext>
                  </a:extLst>
                </a:hlinkClick>
              </a:rPr>
              <a:t>E-commerce</a:t>
            </a:r>
            <a:r>
              <a:rPr lang="en-US" sz="2400" b="1" i="0" dirty="0" err="1">
                <a:effectLst/>
                <a:cs typeface="Poppins" panose="00000500000000000000" pitchFamily="2" charset="0"/>
              </a:rPr>
              <a:t>:</a:t>
            </a:r>
            <a:r>
              <a:rPr lang="en-US" sz="2400" b="0" i="0" dirty="0" err="1">
                <a:effectLst/>
                <a:cs typeface="Poppins" panose="00000500000000000000" pitchFamily="2" charset="0"/>
              </a:rPr>
              <a:t>Web</a:t>
            </a:r>
            <a:r>
              <a:rPr lang="en-US" sz="2400" b="0" i="0" dirty="0">
                <a:effectLst/>
                <a:cs typeface="Poppins" panose="00000500000000000000" pitchFamily="2" charset="0"/>
              </a:rPr>
              <a:t> crawling is crucial for e-commerce businesses that need to gather product information, prices, and other data from competitor websites to stay competitive.</a:t>
            </a:r>
          </a:p>
          <a:p>
            <a:pPr algn="just">
              <a:spcBef>
                <a:spcPts val="600"/>
              </a:spcBef>
              <a:spcAft>
                <a:spcPts val="600"/>
              </a:spcAft>
              <a:buFont typeface="Arial" panose="020B0604020202020204" pitchFamily="34" charset="0"/>
              <a:buChar char="•"/>
            </a:pPr>
            <a:r>
              <a:rPr lang="en-US" sz="2400" b="1" i="0" dirty="0">
                <a:effectLst/>
                <a:cs typeface="Poppins" panose="00000500000000000000" pitchFamily="2" charset="0"/>
              </a:rPr>
              <a:t>Intellectual property protection</a:t>
            </a:r>
            <a:r>
              <a:rPr lang="en-US" sz="2400" b="0" i="0" dirty="0">
                <a:effectLst/>
                <a:cs typeface="Poppins" panose="00000500000000000000" pitchFamily="2" charset="0"/>
              </a:rPr>
              <a:t>: Web crawling can be used to identify and prevent intellectual property violations, such as copyright infringement and trademark infringement.</a:t>
            </a:r>
          </a:p>
        </p:txBody>
      </p:sp>
    </p:spTree>
    <p:extLst>
      <p:ext uri="{BB962C8B-B14F-4D97-AF65-F5344CB8AC3E}">
        <p14:creationId xmlns:p14="http://schemas.microsoft.com/office/powerpoint/2010/main" val="3730879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6254B-823F-7216-20A5-12379BF6C4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334C7A-7A22-6D92-A794-925AC7797799}"/>
              </a:ext>
            </a:extLst>
          </p:cNvPr>
          <p:cNvSpPr>
            <a:spLocks noGrp="1"/>
          </p:cNvSpPr>
          <p:nvPr>
            <p:ph type="title"/>
          </p:nvPr>
        </p:nvSpPr>
        <p:spPr>
          <a:xfrm>
            <a:off x="838200" y="0"/>
            <a:ext cx="10515600" cy="609600"/>
          </a:xfrm>
        </p:spPr>
        <p:txBody>
          <a:bodyPr>
            <a:normAutofit fontScale="90000"/>
          </a:bodyPr>
          <a:lstStyle/>
          <a:p>
            <a:pPr algn="l">
              <a:buNone/>
            </a:pPr>
            <a:r>
              <a:rPr lang="en-US" sz="4400" b="1" i="0" dirty="0">
                <a:solidFill>
                  <a:srgbClr val="0070C0"/>
                </a:solidFill>
                <a:effectLst/>
                <a:latin typeface="Arial" panose="020B0604020202020204" pitchFamily="34" charset="0"/>
              </a:rPr>
              <a:t>Examples of web crawlers</a:t>
            </a:r>
          </a:p>
        </p:txBody>
      </p:sp>
      <p:sp>
        <p:nvSpPr>
          <p:cNvPr id="3" name="Content Placeholder 2">
            <a:extLst>
              <a:ext uri="{FF2B5EF4-FFF2-40B4-BE49-F238E27FC236}">
                <a16:creationId xmlns:a16="http://schemas.microsoft.com/office/drawing/2014/main" id="{73B8FE2D-C4EB-5F3B-4EAD-34387A41FE98}"/>
              </a:ext>
            </a:extLst>
          </p:cNvPr>
          <p:cNvSpPr>
            <a:spLocks noGrp="1"/>
          </p:cNvSpPr>
          <p:nvPr>
            <p:ph idx="1"/>
          </p:nvPr>
        </p:nvSpPr>
        <p:spPr>
          <a:xfrm>
            <a:off x="309880" y="843280"/>
            <a:ext cx="11729720" cy="5933440"/>
          </a:xfrm>
        </p:spPr>
        <p:txBody>
          <a:bodyPr>
            <a:noAutofit/>
          </a:bodyPr>
          <a:lstStyle/>
          <a:p>
            <a:pPr algn="just">
              <a:spcBef>
                <a:spcPts val="600"/>
              </a:spcBef>
            </a:pPr>
            <a:r>
              <a:rPr lang="en-US" sz="2400" b="0" i="0" dirty="0">
                <a:effectLst/>
              </a:rPr>
              <a:t>Most popular search engines have their own web crawlers that use a specific algorithm to gather information about webpages. </a:t>
            </a:r>
          </a:p>
          <a:p>
            <a:pPr algn="just">
              <a:spcBef>
                <a:spcPts val="600"/>
              </a:spcBef>
            </a:pPr>
            <a:r>
              <a:rPr lang="en-US" sz="2400" b="0" i="0" dirty="0">
                <a:effectLst/>
              </a:rPr>
              <a:t>Web crawler tools can be desktop- or cloud-based. </a:t>
            </a:r>
          </a:p>
          <a:p>
            <a:pPr algn="just">
              <a:spcBef>
                <a:spcPts val="600"/>
              </a:spcBef>
            </a:pPr>
            <a:r>
              <a:rPr lang="en-US" sz="2400" b="0" i="0" dirty="0">
                <a:effectLst/>
              </a:rPr>
              <a:t>Some examples of web crawlers used for search engine indexing include the following:</a:t>
            </a:r>
          </a:p>
          <a:p>
            <a:pPr algn="just">
              <a:spcBef>
                <a:spcPts val="750"/>
              </a:spcBef>
              <a:spcAft>
                <a:spcPts val="750"/>
              </a:spcAft>
              <a:buFont typeface="Arial" panose="020B0604020202020204" pitchFamily="34" charset="0"/>
              <a:buChar char="•"/>
            </a:pPr>
            <a:r>
              <a:rPr lang="en-US" sz="2400" b="0" i="0" dirty="0" err="1">
                <a:solidFill>
                  <a:srgbClr val="7030A0"/>
                </a:solidFill>
                <a:effectLst/>
              </a:rPr>
              <a:t>Amazonbot</a:t>
            </a:r>
            <a:r>
              <a:rPr lang="en-US" sz="2400" b="0" i="0" dirty="0">
                <a:effectLst/>
              </a:rPr>
              <a:t> is the Amazon web crawler.</a:t>
            </a:r>
          </a:p>
          <a:p>
            <a:pPr algn="just">
              <a:spcBef>
                <a:spcPts val="750"/>
              </a:spcBef>
              <a:spcAft>
                <a:spcPts val="750"/>
              </a:spcAft>
              <a:buFont typeface="Arial" panose="020B0604020202020204" pitchFamily="34" charset="0"/>
              <a:buChar char="•"/>
            </a:pPr>
            <a:r>
              <a:rPr lang="en-US" sz="2400" b="0" i="0" dirty="0" err="1">
                <a:solidFill>
                  <a:srgbClr val="7030A0"/>
                </a:solidFill>
                <a:effectLst/>
              </a:rPr>
              <a:t>Bingbot</a:t>
            </a:r>
            <a:r>
              <a:rPr lang="en-US" sz="2400" b="0" i="0" dirty="0">
                <a:effectLst/>
              </a:rPr>
              <a:t> is Microsoft's search engine crawler for Bing.</a:t>
            </a:r>
          </a:p>
          <a:p>
            <a:pPr algn="just">
              <a:spcBef>
                <a:spcPts val="750"/>
              </a:spcBef>
              <a:spcAft>
                <a:spcPts val="750"/>
              </a:spcAft>
              <a:buFont typeface="Arial" panose="020B0604020202020204" pitchFamily="34" charset="0"/>
              <a:buChar char="•"/>
            </a:pPr>
            <a:r>
              <a:rPr lang="en-US" sz="2400" b="0" i="0" dirty="0" err="1">
                <a:solidFill>
                  <a:srgbClr val="7030A0"/>
                </a:solidFill>
                <a:effectLst/>
              </a:rPr>
              <a:t>DuckDuckBot</a:t>
            </a:r>
            <a:r>
              <a:rPr lang="en-US" sz="2400" b="0" i="0" dirty="0">
                <a:effectLst/>
              </a:rPr>
              <a:t> is the crawler for the search engine </a:t>
            </a:r>
            <a:r>
              <a:rPr lang="en-US" sz="2400" b="0" i="0" u="sng" dirty="0">
                <a:effectLst/>
                <a:hlinkClick r:id="rId2">
                  <a:extLst>
                    <a:ext uri="{A12FA001-AC4F-418D-AE19-62706E023703}">
                      <ahyp:hlinkClr xmlns:ahyp="http://schemas.microsoft.com/office/drawing/2018/hyperlinkcolor" xmlns="" val="tx"/>
                    </a:ext>
                  </a:extLst>
                </a:hlinkClick>
              </a:rPr>
              <a:t>DuckDuckGo</a:t>
            </a:r>
            <a:r>
              <a:rPr lang="en-US" sz="2400" b="0" i="0" dirty="0">
                <a:effectLst/>
              </a:rPr>
              <a:t>.</a:t>
            </a:r>
          </a:p>
          <a:p>
            <a:pPr algn="just">
              <a:spcBef>
                <a:spcPts val="750"/>
              </a:spcBef>
              <a:spcAft>
                <a:spcPts val="750"/>
              </a:spcAft>
              <a:buFont typeface="Arial" panose="020B0604020202020204" pitchFamily="34" charset="0"/>
              <a:buChar char="•"/>
            </a:pPr>
            <a:r>
              <a:rPr lang="en-US" sz="2400" b="0" i="0" dirty="0">
                <a:solidFill>
                  <a:srgbClr val="7030A0"/>
                </a:solidFill>
                <a:effectLst/>
              </a:rPr>
              <a:t>Googlebot</a:t>
            </a:r>
            <a:r>
              <a:rPr lang="en-US" sz="2400" b="0" i="0" dirty="0">
                <a:effectLst/>
              </a:rPr>
              <a:t> is the crawler for Google's search engine.</a:t>
            </a:r>
          </a:p>
          <a:p>
            <a:pPr algn="just">
              <a:spcBef>
                <a:spcPts val="750"/>
              </a:spcBef>
              <a:spcAft>
                <a:spcPts val="750"/>
              </a:spcAft>
              <a:buFont typeface="Arial" panose="020B0604020202020204" pitchFamily="34" charset="0"/>
              <a:buChar char="•"/>
            </a:pPr>
            <a:r>
              <a:rPr lang="en-US" sz="2400" b="0" i="0" dirty="0">
                <a:solidFill>
                  <a:srgbClr val="7030A0"/>
                </a:solidFill>
                <a:effectLst/>
              </a:rPr>
              <a:t>Yahoo Slurp </a:t>
            </a:r>
            <a:r>
              <a:rPr lang="en-US" sz="2400" b="0" i="0" dirty="0">
                <a:effectLst/>
              </a:rPr>
              <a:t>is the crawler for Yahoo's search engine.</a:t>
            </a:r>
          </a:p>
          <a:p>
            <a:pPr algn="just">
              <a:spcBef>
                <a:spcPts val="750"/>
              </a:spcBef>
              <a:spcAft>
                <a:spcPts val="750"/>
              </a:spcAft>
              <a:buFont typeface="Arial" panose="020B0604020202020204" pitchFamily="34" charset="0"/>
              <a:buChar char="•"/>
            </a:pPr>
            <a:r>
              <a:rPr lang="en-US" sz="2400" b="0" i="0" dirty="0">
                <a:solidFill>
                  <a:srgbClr val="7030A0"/>
                </a:solidFill>
                <a:effectLst/>
              </a:rPr>
              <a:t>Yandex Bot </a:t>
            </a:r>
            <a:r>
              <a:rPr lang="en-US" sz="2400" b="0" i="0" dirty="0">
                <a:effectLst/>
              </a:rPr>
              <a:t>is the crawler for the Yandex search engine.</a:t>
            </a:r>
          </a:p>
          <a:p>
            <a:pPr marL="0" indent="0" algn="just">
              <a:lnSpc>
                <a:spcPct val="100000"/>
              </a:lnSpc>
              <a:spcBef>
                <a:spcPts val="0"/>
              </a:spcBef>
              <a:buNone/>
            </a:pPr>
            <a:endParaRPr lang="en-US" sz="2400" dirty="0"/>
          </a:p>
        </p:txBody>
      </p:sp>
    </p:spTree>
    <p:extLst>
      <p:ext uri="{BB962C8B-B14F-4D97-AF65-F5344CB8AC3E}">
        <p14:creationId xmlns:p14="http://schemas.microsoft.com/office/powerpoint/2010/main" val="562340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B67DD-186D-7D45-1FCC-DA3D7CA713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6B9CB9-F337-6757-780B-357919F98951}"/>
              </a:ext>
            </a:extLst>
          </p:cNvPr>
          <p:cNvSpPr>
            <a:spLocks noGrp="1"/>
          </p:cNvSpPr>
          <p:nvPr>
            <p:ph type="title"/>
          </p:nvPr>
        </p:nvSpPr>
        <p:spPr>
          <a:xfrm>
            <a:off x="838200" y="0"/>
            <a:ext cx="10515600" cy="609600"/>
          </a:xfrm>
        </p:spPr>
        <p:txBody>
          <a:bodyPr>
            <a:normAutofit fontScale="90000"/>
          </a:bodyPr>
          <a:lstStyle/>
          <a:p>
            <a:pPr algn="l" fontAlgn="auto"/>
            <a:r>
              <a:rPr lang="en-US" i="0" dirty="0">
                <a:solidFill>
                  <a:srgbClr val="0070C0"/>
                </a:solidFill>
                <a:effectLst/>
                <a:latin typeface="unset"/>
              </a:rPr>
              <a:t>Challenges of web crawling</a:t>
            </a:r>
            <a:endParaRPr lang="en-US" i="0" dirty="0">
              <a:solidFill>
                <a:srgbClr val="0070C0"/>
              </a:solidFill>
              <a:effectLst/>
              <a:latin typeface="ES Rebond Grotesque"/>
            </a:endParaRPr>
          </a:p>
        </p:txBody>
      </p:sp>
      <p:sp>
        <p:nvSpPr>
          <p:cNvPr id="3" name="Content Placeholder 2">
            <a:extLst>
              <a:ext uri="{FF2B5EF4-FFF2-40B4-BE49-F238E27FC236}">
                <a16:creationId xmlns:a16="http://schemas.microsoft.com/office/drawing/2014/main" id="{2885612C-E87C-3A24-407B-CC9191AD5233}"/>
              </a:ext>
            </a:extLst>
          </p:cNvPr>
          <p:cNvSpPr>
            <a:spLocks noGrp="1"/>
          </p:cNvSpPr>
          <p:nvPr>
            <p:ph idx="1"/>
          </p:nvPr>
        </p:nvSpPr>
        <p:spPr>
          <a:xfrm>
            <a:off x="309880" y="1158240"/>
            <a:ext cx="11729720" cy="5618480"/>
          </a:xfrm>
        </p:spPr>
        <p:txBody>
          <a:bodyPr>
            <a:noAutofit/>
          </a:bodyPr>
          <a:lstStyle/>
          <a:p>
            <a:pPr algn="just" fontAlgn="auto">
              <a:lnSpc>
                <a:spcPct val="100000"/>
              </a:lnSpc>
              <a:spcBef>
                <a:spcPts val="0"/>
              </a:spcBef>
              <a:buFont typeface="Arial" panose="020B0604020202020204" pitchFamily="34" charset="0"/>
              <a:buChar char="•"/>
            </a:pPr>
            <a:r>
              <a:rPr lang="en-US" sz="2400" b="1" i="0" dirty="0">
                <a:solidFill>
                  <a:srgbClr val="25201E"/>
                </a:solidFill>
                <a:effectLst/>
              </a:rPr>
              <a:t>Server load:</a:t>
            </a:r>
            <a:r>
              <a:rPr lang="en-US" sz="2400" b="0" i="0" dirty="0">
                <a:solidFill>
                  <a:srgbClr val="25201E"/>
                </a:solidFill>
                <a:effectLst/>
              </a:rPr>
              <a:t> Frequent crawling can strain your servers with numerous requests, potentially degrading performance for site visitors if left unchecked.</a:t>
            </a:r>
          </a:p>
          <a:p>
            <a:pPr algn="just" fontAlgn="auto">
              <a:lnSpc>
                <a:spcPct val="100000"/>
              </a:lnSpc>
              <a:spcBef>
                <a:spcPts val="0"/>
              </a:spcBef>
              <a:buFont typeface="Arial" panose="020B0604020202020204" pitchFamily="34" charset="0"/>
              <a:buChar char="•"/>
            </a:pPr>
            <a:r>
              <a:rPr lang="en-US" sz="2400" b="1" i="0" dirty="0">
                <a:solidFill>
                  <a:srgbClr val="25201E"/>
                </a:solidFill>
                <a:effectLst/>
              </a:rPr>
              <a:t>Bandwidth consumption:</a:t>
            </a:r>
            <a:r>
              <a:rPr lang="en-US" sz="2400" b="0" i="0" dirty="0">
                <a:solidFill>
                  <a:srgbClr val="25201E"/>
                </a:solidFill>
                <a:effectLst/>
              </a:rPr>
              <a:t> The transmission of crawl data eats up your capacity and resources. </a:t>
            </a:r>
          </a:p>
          <a:p>
            <a:pPr algn="just" fontAlgn="auto">
              <a:lnSpc>
                <a:spcPct val="100000"/>
              </a:lnSpc>
              <a:spcBef>
                <a:spcPts val="0"/>
              </a:spcBef>
              <a:buFont typeface="Arial" panose="020B0604020202020204" pitchFamily="34" charset="0"/>
              <a:buChar char="•"/>
            </a:pPr>
            <a:r>
              <a:rPr lang="en-US" sz="2400" b="1" i="0" dirty="0">
                <a:solidFill>
                  <a:srgbClr val="25201E"/>
                </a:solidFill>
                <a:effectLst/>
              </a:rPr>
              <a:t>Privacy concerns:</a:t>
            </a:r>
            <a:r>
              <a:rPr lang="en-US" sz="2400" b="0" i="0" dirty="0">
                <a:solidFill>
                  <a:srgbClr val="25201E"/>
                </a:solidFill>
                <a:effectLst/>
              </a:rPr>
              <a:t> If crawlers collect and distribute sensitive personal information from your site, they raise issues around data protection.</a:t>
            </a:r>
          </a:p>
          <a:p>
            <a:pPr algn="just" fontAlgn="auto">
              <a:lnSpc>
                <a:spcPct val="100000"/>
              </a:lnSpc>
              <a:spcBef>
                <a:spcPts val="0"/>
              </a:spcBef>
              <a:buFont typeface="Arial" panose="020B0604020202020204" pitchFamily="34" charset="0"/>
              <a:buChar char="•"/>
            </a:pPr>
            <a:r>
              <a:rPr lang="en-US" sz="2400" b="1" i="0" dirty="0">
                <a:solidFill>
                  <a:srgbClr val="25201E"/>
                </a:solidFill>
                <a:effectLst/>
              </a:rPr>
              <a:t>Intellectual property issues:</a:t>
            </a:r>
            <a:r>
              <a:rPr lang="en-US" sz="2400" b="0" i="0" dirty="0">
                <a:solidFill>
                  <a:srgbClr val="25201E"/>
                </a:solidFill>
                <a:effectLst/>
              </a:rPr>
              <a:t> These bots sometimes infringe on copyright by copying and sharing proprietary images, text, or code.</a:t>
            </a:r>
          </a:p>
          <a:p>
            <a:pPr algn="just" fontAlgn="auto">
              <a:lnSpc>
                <a:spcPct val="100000"/>
              </a:lnSpc>
              <a:spcBef>
                <a:spcPts val="0"/>
              </a:spcBef>
              <a:buFont typeface="Arial" panose="020B0604020202020204" pitchFamily="34" charset="0"/>
              <a:buChar char="•"/>
            </a:pPr>
            <a:r>
              <a:rPr lang="en-US" sz="2400" b="1" i="0" dirty="0">
                <a:solidFill>
                  <a:srgbClr val="25201E"/>
                </a:solidFill>
                <a:effectLst/>
              </a:rPr>
              <a:t>Duplicate content:</a:t>
            </a:r>
            <a:r>
              <a:rPr lang="en-US" sz="2400" b="0" i="0" dirty="0">
                <a:solidFill>
                  <a:srgbClr val="25201E"/>
                </a:solidFill>
                <a:effectLst/>
              </a:rPr>
              <a:t> Identical or near-identical pages on across the web present challenges for crawlers to properly distinguish.</a:t>
            </a:r>
          </a:p>
          <a:p>
            <a:pPr algn="just" fontAlgn="auto">
              <a:lnSpc>
                <a:spcPct val="100000"/>
              </a:lnSpc>
              <a:spcBef>
                <a:spcPts val="0"/>
              </a:spcBef>
              <a:buFont typeface="Arial" panose="020B0604020202020204" pitchFamily="34" charset="0"/>
              <a:buChar char="•"/>
            </a:pPr>
            <a:r>
              <a:rPr lang="en-US" sz="2400" b="1" i="0" dirty="0">
                <a:solidFill>
                  <a:srgbClr val="25201E"/>
                </a:solidFill>
                <a:effectLst/>
              </a:rPr>
              <a:t>International and legal considerations:</a:t>
            </a:r>
            <a:r>
              <a:rPr lang="en-US" sz="2400" b="0" i="0" dirty="0">
                <a:solidFill>
                  <a:srgbClr val="25201E"/>
                </a:solidFill>
                <a:effectLst/>
              </a:rPr>
              <a:t> Regulations differ globally, so crawlers need </a:t>
            </a:r>
            <a:r>
              <a:rPr lang="en-US" sz="2400" b="0" i="0" u="sng" dirty="0">
                <a:solidFill>
                  <a:srgbClr val="0C44DA"/>
                </a:solidFill>
                <a:effectLst/>
                <a:hlinkClick r:id="rId2"/>
              </a:rPr>
              <a:t>policies respecting local jurisdiction</a:t>
            </a:r>
            <a:r>
              <a:rPr lang="en-US" sz="2400" b="0" i="0" dirty="0">
                <a:solidFill>
                  <a:srgbClr val="25201E"/>
                </a:solidFill>
                <a:effectLst/>
              </a:rPr>
              <a:t> over data practices and ownership rights.</a:t>
            </a:r>
          </a:p>
        </p:txBody>
      </p:sp>
    </p:spTree>
    <p:extLst>
      <p:ext uri="{BB962C8B-B14F-4D97-AF65-F5344CB8AC3E}">
        <p14:creationId xmlns:p14="http://schemas.microsoft.com/office/powerpoint/2010/main" val="21528531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BD61D-5074-EE6C-797E-9A6E8D47F5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E6E7E7-D9F7-5328-F390-F29A187F8203}"/>
              </a:ext>
            </a:extLst>
          </p:cNvPr>
          <p:cNvSpPr>
            <a:spLocks noGrp="1"/>
          </p:cNvSpPr>
          <p:nvPr>
            <p:ph type="title"/>
          </p:nvPr>
        </p:nvSpPr>
        <p:spPr>
          <a:xfrm>
            <a:off x="838200" y="0"/>
            <a:ext cx="10515600" cy="609600"/>
          </a:xfrm>
        </p:spPr>
        <p:txBody>
          <a:bodyPr>
            <a:noAutofit/>
          </a:bodyPr>
          <a:lstStyle/>
          <a:p>
            <a:pPr algn="ctr"/>
            <a:r>
              <a:rPr lang="en-IN" sz="4000" dirty="0">
                <a:solidFill>
                  <a:srgbClr val="0070C0"/>
                </a:solidFill>
                <a:effectLst/>
                <a:latin typeface="Times New Roman" panose="02020603050405020304" pitchFamily="18" charset="0"/>
                <a:ea typeface="Calibri" panose="020F0502020204030204" pitchFamily="34" charset="0"/>
              </a:rPr>
              <a:t>Writing first crawler</a:t>
            </a:r>
            <a:endParaRPr lang="en-IN" sz="4000" b="1" dirty="0">
              <a:solidFill>
                <a:srgbClr val="0070C0"/>
              </a:solidFill>
            </a:endParaRPr>
          </a:p>
        </p:txBody>
      </p:sp>
      <p:sp>
        <p:nvSpPr>
          <p:cNvPr id="3" name="Content Placeholder 2">
            <a:extLst>
              <a:ext uri="{FF2B5EF4-FFF2-40B4-BE49-F238E27FC236}">
                <a16:creationId xmlns:a16="http://schemas.microsoft.com/office/drawing/2014/main" id="{ABD7CB15-91DE-4B68-D4F1-6EFDCC8EF97C}"/>
              </a:ext>
            </a:extLst>
          </p:cNvPr>
          <p:cNvSpPr>
            <a:spLocks noGrp="1"/>
          </p:cNvSpPr>
          <p:nvPr>
            <p:ph idx="1"/>
          </p:nvPr>
        </p:nvSpPr>
        <p:spPr>
          <a:xfrm>
            <a:off x="35561" y="802640"/>
            <a:ext cx="11729720" cy="5933440"/>
          </a:xfrm>
        </p:spPr>
        <p:txBody>
          <a:bodyPr>
            <a:noAutofit/>
          </a:bodyPr>
          <a:lstStyle/>
          <a:p>
            <a:pPr marL="0" indent="0" algn="just">
              <a:lnSpc>
                <a:spcPct val="100000"/>
              </a:lnSpc>
              <a:spcBef>
                <a:spcPts val="0"/>
              </a:spcBef>
              <a:buNone/>
            </a:pP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import requests</a:t>
            </a:r>
          </a:p>
          <a:p>
            <a:pPr marL="0" indent="0" algn="just">
              <a:lnSpc>
                <a:spcPct val="100000"/>
              </a:lnSpc>
              <a:spcBef>
                <a:spcPts val="0"/>
              </a:spcBef>
              <a:buNone/>
            </a:pP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from bs4 import </a:t>
            </a:r>
            <a:r>
              <a:rPr lang="en-US" sz="1800" b="0" i="0" dirty="0" err="1">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BeautifulSoup</a:t>
            </a:r>
            <a:endPar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endParaRPr>
          </a:p>
          <a:p>
            <a:pPr marL="0" indent="0" algn="just">
              <a:lnSpc>
                <a:spcPct val="100000"/>
              </a:lnSpc>
              <a:spcBef>
                <a:spcPts val="0"/>
              </a:spcBef>
              <a:buNone/>
            </a:pPr>
            <a:endPar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endParaRPr>
          </a:p>
          <a:p>
            <a:pPr marL="0" indent="0" algn="just">
              <a:lnSpc>
                <a:spcPct val="100000"/>
              </a:lnSpc>
              <a:spcBef>
                <a:spcPts val="0"/>
              </a:spcBef>
              <a:buNone/>
            </a:pP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def </a:t>
            </a:r>
            <a:r>
              <a:rPr lang="en-US" sz="1800" b="0" i="0" dirty="0" err="1">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simple_crawler</a:t>
            </a: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800" b="0" i="0" dirty="0" err="1">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url</a:t>
            </a: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lnSpc>
                <a:spcPct val="100000"/>
              </a:lnSpc>
              <a:spcBef>
                <a:spcPts val="0"/>
              </a:spcBef>
              <a:buNone/>
            </a:pP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    response = </a:t>
            </a:r>
            <a:r>
              <a:rPr lang="en-US" sz="1800" b="0" i="0" dirty="0" err="1">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requests.get</a:t>
            </a: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800" b="0" i="0" dirty="0" err="1">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url</a:t>
            </a: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lnSpc>
                <a:spcPct val="100000"/>
              </a:lnSpc>
              <a:spcBef>
                <a:spcPts val="0"/>
              </a:spcBef>
              <a:buNone/>
            </a:pP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    soup = </a:t>
            </a:r>
            <a:r>
              <a:rPr lang="en-US" sz="1800" b="0" i="0" dirty="0" err="1">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BeautifulSoup</a:t>
            </a: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800" b="0" i="0" dirty="0" err="1">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response.text</a:t>
            </a: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800" b="0" i="0" dirty="0" err="1">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html.parser</a:t>
            </a: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lnSpc>
                <a:spcPct val="100000"/>
              </a:lnSpc>
              <a:spcBef>
                <a:spcPts val="0"/>
              </a:spcBef>
              <a:buNone/>
            </a:pP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    links = set()</a:t>
            </a:r>
          </a:p>
          <a:p>
            <a:pPr marL="0" indent="0" algn="just">
              <a:lnSpc>
                <a:spcPct val="100000"/>
              </a:lnSpc>
              <a:spcBef>
                <a:spcPts val="0"/>
              </a:spcBef>
              <a:buNone/>
            </a:pP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    for link in </a:t>
            </a:r>
            <a:r>
              <a:rPr lang="en-US" sz="1800" b="0" i="0" dirty="0" err="1">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soup.find_all</a:t>
            </a: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('a'):</a:t>
            </a:r>
          </a:p>
          <a:p>
            <a:pPr marL="0" indent="0" algn="just">
              <a:lnSpc>
                <a:spcPct val="100000"/>
              </a:lnSpc>
              <a:spcBef>
                <a:spcPts val="0"/>
              </a:spcBef>
              <a:buNone/>
            </a:pP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800" b="0" i="0" dirty="0" err="1">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links.add</a:t>
            </a: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800" b="0" i="0" dirty="0" err="1">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link.get</a:t>
            </a: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800" b="0" i="0" dirty="0" err="1">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href</a:t>
            </a: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a:t>
            </a:r>
          </a:p>
          <a:p>
            <a:pPr marL="0" indent="0" algn="just">
              <a:lnSpc>
                <a:spcPct val="100000"/>
              </a:lnSpc>
              <a:spcBef>
                <a:spcPts val="0"/>
              </a:spcBef>
              <a:buNone/>
            </a:pP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        </a:t>
            </a:r>
          </a:p>
          <a:p>
            <a:pPr marL="0" indent="0" algn="just">
              <a:lnSpc>
                <a:spcPct val="100000"/>
              </a:lnSpc>
              <a:spcBef>
                <a:spcPts val="0"/>
              </a:spcBef>
              <a:buNone/>
            </a:pP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    print(</a:t>
            </a:r>
            <a:r>
              <a:rPr lang="en-US" sz="1800" b="0" i="0" dirty="0" err="1">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f"Found</a:t>
            </a: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 {len(links)} links:")   </a:t>
            </a:r>
          </a:p>
          <a:p>
            <a:pPr marL="0" indent="0" algn="just">
              <a:lnSpc>
                <a:spcPct val="100000"/>
              </a:lnSpc>
              <a:spcBef>
                <a:spcPts val="0"/>
              </a:spcBef>
              <a:buNone/>
            </a:pP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    for link in links:   </a:t>
            </a:r>
          </a:p>
          <a:p>
            <a:pPr marL="0" indent="0" algn="just">
              <a:lnSpc>
                <a:spcPct val="100000"/>
              </a:lnSpc>
              <a:spcBef>
                <a:spcPts val="0"/>
              </a:spcBef>
              <a:buNone/>
            </a:pP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        print(link)</a:t>
            </a:r>
          </a:p>
          <a:p>
            <a:pPr marL="0" indent="0" algn="just">
              <a:lnSpc>
                <a:spcPct val="100000"/>
              </a:lnSpc>
              <a:spcBef>
                <a:spcPts val="0"/>
              </a:spcBef>
              <a:buNone/>
            </a:pPr>
            <a:endPar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endParaRPr>
          </a:p>
          <a:p>
            <a:pPr marL="0" indent="0" algn="just">
              <a:lnSpc>
                <a:spcPct val="100000"/>
              </a:lnSpc>
              <a:spcBef>
                <a:spcPts val="0"/>
              </a:spcBef>
              <a:buNone/>
            </a:pPr>
            <a:r>
              <a:rPr lang="en-US" sz="1800" b="0" i="0" dirty="0" err="1">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simple_crawler</a:t>
            </a: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('https://www.geeksforgeeks.org/')</a:t>
            </a:r>
            <a:endParaRPr lang="en-US" sz="1800" dirty="0">
              <a:latin typeface="Cascadia Code" panose="020B0609020000020004" pitchFamily="49" charset="0"/>
              <a:ea typeface="Cascadia Code" panose="020B0609020000020004" pitchFamily="49" charset="0"/>
              <a:cs typeface="Cascadia Code" panose="020B0609020000020004" pitchFamily="49" charset="0"/>
            </a:endParaRPr>
          </a:p>
        </p:txBody>
      </p:sp>
      <p:sp>
        <p:nvSpPr>
          <p:cNvPr id="6" name="TextBox 5">
            <a:extLst>
              <a:ext uri="{FF2B5EF4-FFF2-40B4-BE49-F238E27FC236}">
                <a16:creationId xmlns:a16="http://schemas.microsoft.com/office/drawing/2014/main" id="{3EC8952D-B700-0E20-2EA6-976DB14B2FF1}"/>
              </a:ext>
            </a:extLst>
          </p:cNvPr>
          <p:cNvSpPr txBox="1"/>
          <p:nvPr/>
        </p:nvSpPr>
        <p:spPr>
          <a:xfrm>
            <a:off x="7538720" y="4549676"/>
            <a:ext cx="4617719" cy="230832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rgbClr val="FF0000"/>
                </a:solidFill>
                <a:effectLst/>
                <a:latin typeface="Cascadia Code" panose="020B0609020000020004" pitchFamily="49" charset="0"/>
                <a:ea typeface="Cascadia Code" panose="020B0609020000020004" pitchFamily="49" charset="0"/>
                <a:cs typeface="Cascadia Code" panose="020B0609020000020004" pitchFamily="49" charset="0"/>
              </a:rPr>
              <a:t>Code Explanation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Fetches a page with </a:t>
            </a:r>
            <a:r>
              <a:rPr kumimoji="0" lang="en-US" altLang="en-US" b="0" i="0" u="none" strike="noStrike" cap="none" normalizeH="0" baseline="0" dirty="0">
                <a:ln>
                  <a:noFill/>
                </a:ln>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requests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Parses it using</a:t>
            </a:r>
            <a:r>
              <a:rPr lang="en-US" sz="1800" b="0" i="0" dirty="0">
                <a:solidFill>
                  <a:srgbClr val="111111"/>
                </a:solidFill>
                <a:effectLst/>
                <a:latin typeface="Cascadia Code" panose="020B0609020000020004" pitchFamily="49" charset="0"/>
                <a:ea typeface="Cascadia Code" panose="020B0609020000020004" pitchFamily="49" charset="0"/>
                <a:cs typeface="Cascadia Code" panose="020B0609020000020004" pitchFamily="49" charset="0"/>
              </a:rPr>
              <a:t> </a:t>
            </a:r>
            <a:r>
              <a:rPr lang="en-US" sz="1800" b="0" i="0" dirty="0">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a:t>
            </a:r>
            <a:r>
              <a:rPr lang="en-US" sz="1800" b="0" i="0" dirty="0" err="1">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html.parser</a:t>
            </a:r>
            <a:r>
              <a:rPr lang="en-US" sz="1800" b="0" i="0" dirty="0">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 of </a:t>
            </a:r>
            <a:r>
              <a:rPr kumimoji="0" lang="en-US" altLang="en-US" b="0" i="0" u="none" strike="noStrike" cap="none" normalizeH="0" baseline="0" dirty="0">
                <a:ln>
                  <a:noFill/>
                </a:ln>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 </a:t>
            </a:r>
            <a:r>
              <a:rPr kumimoji="0" lang="en-US" altLang="en-US" b="0" i="0" u="none" strike="noStrike" cap="none" normalizeH="0" baseline="0" dirty="0" err="1">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BeautifulSoup</a:t>
            </a:r>
            <a:endParaRPr kumimoji="0" lang="en-US" altLang="en-US" b="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Collects all </a:t>
            </a:r>
            <a:r>
              <a:rPr kumimoji="0" lang="en-US" altLang="en-US" b="0" i="0" u="none" strike="noStrike" cap="none" normalizeH="0" baseline="0" dirty="0">
                <a:ln>
                  <a:noFill/>
                </a:ln>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&lt;a&gt;</a:t>
            </a:r>
            <a:r>
              <a:rPr kumimoji="0" lang="en-US" altLang="en-US" b="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 tags and grabs their </a:t>
            </a:r>
            <a:r>
              <a:rPr kumimoji="0" lang="en-US" altLang="en-US" b="0" i="0" u="none" strike="noStrike" cap="none" normalizeH="0" baseline="0" dirty="0" err="1">
                <a:ln>
                  <a:noFill/>
                </a:ln>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href</a:t>
            </a:r>
            <a:endParaRPr kumimoji="0" lang="en-US" altLang="en-US" b="0" i="0" u="none" strike="noStrike" cap="none" normalizeH="0" baseline="0" dirty="0">
              <a:ln>
                <a:noFill/>
              </a:ln>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Stores unique links in a </a:t>
            </a:r>
            <a:r>
              <a:rPr kumimoji="0" lang="en-US" altLang="en-US" b="0" i="0" u="none" strike="noStrike" cap="none" normalizeH="0" baseline="0" dirty="0">
                <a:ln>
                  <a:noFill/>
                </a:ln>
                <a:solidFill>
                  <a:srgbClr val="7030A0"/>
                </a:solidFill>
                <a:effectLst/>
                <a:latin typeface="Cascadia Code" panose="020B0609020000020004" pitchFamily="49" charset="0"/>
                <a:ea typeface="Cascadia Code" panose="020B0609020000020004" pitchFamily="49" charset="0"/>
                <a:cs typeface="Cascadia Code" panose="020B0609020000020004" pitchFamily="49" charset="0"/>
              </a:rPr>
              <a:t>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Cascadia Code" panose="020B0609020000020004" pitchFamily="49" charset="0"/>
                <a:ea typeface="Cascadia Code" panose="020B0609020000020004" pitchFamily="49" charset="0"/>
                <a:cs typeface="Cascadia Code" panose="020B0609020000020004" pitchFamily="49" charset="0"/>
              </a:rPr>
              <a:t>Prints them nicely</a:t>
            </a:r>
          </a:p>
        </p:txBody>
      </p:sp>
    </p:spTree>
    <p:extLst>
      <p:ext uri="{BB962C8B-B14F-4D97-AF65-F5344CB8AC3E}">
        <p14:creationId xmlns:p14="http://schemas.microsoft.com/office/powerpoint/2010/main" val="27550448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11A06-16C2-80F5-A7B3-A7DA2A70EE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082F62-8368-48EC-206B-6D392C9D9ADC}"/>
              </a:ext>
            </a:extLst>
          </p:cNvPr>
          <p:cNvSpPr>
            <a:spLocks noGrp="1"/>
          </p:cNvSpPr>
          <p:nvPr>
            <p:ph type="title"/>
          </p:nvPr>
        </p:nvSpPr>
        <p:spPr>
          <a:xfrm>
            <a:off x="838200" y="0"/>
            <a:ext cx="10515600" cy="609600"/>
          </a:xfrm>
        </p:spPr>
        <p:txBody>
          <a:bodyPr>
            <a:noAutofit/>
          </a:bodyPr>
          <a:lstStyle/>
          <a:p>
            <a:pPr algn="ctr"/>
            <a:r>
              <a:rPr lang="en-US" sz="4000" dirty="0">
                <a:solidFill>
                  <a:srgbClr val="0070C0"/>
                </a:solidFill>
              </a:rPr>
              <a:t>Scrapy</a:t>
            </a:r>
            <a:endParaRPr lang="en-IN" sz="4000" b="1" dirty="0">
              <a:solidFill>
                <a:srgbClr val="0070C0"/>
              </a:solidFill>
            </a:endParaRPr>
          </a:p>
        </p:txBody>
      </p:sp>
      <p:sp>
        <p:nvSpPr>
          <p:cNvPr id="3" name="Content Placeholder 2">
            <a:extLst>
              <a:ext uri="{FF2B5EF4-FFF2-40B4-BE49-F238E27FC236}">
                <a16:creationId xmlns:a16="http://schemas.microsoft.com/office/drawing/2014/main" id="{E4516841-BC59-3436-04CA-562A4C1F2AFC}"/>
              </a:ext>
            </a:extLst>
          </p:cNvPr>
          <p:cNvSpPr>
            <a:spLocks noGrp="1"/>
          </p:cNvSpPr>
          <p:nvPr>
            <p:ph idx="1"/>
          </p:nvPr>
        </p:nvSpPr>
        <p:spPr>
          <a:xfrm>
            <a:off x="309880" y="843280"/>
            <a:ext cx="11729720" cy="5933440"/>
          </a:xfrm>
        </p:spPr>
        <p:txBody>
          <a:bodyPr>
            <a:noAutofit/>
          </a:bodyPr>
          <a:lstStyle/>
          <a:p>
            <a:pPr algn="just">
              <a:lnSpc>
                <a:spcPct val="100000"/>
              </a:lnSpc>
              <a:spcBef>
                <a:spcPts val="0"/>
              </a:spcBef>
            </a:pPr>
            <a:r>
              <a:rPr lang="en-US" sz="2400" b="0" i="0" dirty="0">
                <a:effectLst/>
              </a:rPr>
              <a:t>Scrapy is a fast high-level </a:t>
            </a:r>
            <a:r>
              <a:rPr lang="en-US" sz="2400" b="0" i="0" u="none" strike="noStrike" dirty="0">
                <a:effectLst/>
                <a:hlinkClick r:id="rId2">
                  <a:extLst>
                    <a:ext uri="{A12FA001-AC4F-418D-AE19-62706E023703}">
                      <ahyp:hlinkClr xmlns:ahyp="http://schemas.microsoft.com/office/drawing/2018/hyperlinkcolor" xmlns="" val="tx"/>
                    </a:ext>
                  </a:extLst>
                </a:hlinkClick>
              </a:rPr>
              <a:t>web crawling</a:t>
            </a:r>
            <a:r>
              <a:rPr lang="en-US" sz="2400" b="0" i="0" dirty="0">
                <a:effectLst/>
              </a:rPr>
              <a:t> and </a:t>
            </a:r>
            <a:r>
              <a:rPr lang="en-US" sz="2400" b="0" i="0" u="none" strike="noStrike" dirty="0">
                <a:effectLst/>
                <a:hlinkClick r:id="rId3">
                  <a:extLst>
                    <a:ext uri="{A12FA001-AC4F-418D-AE19-62706E023703}">
                      <ahyp:hlinkClr xmlns:ahyp="http://schemas.microsoft.com/office/drawing/2018/hyperlinkcolor" xmlns="" val="tx"/>
                    </a:ext>
                  </a:extLst>
                </a:hlinkClick>
              </a:rPr>
              <a:t>web scraping</a:t>
            </a:r>
            <a:r>
              <a:rPr lang="en-US" sz="2400" b="0" i="0" dirty="0">
                <a:effectLst/>
              </a:rPr>
              <a:t> framework, used to crawl websites and extract structured data from their pages.</a:t>
            </a:r>
          </a:p>
          <a:p>
            <a:pPr algn="just">
              <a:lnSpc>
                <a:spcPct val="100000"/>
              </a:lnSpc>
              <a:spcBef>
                <a:spcPts val="0"/>
              </a:spcBef>
            </a:pPr>
            <a:r>
              <a:rPr lang="en-US" sz="2400" dirty="0"/>
              <a:t>It's widely used for extracting data from websites and can handle more complex tasks compared to basic libraries like </a:t>
            </a:r>
            <a:r>
              <a:rPr lang="en-US" sz="2400" dirty="0" err="1"/>
              <a:t>BeautifulSoup</a:t>
            </a:r>
            <a:r>
              <a:rPr lang="en-US" sz="2400" dirty="0"/>
              <a:t>.</a:t>
            </a:r>
          </a:p>
          <a:p>
            <a:pPr algn="just">
              <a:lnSpc>
                <a:spcPct val="100000"/>
              </a:lnSpc>
              <a:spcBef>
                <a:spcPts val="0"/>
              </a:spcBef>
            </a:pPr>
            <a:r>
              <a:rPr lang="en-US" sz="2400" b="0" i="0" dirty="0">
                <a:effectLst/>
              </a:rPr>
              <a:t>Scrapy is written in </a:t>
            </a:r>
            <a:r>
              <a:rPr lang="en-US" sz="2400" b="0" i="0" u="none" strike="noStrike" dirty="0">
                <a:effectLst/>
                <a:hlinkClick r:id="rId4">
                  <a:extLst>
                    <a:ext uri="{A12FA001-AC4F-418D-AE19-62706E023703}">
                      <ahyp:hlinkClr xmlns:ahyp="http://schemas.microsoft.com/office/drawing/2018/hyperlinkcolor" xmlns="" val="tx"/>
                    </a:ext>
                  </a:extLst>
                </a:hlinkClick>
              </a:rPr>
              <a:t>Python</a:t>
            </a:r>
            <a:endParaRPr lang="en-US" sz="2400" b="0" i="0" u="none" strike="noStrike" dirty="0">
              <a:effectLst/>
            </a:endParaRPr>
          </a:p>
          <a:p>
            <a:pPr algn="just">
              <a:lnSpc>
                <a:spcPct val="100000"/>
              </a:lnSpc>
              <a:spcBef>
                <a:spcPts val="0"/>
              </a:spcBef>
            </a:pPr>
            <a:endParaRPr lang="en-US" sz="1600" dirty="0">
              <a:solidFill>
                <a:srgbClr val="2980B9"/>
              </a:solidFill>
              <a:latin typeface="Lato" panose="020F0502020204030203" pitchFamily="34" charset="0"/>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28860239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D9742-CC3D-7E3E-38E9-F1166C4969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D0B256-2A3F-B647-5286-423D775A402E}"/>
              </a:ext>
            </a:extLst>
          </p:cNvPr>
          <p:cNvSpPr>
            <a:spLocks noGrp="1"/>
          </p:cNvSpPr>
          <p:nvPr>
            <p:ph type="title"/>
          </p:nvPr>
        </p:nvSpPr>
        <p:spPr>
          <a:xfrm>
            <a:off x="838200" y="0"/>
            <a:ext cx="10515600" cy="609600"/>
          </a:xfrm>
        </p:spPr>
        <p:txBody>
          <a:bodyPr>
            <a:noAutofit/>
          </a:bodyPr>
          <a:lstStyle/>
          <a:p>
            <a:pPr algn="ctr"/>
            <a:r>
              <a:rPr lang="en-IN" sz="4000" dirty="0">
                <a:solidFill>
                  <a:srgbClr val="0070C0"/>
                </a:solidFill>
              </a:rPr>
              <a:t>Architecture of Scrapy</a:t>
            </a:r>
            <a:endParaRPr lang="en-IN" sz="4000" b="1" dirty="0">
              <a:solidFill>
                <a:srgbClr val="0070C0"/>
              </a:solidFill>
            </a:endParaRPr>
          </a:p>
        </p:txBody>
      </p:sp>
      <p:pic>
        <p:nvPicPr>
          <p:cNvPr id="5" name="Content Placeholder 4">
            <a:extLst>
              <a:ext uri="{FF2B5EF4-FFF2-40B4-BE49-F238E27FC236}">
                <a16:creationId xmlns:a16="http://schemas.microsoft.com/office/drawing/2014/main" id="{7EBFA024-D6A5-0D03-F3B4-8F5D4DD988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122160" y="1633958"/>
            <a:ext cx="5069840" cy="3649559"/>
          </a:xfrm>
        </p:spPr>
      </p:pic>
      <p:sp>
        <p:nvSpPr>
          <p:cNvPr id="9" name="TextBox 8">
            <a:extLst>
              <a:ext uri="{FF2B5EF4-FFF2-40B4-BE49-F238E27FC236}">
                <a16:creationId xmlns:a16="http://schemas.microsoft.com/office/drawing/2014/main" id="{E9344505-8D35-8B28-70E6-06F0B8C2598B}"/>
              </a:ext>
            </a:extLst>
          </p:cNvPr>
          <p:cNvSpPr txBox="1"/>
          <p:nvPr/>
        </p:nvSpPr>
        <p:spPr>
          <a:xfrm>
            <a:off x="233680" y="636131"/>
            <a:ext cx="6888480" cy="5847755"/>
          </a:xfrm>
          <a:prstGeom prst="rect">
            <a:avLst/>
          </a:prstGeom>
          <a:noFill/>
        </p:spPr>
        <p:txBody>
          <a:bodyPr wrap="square">
            <a:spAutoFit/>
          </a:bodyPr>
          <a:lstStyle/>
          <a:p>
            <a:pPr algn="just">
              <a:buNone/>
            </a:pPr>
            <a:r>
              <a:rPr lang="en-US" sz="2200" b="1" dirty="0">
                <a:solidFill>
                  <a:srgbClr val="FF0000"/>
                </a:solidFill>
              </a:rPr>
              <a:t>Components</a:t>
            </a:r>
          </a:p>
          <a:p>
            <a:pPr algn="just">
              <a:buNone/>
            </a:pPr>
            <a:r>
              <a:rPr lang="en-US" sz="2200" b="1" dirty="0"/>
              <a:t>Scrapy Engine</a:t>
            </a:r>
          </a:p>
          <a:p>
            <a:pPr marL="342900" indent="-342900" algn="just">
              <a:buFont typeface="Arial" panose="020B0604020202020204" pitchFamily="34" charset="0"/>
              <a:buChar char="•"/>
            </a:pPr>
            <a:r>
              <a:rPr lang="en-US" sz="2200" dirty="0"/>
              <a:t>The engine is responsible for controlling the data flow between all components of the system.</a:t>
            </a:r>
          </a:p>
          <a:p>
            <a:pPr algn="just">
              <a:buNone/>
            </a:pPr>
            <a:r>
              <a:rPr lang="en-US" sz="2200" b="1" dirty="0"/>
              <a:t>Scheduler</a:t>
            </a:r>
          </a:p>
          <a:p>
            <a:pPr marL="342900" indent="-342900" algn="just">
              <a:buFont typeface="Arial" panose="020B0604020202020204" pitchFamily="34" charset="0"/>
              <a:buChar char="•"/>
            </a:pPr>
            <a:r>
              <a:rPr lang="en-US" sz="2200" dirty="0"/>
              <a:t>The Scheduler receives requests from the engine and enqueues them’</a:t>
            </a:r>
          </a:p>
          <a:p>
            <a:pPr marL="342900" indent="-342900" algn="just">
              <a:buFont typeface="Arial" panose="020B0604020202020204" pitchFamily="34" charset="0"/>
              <a:buChar char="•"/>
            </a:pPr>
            <a:r>
              <a:rPr lang="en-US" sz="2200" b="0" i="0" dirty="0">
                <a:solidFill>
                  <a:srgbClr val="242424"/>
                </a:solidFill>
                <a:effectLst/>
              </a:rPr>
              <a:t>Later on, when the engine requests them, the scheduler is responsible for feeding them</a:t>
            </a:r>
            <a:endParaRPr lang="en-US" sz="2200" dirty="0"/>
          </a:p>
          <a:p>
            <a:pPr algn="just">
              <a:buNone/>
            </a:pPr>
            <a:r>
              <a:rPr lang="en-US" sz="2200" b="1" dirty="0"/>
              <a:t>Downloader</a:t>
            </a:r>
          </a:p>
          <a:p>
            <a:pPr marL="342900" indent="-342900" algn="just">
              <a:buFont typeface="Arial" panose="020B0604020202020204" pitchFamily="34" charset="0"/>
              <a:buChar char="•"/>
            </a:pPr>
            <a:r>
              <a:rPr lang="en-US" sz="2200" dirty="0"/>
              <a:t>The Downloader is responsible for fetching web pages and feeding them to the engine which, in turn, feeds them to the spiders.</a:t>
            </a:r>
          </a:p>
          <a:p>
            <a:pPr algn="just">
              <a:buNone/>
            </a:pPr>
            <a:r>
              <a:rPr lang="en-US" sz="2200" b="1" dirty="0"/>
              <a:t>Spiders</a:t>
            </a:r>
          </a:p>
          <a:p>
            <a:pPr marL="342900" indent="-342900" algn="just">
              <a:buFont typeface="Arial" panose="020B0604020202020204" pitchFamily="34" charset="0"/>
              <a:buChar char="•"/>
            </a:pPr>
            <a:r>
              <a:rPr lang="en-US" sz="2200" b="0" i="0" dirty="0">
                <a:solidFill>
                  <a:srgbClr val="242424"/>
                </a:solidFill>
                <a:effectLst/>
              </a:rPr>
              <a:t>Spiders are custom classes written by users to extract relevant information from the fetched web pages.</a:t>
            </a:r>
          </a:p>
          <a:p>
            <a:pPr>
              <a:buNone/>
            </a:pPr>
            <a:endParaRPr lang="en-US" sz="2200" dirty="0"/>
          </a:p>
        </p:txBody>
      </p:sp>
    </p:spTree>
    <p:extLst>
      <p:ext uri="{BB962C8B-B14F-4D97-AF65-F5344CB8AC3E}">
        <p14:creationId xmlns:p14="http://schemas.microsoft.com/office/powerpoint/2010/main" val="3544079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EE5D4-F08C-65A9-0B77-E41F66369B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5226B2-217E-CB6C-3D8C-D156A633F0AF}"/>
              </a:ext>
            </a:extLst>
          </p:cNvPr>
          <p:cNvSpPr>
            <a:spLocks noGrp="1"/>
          </p:cNvSpPr>
          <p:nvPr>
            <p:ph type="title"/>
          </p:nvPr>
        </p:nvSpPr>
        <p:spPr>
          <a:xfrm>
            <a:off x="838200" y="0"/>
            <a:ext cx="10515600" cy="609600"/>
          </a:xfrm>
        </p:spPr>
        <p:txBody>
          <a:bodyPr>
            <a:noAutofit/>
          </a:bodyPr>
          <a:lstStyle/>
          <a:p>
            <a:pPr algn="ctr"/>
            <a:r>
              <a:rPr lang="en-IN" sz="4000" dirty="0">
                <a:solidFill>
                  <a:srgbClr val="0070C0"/>
                </a:solidFill>
              </a:rPr>
              <a:t>Architecture of Scrapy</a:t>
            </a:r>
            <a:endParaRPr lang="en-IN" sz="4000" b="1" dirty="0">
              <a:solidFill>
                <a:srgbClr val="0070C0"/>
              </a:solidFill>
            </a:endParaRPr>
          </a:p>
        </p:txBody>
      </p:sp>
      <p:sp>
        <p:nvSpPr>
          <p:cNvPr id="7" name="TextBox 6">
            <a:extLst>
              <a:ext uri="{FF2B5EF4-FFF2-40B4-BE49-F238E27FC236}">
                <a16:creationId xmlns:a16="http://schemas.microsoft.com/office/drawing/2014/main" id="{B0F9E04E-C2EE-31A5-EF00-813CF7269498}"/>
              </a:ext>
            </a:extLst>
          </p:cNvPr>
          <p:cNvSpPr txBox="1"/>
          <p:nvPr/>
        </p:nvSpPr>
        <p:spPr>
          <a:xfrm>
            <a:off x="208280" y="974705"/>
            <a:ext cx="11775440" cy="4154984"/>
          </a:xfrm>
          <a:prstGeom prst="rect">
            <a:avLst/>
          </a:prstGeom>
          <a:noFill/>
        </p:spPr>
        <p:txBody>
          <a:bodyPr wrap="square">
            <a:spAutoFit/>
          </a:bodyPr>
          <a:lstStyle/>
          <a:p>
            <a:pPr>
              <a:buNone/>
            </a:pPr>
            <a:r>
              <a:rPr lang="en-US" sz="2400" b="1" dirty="0"/>
              <a:t>Item Pipeline</a:t>
            </a:r>
          </a:p>
          <a:p>
            <a:pPr marL="342900" indent="-342900">
              <a:buFont typeface="Arial" panose="020B0604020202020204" pitchFamily="34" charset="0"/>
              <a:buChar char="•"/>
            </a:pPr>
            <a:r>
              <a:rPr lang="en-US" sz="2400" dirty="0"/>
              <a:t>The Item Pipeline is responsible for processing the items once they have been extracted (or scraped) by the spiders. </a:t>
            </a:r>
          </a:p>
          <a:p>
            <a:pPr>
              <a:buFont typeface="Arial" panose="020B0604020202020204" pitchFamily="34" charset="0"/>
              <a:buChar char="•"/>
            </a:pPr>
            <a:r>
              <a:rPr lang="en-US" sz="2400" dirty="0"/>
              <a:t>cleansing HTML data, validating scraped data, checking for duplicates ,storing the scraped item in a database</a:t>
            </a:r>
          </a:p>
          <a:p>
            <a:pPr algn="just">
              <a:buNone/>
            </a:pPr>
            <a:r>
              <a:rPr lang="en-US" sz="2400" b="1" dirty="0"/>
              <a:t>Downloader </a:t>
            </a:r>
            <a:r>
              <a:rPr lang="en-US" sz="2400" b="1" dirty="0" err="1"/>
              <a:t>middlewares</a:t>
            </a:r>
            <a:endParaRPr lang="en-US" sz="2400" b="1" dirty="0"/>
          </a:p>
          <a:p>
            <a:pPr marL="342900" indent="-342900" algn="just">
              <a:buFont typeface="Arial" panose="020B0604020202020204" pitchFamily="34" charset="0"/>
              <a:buChar char="•"/>
            </a:pPr>
            <a:r>
              <a:rPr lang="en-US" sz="2400" dirty="0"/>
              <a:t>Downloader </a:t>
            </a:r>
            <a:r>
              <a:rPr lang="en-US" sz="2400" dirty="0" err="1"/>
              <a:t>middlewares</a:t>
            </a:r>
            <a:r>
              <a:rPr lang="en-US" sz="2400" dirty="0"/>
              <a:t> are specific hooks that sit between the Engine and the Downloader. </a:t>
            </a:r>
          </a:p>
          <a:p>
            <a:pPr algn="just">
              <a:buNone/>
            </a:pPr>
            <a:r>
              <a:rPr lang="en-US" sz="2400" b="1" dirty="0"/>
              <a:t>Spider </a:t>
            </a:r>
            <a:r>
              <a:rPr lang="en-US" sz="2400" b="1" dirty="0" err="1"/>
              <a:t>middlewares</a:t>
            </a:r>
            <a:endParaRPr lang="en-US" sz="2400" b="1" dirty="0"/>
          </a:p>
          <a:p>
            <a:pPr marL="342900" indent="-342900" algn="just">
              <a:buFont typeface="Arial" panose="020B0604020202020204" pitchFamily="34" charset="0"/>
              <a:buChar char="•"/>
            </a:pPr>
            <a:r>
              <a:rPr lang="en-US" sz="2400" dirty="0"/>
              <a:t>Spider </a:t>
            </a:r>
            <a:r>
              <a:rPr lang="en-US" sz="2400" dirty="0" err="1"/>
              <a:t>middlewares</a:t>
            </a:r>
            <a:r>
              <a:rPr lang="en-US" sz="2400" dirty="0"/>
              <a:t> are specific hooks that sit between the Engine and the Spiders and are able to process spider input (responses) and output (items and requests). </a:t>
            </a:r>
          </a:p>
        </p:txBody>
      </p:sp>
    </p:spTree>
    <p:extLst>
      <p:ext uri="{BB962C8B-B14F-4D97-AF65-F5344CB8AC3E}">
        <p14:creationId xmlns:p14="http://schemas.microsoft.com/office/powerpoint/2010/main" val="157157227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80578-85A0-4E5C-91B5-6B32C9DFE4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E373E6-4EAF-2930-E28C-87AA7325E16D}"/>
              </a:ext>
            </a:extLst>
          </p:cNvPr>
          <p:cNvSpPr>
            <a:spLocks noGrp="1"/>
          </p:cNvSpPr>
          <p:nvPr>
            <p:ph type="title"/>
          </p:nvPr>
        </p:nvSpPr>
        <p:spPr>
          <a:xfrm>
            <a:off x="635000" y="27256"/>
            <a:ext cx="10515600" cy="609600"/>
          </a:xfrm>
        </p:spPr>
        <p:txBody>
          <a:bodyPr>
            <a:noAutofit/>
          </a:bodyPr>
          <a:lstStyle/>
          <a:p>
            <a:pPr algn="ctr"/>
            <a:r>
              <a:rPr lang="en-IN" sz="4000" dirty="0">
                <a:solidFill>
                  <a:srgbClr val="0070C0"/>
                </a:solidFill>
              </a:rPr>
              <a:t>Data flow in Scrapy</a:t>
            </a:r>
            <a:endParaRPr lang="en-IN" sz="4000" b="1" dirty="0">
              <a:solidFill>
                <a:srgbClr val="0070C0"/>
              </a:solidFill>
            </a:endParaRPr>
          </a:p>
        </p:txBody>
      </p:sp>
      <p:sp>
        <p:nvSpPr>
          <p:cNvPr id="7" name="TextBox 6">
            <a:extLst>
              <a:ext uri="{FF2B5EF4-FFF2-40B4-BE49-F238E27FC236}">
                <a16:creationId xmlns:a16="http://schemas.microsoft.com/office/drawing/2014/main" id="{1FB32735-27E8-2A61-D96D-C8F0CA1F58EE}"/>
              </a:ext>
            </a:extLst>
          </p:cNvPr>
          <p:cNvSpPr txBox="1"/>
          <p:nvPr/>
        </p:nvSpPr>
        <p:spPr>
          <a:xfrm>
            <a:off x="208280" y="697816"/>
            <a:ext cx="11775440" cy="461665"/>
          </a:xfrm>
          <a:prstGeom prst="rect">
            <a:avLst/>
          </a:prstGeom>
          <a:noFill/>
        </p:spPr>
        <p:txBody>
          <a:bodyPr wrap="square">
            <a:spAutoFit/>
          </a:bodyPr>
          <a:lstStyle/>
          <a:p>
            <a:pPr marL="342900" indent="-342900" algn="just">
              <a:buFont typeface="Arial" panose="020B0604020202020204" pitchFamily="34" charset="0"/>
              <a:buChar char="•"/>
            </a:pPr>
            <a:r>
              <a:rPr lang="en-US" sz="2400" dirty="0"/>
              <a:t>The data flow in Scrapy is controlled by the execution engine</a:t>
            </a:r>
          </a:p>
        </p:txBody>
      </p:sp>
      <p:pic>
        <p:nvPicPr>
          <p:cNvPr id="1026" name="Picture 2" descr="Scrapy architecture">
            <a:extLst>
              <a:ext uri="{FF2B5EF4-FFF2-40B4-BE49-F238E27FC236}">
                <a16:creationId xmlns:a16="http://schemas.microsoft.com/office/drawing/2014/main" id="{C8FF6260-4E9B-3566-4397-72ACB49C56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2424" y="1595120"/>
            <a:ext cx="4339575" cy="490728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F22DD5E-2721-F863-2FA2-0C25206208EE}"/>
              </a:ext>
            </a:extLst>
          </p:cNvPr>
          <p:cNvSpPr txBox="1"/>
          <p:nvPr/>
        </p:nvSpPr>
        <p:spPr>
          <a:xfrm>
            <a:off x="0" y="1078716"/>
            <a:ext cx="7852424" cy="5509200"/>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altLang="en-US" sz="2200" b="0" i="0" strike="noStrike" cap="none" normalizeH="0" baseline="0" dirty="0">
                <a:ln>
                  <a:noFill/>
                </a:ln>
                <a:solidFill>
                  <a:srgbClr val="404040"/>
                </a:solidFill>
                <a:effectLst/>
              </a:rPr>
              <a:t>The </a:t>
            </a:r>
            <a:r>
              <a:rPr kumimoji="0" lang="en-US" altLang="en-US" sz="2200" b="0" i="0" strike="noStrike" cap="none" normalizeH="0" baseline="0" dirty="0">
                <a:ln>
                  <a:noFill/>
                </a:ln>
                <a:solidFill>
                  <a:srgbClr val="2980B9"/>
                </a:solidFill>
                <a:effectLst/>
                <a:hlinkClick r:id="rId3"/>
              </a:rPr>
              <a:t>Engine</a:t>
            </a:r>
            <a:r>
              <a:rPr kumimoji="0" lang="en-US" altLang="en-US" sz="2200" b="0" i="0" strike="noStrike" cap="none" normalizeH="0" baseline="0" dirty="0">
                <a:ln>
                  <a:noFill/>
                </a:ln>
                <a:solidFill>
                  <a:srgbClr val="404040"/>
                </a:solidFill>
                <a:effectLst/>
              </a:rPr>
              <a:t> gets the initial Requests to crawl from the </a:t>
            </a:r>
            <a:r>
              <a:rPr kumimoji="0" lang="en-US" altLang="en-US" sz="2200" b="0" i="0" strike="noStrike" cap="none" normalizeH="0" baseline="0" dirty="0">
                <a:ln>
                  <a:noFill/>
                </a:ln>
                <a:solidFill>
                  <a:srgbClr val="2980B9"/>
                </a:solidFill>
                <a:effectLst/>
                <a:hlinkClick r:id="rId4"/>
              </a:rPr>
              <a:t>Spider</a:t>
            </a:r>
            <a:r>
              <a:rPr kumimoji="0" lang="en-US" altLang="en-US" sz="2200" b="0" i="0" strike="noStrike" cap="none" normalizeH="0" baseline="0" dirty="0">
                <a:ln>
                  <a:noFill/>
                </a:ln>
                <a:solidFill>
                  <a:srgbClr val="404040"/>
                </a:solidFill>
                <a:effectLst/>
              </a:rPr>
              <a:t>.</a:t>
            </a: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altLang="en-US" sz="2200" b="0" i="0" strike="noStrike" cap="none" normalizeH="0" baseline="0" dirty="0">
                <a:ln>
                  <a:noFill/>
                </a:ln>
                <a:solidFill>
                  <a:srgbClr val="404040"/>
                </a:solidFill>
                <a:effectLst/>
              </a:rPr>
              <a:t>The </a:t>
            </a:r>
            <a:r>
              <a:rPr kumimoji="0" lang="en-US" altLang="en-US" sz="2200" b="0" i="0" strike="noStrike" cap="none" normalizeH="0" baseline="0" dirty="0">
                <a:ln>
                  <a:noFill/>
                </a:ln>
                <a:solidFill>
                  <a:srgbClr val="2980B9"/>
                </a:solidFill>
                <a:effectLst/>
                <a:hlinkClick r:id="rId3"/>
              </a:rPr>
              <a:t>Engine</a:t>
            </a:r>
            <a:r>
              <a:rPr kumimoji="0" lang="en-US" altLang="en-US" sz="2200" b="0" i="0" strike="noStrike" cap="none" normalizeH="0" baseline="0" dirty="0">
                <a:ln>
                  <a:noFill/>
                </a:ln>
                <a:solidFill>
                  <a:srgbClr val="404040"/>
                </a:solidFill>
                <a:effectLst/>
              </a:rPr>
              <a:t> schedules the Requests in the </a:t>
            </a:r>
            <a:r>
              <a:rPr kumimoji="0" lang="en-US" altLang="en-US" sz="2200" b="0" i="0" strike="noStrike" cap="none" normalizeH="0" baseline="0" dirty="0">
                <a:ln>
                  <a:noFill/>
                </a:ln>
                <a:solidFill>
                  <a:srgbClr val="2980B9"/>
                </a:solidFill>
                <a:effectLst/>
                <a:hlinkClick r:id="rId5"/>
              </a:rPr>
              <a:t>Scheduler</a:t>
            </a:r>
            <a:r>
              <a:rPr kumimoji="0" lang="en-US" altLang="en-US" sz="2200" b="0" i="0" strike="noStrike" cap="none" normalizeH="0" baseline="0" dirty="0">
                <a:ln>
                  <a:noFill/>
                </a:ln>
                <a:solidFill>
                  <a:srgbClr val="404040"/>
                </a:solidFill>
                <a:effectLst/>
              </a:rPr>
              <a:t> and asks for the next Requests to crawl.</a:t>
            </a: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altLang="en-US" sz="2200" b="0" i="0" strike="noStrike" cap="none" normalizeH="0" baseline="0" dirty="0">
                <a:ln>
                  <a:noFill/>
                </a:ln>
                <a:solidFill>
                  <a:srgbClr val="404040"/>
                </a:solidFill>
                <a:effectLst/>
              </a:rPr>
              <a:t>The </a:t>
            </a:r>
            <a:r>
              <a:rPr kumimoji="0" lang="en-US" altLang="en-US" sz="2200" b="0" i="0" strike="noStrike" cap="none" normalizeH="0" baseline="0" dirty="0">
                <a:ln>
                  <a:noFill/>
                </a:ln>
                <a:solidFill>
                  <a:srgbClr val="2980B9"/>
                </a:solidFill>
                <a:effectLst/>
                <a:hlinkClick r:id="rId5"/>
              </a:rPr>
              <a:t>Scheduler</a:t>
            </a:r>
            <a:r>
              <a:rPr kumimoji="0" lang="en-US" altLang="en-US" sz="2200" b="0" i="0" strike="noStrike" cap="none" normalizeH="0" baseline="0" dirty="0">
                <a:ln>
                  <a:noFill/>
                </a:ln>
                <a:solidFill>
                  <a:srgbClr val="404040"/>
                </a:solidFill>
                <a:effectLst/>
              </a:rPr>
              <a:t> returns the next Requests to the </a:t>
            </a:r>
            <a:r>
              <a:rPr kumimoji="0" lang="en-US" altLang="en-US" sz="2200" b="0" i="0" strike="noStrike" cap="none" normalizeH="0" baseline="0" dirty="0">
                <a:ln>
                  <a:noFill/>
                </a:ln>
                <a:solidFill>
                  <a:srgbClr val="2980B9"/>
                </a:solidFill>
                <a:effectLst/>
                <a:hlinkClick r:id="rId3"/>
              </a:rPr>
              <a:t>Engine</a:t>
            </a:r>
            <a:r>
              <a:rPr kumimoji="0" lang="en-US" altLang="en-US" sz="2200" b="0" i="0" strike="noStrike" cap="none" normalizeH="0" baseline="0" dirty="0">
                <a:ln>
                  <a:noFill/>
                </a:ln>
                <a:solidFill>
                  <a:srgbClr val="404040"/>
                </a:solidFill>
                <a:effectLst/>
              </a:rPr>
              <a:t>.</a:t>
            </a:r>
          </a:p>
          <a:p>
            <a:pPr marL="0" marR="0" lvl="0" indent="0" algn="just" defTabSz="914400" rtl="0" eaLnBrk="0" fontAlgn="base" latinLnBrk="0" hangingPunct="0">
              <a:lnSpc>
                <a:spcPct val="100000"/>
              </a:lnSpc>
              <a:spcBef>
                <a:spcPct val="0"/>
              </a:spcBef>
              <a:spcAft>
                <a:spcPct val="0"/>
              </a:spcAft>
              <a:buClrTx/>
              <a:buSzTx/>
              <a:buFontTx/>
              <a:buAutoNum type="arabicPeriod" startAt="4"/>
              <a:tabLst/>
            </a:pPr>
            <a:r>
              <a:rPr kumimoji="0" lang="en-US" altLang="en-US" sz="2200" b="0" i="0" strike="noStrike" cap="none" normalizeH="0" baseline="0" dirty="0">
                <a:ln>
                  <a:noFill/>
                </a:ln>
                <a:solidFill>
                  <a:srgbClr val="404040"/>
                </a:solidFill>
                <a:effectLst/>
              </a:rPr>
              <a:t>The </a:t>
            </a:r>
            <a:r>
              <a:rPr kumimoji="0" lang="en-US" altLang="en-US" sz="2200" b="0" i="0" strike="noStrike" cap="none" normalizeH="0" baseline="0" dirty="0">
                <a:ln>
                  <a:noFill/>
                </a:ln>
                <a:solidFill>
                  <a:srgbClr val="2980B9"/>
                </a:solidFill>
                <a:effectLst/>
                <a:hlinkClick r:id="rId3"/>
              </a:rPr>
              <a:t>Engine</a:t>
            </a:r>
            <a:r>
              <a:rPr kumimoji="0" lang="en-US" altLang="en-US" sz="2200" b="0" i="0" strike="noStrike" cap="none" normalizeH="0" baseline="0" dirty="0">
                <a:ln>
                  <a:noFill/>
                </a:ln>
                <a:solidFill>
                  <a:srgbClr val="404040"/>
                </a:solidFill>
                <a:effectLst/>
              </a:rPr>
              <a:t> sends the Requests to the </a:t>
            </a:r>
            <a:r>
              <a:rPr kumimoji="0" lang="en-US" altLang="en-US" sz="2200" b="0" i="0" strike="noStrike" cap="none" normalizeH="0" baseline="0" dirty="0">
                <a:ln>
                  <a:noFill/>
                </a:ln>
                <a:solidFill>
                  <a:srgbClr val="2980B9"/>
                </a:solidFill>
                <a:effectLst/>
                <a:hlinkClick r:id="rId6"/>
              </a:rPr>
              <a:t>Downloader</a:t>
            </a:r>
            <a:r>
              <a:rPr lang="en-US" altLang="en-US" sz="2200" dirty="0">
                <a:solidFill>
                  <a:srgbClr val="404040"/>
                </a:solidFill>
              </a:rPr>
              <a:t>.</a:t>
            </a:r>
            <a:endParaRPr kumimoji="0" lang="en-US" altLang="en-US" sz="2200" b="0" i="0" strike="noStrike" cap="none" normalizeH="0" baseline="0" dirty="0">
              <a:ln>
                <a:noFill/>
              </a:ln>
              <a:solidFill>
                <a:srgbClr val="404040"/>
              </a:solidFill>
              <a:effectLst/>
            </a:endParaRPr>
          </a:p>
          <a:p>
            <a:pPr marL="0" marR="0" lvl="0" indent="0" algn="just" defTabSz="914400" rtl="0" eaLnBrk="0" fontAlgn="base" latinLnBrk="0" hangingPunct="0">
              <a:lnSpc>
                <a:spcPct val="100000"/>
              </a:lnSpc>
              <a:spcBef>
                <a:spcPct val="0"/>
              </a:spcBef>
              <a:spcAft>
                <a:spcPct val="0"/>
              </a:spcAft>
              <a:buClrTx/>
              <a:buSzTx/>
              <a:buFontTx/>
              <a:buAutoNum type="arabicPeriod" startAt="5"/>
              <a:tabLst/>
            </a:pPr>
            <a:r>
              <a:rPr kumimoji="0" lang="en-US" altLang="en-US" sz="2200" b="0" i="0" strike="noStrike" cap="none" normalizeH="0" baseline="0" dirty="0">
                <a:ln>
                  <a:noFill/>
                </a:ln>
                <a:solidFill>
                  <a:srgbClr val="404040"/>
                </a:solidFill>
                <a:effectLst/>
              </a:rPr>
              <a:t>Once the page finishes downloading the </a:t>
            </a:r>
            <a:r>
              <a:rPr kumimoji="0" lang="en-US" altLang="en-US" sz="2200" b="0" i="0" strike="noStrike" cap="none" normalizeH="0" baseline="0" dirty="0">
                <a:ln>
                  <a:noFill/>
                </a:ln>
                <a:solidFill>
                  <a:srgbClr val="2980B9"/>
                </a:solidFill>
                <a:effectLst/>
                <a:hlinkClick r:id="rId6"/>
              </a:rPr>
              <a:t>Downloader</a:t>
            </a:r>
            <a:r>
              <a:rPr kumimoji="0" lang="en-US" altLang="en-US" sz="2200" b="0" i="0" strike="noStrike" cap="none" normalizeH="0" baseline="0" dirty="0">
                <a:ln>
                  <a:noFill/>
                </a:ln>
                <a:solidFill>
                  <a:srgbClr val="404040"/>
                </a:solidFill>
                <a:effectLst/>
              </a:rPr>
              <a:t> generates a Response (with that page) and sends it to the Engine</a:t>
            </a:r>
            <a:r>
              <a:rPr lang="en-US" altLang="en-US" sz="2200" dirty="0">
                <a:solidFill>
                  <a:srgbClr val="404040"/>
                </a:solidFill>
              </a:rPr>
              <a:t>.</a:t>
            </a:r>
            <a:endParaRPr kumimoji="0" lang="en-US" altLang="en-US" sz="2200" b="0" i="0" strike="noStrike" cap="none" normalizeH="0" baseline="0" dirty="0">
              <a:ln>
                <a:noFill/>
              </a:ln>
              <a:solidFill>
                <a:srgbClr val="404040"/>
              </a:solidFill>
              <a:effectLst/>
            </a:endParaRPr>
          </a:p>
          <a:p>
            <a:pPr marL="0" marR="0" lvl="0" indent="0" algn="just" defTabSz="914400" rtl="0" eaLnBrk="0" fontAlgn="base" latinLnBrk="0" hangingPunct="0">
              <a:lnSpc>
                <a:spcPct val="100000"/>
              </a:lnSpc>
              <a:spcBef>
                <a:spcPct val="0"/>
              </a:spcBef>
              <a:spcAft>
                <a:spcPct val="0"/>
              </a:spcAft>
              <a:buClrTx/>
              <a:buSzTx/>
              <a:buFontTx/>
              <a:buAutoNum type="arabicPeriod" startAt="6"/>
              <a:tabLst/>
            </a:pPr>
            <a:r>
              <a:rPr kumimoji="0" lang="en-US" altLang="en-US" sz="2200" b="0" i="0" strike="noStrike" cap="none" normalizeH="0" baseline="0" dirty="0">
                <a:ln>
                  <a:noFill/>
                </a:ln>
                <a:solidFill>
                  <a:srgbClr val="404040"/>
                </a:solidFill>
                <a:effectLst/>
              </a:rPr>
              <a:t>The </a:t>
            </a:r>
            <a:r>
              <a:rPr kumimoji="0" lang="en-US" altLang="en-US" sz="2200" b="0" i="0" strike="noStrike" cap="none" normalizeH="0" baseline="0" dirty="0">
                <a:ln>
                  <a:noFill/>
                </a:ln>
                <a:solidFill>
                  <a:srgbClr val="2980B9"/>
                </a:solidFill>
                <a:effectLst/>
                <a:hlinkClick r:id="rId3"/>
              </a:rPr>
              <a:t>Engine</a:t>
            </a:r>
            <a:r>
              <a:rPr kumimoji="0" lang="en-US" altLang="en-US" sz="2200" b="0" i="0" strike="noStrike" cap="none" normalizeH="0" baseline="0" dirty="0">
                <a:ln>
                  <a:noFill/>
                </a:ln>
                <a:solidFill>
                  <a:srgbClr val="404040"/>
                </a:solidFill>
                <a:effectLst/>
              </a:rPr>
              <a:t> receives the Response from the </a:t>
            </a:r>
            <a:r>
              <a:rPr kumimoji="0" lang="en-US" altLang="en-US" sz="2200" b="0" i="0" strike="noStrike" cap="none" normalizeH="0" baseline="0" dirty="0">
                <a:ln>
                  <a:noFill/>
                </a:ln>
                <a:solidFill>
                  <a:srgbClr val="2980B9"/>
                </a:solidFill>
                <a:effectLst/>
                <a:hlinkClick r:id="rId6"/>
              </a:rPr>
              <a:t>Downloader</a:t>
            </a:r>
            <a:r>
              <a:rPr kumimoji="0" lang="en-US" altLang="en-US" sz="2200" b="0" i="0" strike="noStrike" cap="none" normalizeH="0" baseline="0" dirty="0">
                <a:ln>
                  <a:noFill/>
                </a:ln>
                <a:solidFill>
                  <a:srgbClr val="404040"/>
                </a:solidFill>
                <a:effectLst/>
              </a:rPr>
              <a:t> and sends it to the </a:t>
            </a:r>
            <a:r>
              <a:rPr kumimoji="0" lang="en-US" altLang="en-US" sz="2200" b="0" i="0" strike="noStrike" cap="none" normalizeH="0" baseline="0" dirty="0">
                <a:ln>
                  <a:noFill/>
                </a:ln>
                <a:solidFill>
                  <a:srgbClr val="2980B9"/>
                </a:solidFill>
                <a:effectLst/>
                <a:hlinkClick r:id="rId4"/>
              </a:rPr>
              <a:t>Spider</a:t>
            </a:r>
            <a:r>
              <a:rPr kumimoji="0" lang="en-US" altLang="en-US" sz="2200" b="0" i="0" strike="noStrike" cap="none" normalizeH="0" baseline="0" dirty="0">
                <a:ln>
                  <a:noFill/>
                </a:ln>
                <a:solidFill>
                  <a:srgbClr val="404040"/>
                </a:solidFill>
                <a:effectLst/>
              </a:rPr>
              <a:t> for processing.</a:t>
            </a:r>
          </a:p>
          <a:p>
            <a:pPr marL="0" marR="0" lvl="0" indent="0" algn="just" defTabSz="914400" rtl="0" eaLnBrk="0" fontAlgn="base" latinLnBrk="0" hangingPunct="0">
              <a:lnSpc>
                <a:spcPct val="100000"/>
              </a:lnSpc>
              <a:spcBef>
                <a:spcPct val="0"/>
              </a:spcBef>
              <a:spcAft>
                <a:spcPct val="0"/>
              </a:spcAft>
              <a:buClrTx/>
              <a:buSzTx/>
              <a:buFontTx/>
              <a:buAutoNum type="arabicPeriod" startAt="7"/>
              <a:tabLst/>
            </a:pPr>
            <a:r>
              <a:rPr kumimoji="0" lang="en-US" altLang="en-US" sz="2200" b="0" i="0" strike="noStrike" cap="none" normalizeH="0" baseline="0" dirty="0">
                <a:ln>
                  <a:noFill/>
                </a:ln>
                <a:solidFill>
                  <a:srgbClr val="404040"/>
                </a:solidFill>
                <a:effectLst/>
              </a:rPr>
              <a:t>The </a:t>
            </a:r>
            <a:r>
              <a:rPr kumimoji="0" lang="en-US" altLang="en-US" sz="2200" b="0" i="0" strike="noStrike" cap="none" normalizeH="0" baseline="0" dirty="0">
                <a:ln>
                  <a:noFill/>
                </a:ln>
                <a:solidFill>
                  <a:srgbClr val="2980B9"/>
                </a:solidFill>
                <a:effectLst/>
                <a:hlinkClick r:id="rId4"/>
              </a:rPr>
              <a:t>Spider</a:t>
            </a:r>
            <a:r>
              <a:rPr kumimoji="0" lang="en-US" altLang="en-US" sz="2200" b="0" i="0" strike="noStrike" cap="none" normalizeH="0" baseline="0" dirty="0">
                <a:ln>
                  <a:noFill/>
                </a:ln>
                <a:solidFill>
                  <a:srgbClr val="404040"/>
                </a:solidFill>
                <a:effectLst/>
              </a:rPr>
              <a:t> processes the Response and returns scraped items and new Requests to the </a:t>
            </a:r>
            <a:r>
              <a:rPr kumimoji="0" lang="en-US" altLang="en-US" sz="2200" b="0" i="0" strike="noStrike" cap="none" normalizeH="0" baseline="0" dirty="0">
                <a:ln>
                  <a:noFill/>
                </a:ln>
                <a:solidFill>
                  <a:srgbClr val="2980B9"/>
                </a:solidFill>
                <a:effectLst/>
                <a:hlinkClick r:id="rId3"/>
              </a:rPr>
              <a:t>Engine</a:t>
            </a:r>
            <a:r>
              <a:rPr lang="en-US" altLang="en-US" sz="2200" dirty="0">
                <a:solidFill>
                  <a:srgbClr val="404040"/>
                </a:solidFill>
              </a:rPr>
              <a:t>.</a:t>
            </a:r>
          </a:p>
          <a:p>
            <a:pPr marL="0" marR="0" lvl="0" indent="0" algn="just" defTabSz="914400" rtl="0" eaLnBrk="0" fontAlgn="base" latinLnBrk="0" hangingPunct="0">
              <a:lnSpc>
                <a:spcPct val="100000"/>
              </a:lnSpc>
              <a:spcBef>
                <a:spcPct val="0"/>
              </a:spcBef>
              <a:spcAft>
                <a:spcPct val="0"/>
              </a:spcAft>
              <a:buClrTx/>
              <a:buSzTx/>
              <a:buFontTx/>
              <a:buAutoNum type="arabicPeriod" startAt="7"/>
              <a:tabLst/>
            </a:pPr>
            <a:r>
              <a:rPr kumimoji="0" lang="en-US" altLang="en-US" sz="2200" b="0" i="0" strike="noStrike" cap="none" normalizeH="0" baseline="0" dirty="0">
                <a:ln>
                  <a:noFill/>
                </a:ln>
                <a:solidFill>
                  <a:srgbClr val="404040"/>
                </a:solidFill>
                <a:effectLst/>
              </a:rPr>
              <a:t>The </a:t>
            </a:r>
            <a:r>
              <a:rPr kumimoji="0" lang="en-US" altLang="en-US" sz="2200" b="0" i="0" strike="noStrike" cap="none" normalizeH="0" baseline="0" dirty="0">
                <a:ln>
                  <a:noFill/>
                </a:ln>
                <a:solidFill>
                  <a:srgbClr val="2980B9"/>
                </a:solidFill>
                <a:effectLst/>
                <a:hlinkClick r:id="rId3"/>
              </a:rPr>
              <a:t>Engine</a:t>
            </a:r>
            <a:r>
              <a:rPr kumimoji="0" lang="en-US" altLang="en-US" sz="2200" b="0" i="0" strike="noStrike" cap="none" normalizeH="0" baseline="0" dirty="0">
                <a:ln>
                  <a:noFill/>
                </a:ln>
                <a:solidFill>
                  <a:srgbClr val="404040"/>
                </a:solidFill>
                <a:effectLst/>
              </a:rPr>
              <a:t> sends processed items to </a:t>
            </a:r>
            <a:r>
              <a:rPr kumimoji="0" lang="en-US" altLang="en-US" sz="2200" b="0" i="0" strike="noStrike" cap="none" normalizeH="0" baseline="0" dirty="0">
                <a:ln>
                  <a:noFill/>
                </a:ln>
                <a:solidFill>
                  <a:srgbClr val="2980B9"/>
                </a:solidFill>
                <a:effectLst/>
                <a:hlinkClick r:id="rId7"/>
              </a:rPr>
              <a:t>Item Pipelines</a:t>
            </a:r>
            <a:r>
              <a:rPr kumimoji="0" lang="en-US" altLang="en-US" sz="2200" b="0" i="0" strike="noStrike" cap="none" normalizeH="0" baseline="0" dirty="0">
                <a:ln>
                  <a:noFill/>
                </a:ln>
                <a:solidFill>
                  <a:srgbClr val="404040"/>
                </a:solidFill>
                <a:effectLst/>
              </a:rPr>
              <a:t>, then send processed Requests to the </a:t>
            </a:r>
            <a:r>
              <a:rPr kumimoji="0" lang="en-US" altLang="en-US" sz="2200" b="0" i="0" strike="noStrike" cap="none" normalizeH="0" baseline="0" dirty="0">
                <a:ln>
                  <a:noFill/>
                </a:ln>
                <a:solidFill>
                  <a:srgbClr val="2980B9"/>
                </a:solidFill>
                <a:effectLst/>
                <a:hlinkClick r:id="rId5"/>
              </a:rPr>
              <a:t>Scheduler</a:t>
            </a:r>
            <a:r>
              <a:rPr kumimoji="0" lang="en-US" altLang="en-US" sz="2200" b="0" i="0" strike="noStrike" cap="none" normalizeH="0" baseline="0" dirty="0">
                <a:ln>
                  <a:noFill/>
                </a:ln>
                <a:solidFill>
                  <a:srgbClr val="404040"/>
                </a:solidFill>
                <a:effectLst/>
              </a:rPr>
              <a:t> and asks for possible next Requests to crawl.</a:t>
            </a:r>
          </a:p>
          <a:p>
            <a:pPr marL="0" marR="0" lvl="0" indent="0" algn="just" defTabSz="914400" rtl="0" eaLnBrk="0" fontAlgn="base" latinLnBrk="0" hangingPunct="0">
              <a:lnSpc>
                <a:spcPct val="100000"/>
              </a:lnSpc>
              <a:spcBef>
                <a:spcPct val="0"/>
              </a:spcBef>
              <a:spcAft>
                <a:spcPct val="0"/>
              </a:spcAft>
              <a:buClrTx/>
              <a:buSzTx/>
              <a:buFontTx/>
              <a:buAutoNum type="arabicPeriod" startAt="9"/>
              <a:tabLst/>
            </a:pPr>
            <a:r>
              <a:rPr kumimoji="0" lang="en-US" altLang="en-US" sz="2200" b="0" i="0" strike="noStrike" cap="none" normalizeH="0" baseline="0" dirty="0">
                <a:ln>
                  <a:noFill/>
                </a:ln>
                <a:solidFill>
                  <a:srgbClr val="404040"/>
                </a:solidFill>
                <a:effectLst/>
              </a:rPr>
              <a:t>The process repeats (from step 3) until there are no more requests from the </a:t>
            </a:r>
            <a:r>
              <a:rPr kumimoji="0" lang="en-US" altLang="en-US" sz="2200" b="0" i="0" strike="noStrike" cap="none" normalizeH="0" baseline="0" dirty="0">
                <a:ln>
                  <a:noFill/>
                </a:ln>
                <a:solidFill>
                  <a:srgbClr val="2980B9"/>
                </a:solidFill>
                <a:effectLst/>
                <a:hlinkClick r:id="rId5"/>
              </a:rPr>
              <a:t>Scheduler</a:t>
            </a:r>
            <a:r>
              <a:rPr kumimoji="0" lang="en-US" altLang="en-US" sz="2200" b="0" i="0" strike="noStrike" cap="none" normalizeH="0" baseline="0" dirty="0">
                <a:ln>
                  <a:noFill/>
                </a:ln>
                <a:solidFill>
                  <a:srgbClr val="404040"/>
                </a:solidFill>
                <a:effectLst/>
              </a:rPr>
              <a:t>.</a:t>
            </a:r>
          </a:p>
        </p:txBody>
      </p:sp>
    </p:spTree>
    <p:extLst>
      <p:ext uri="{BB962C8B-B14F-4D97-AF65-F5344CB8AC3E}">
        <p14:creationId xmlns:p14="http://schemas.microsoft.com/office/powerpoint/2010/main" val="387327400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BFAF8-31A9-EA0C-2D74-7ECC18CC77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D0F95B-FEA2-EA7A-E533-89FB2ECF3912}"/>
              </a:ext>
            </a:extLst>
          </p:cNvPr>
          <p:cNvSpPr>
            <a:spLocks noGrp="1"/>
          </p:cNvSpPr>
          <p:nvPr>
            <p:ph type="title"/>
          </p:nvPr>
        </p:nvSpPr>
        <p:spPr>
          <a:xfrm>
            <a:off x="114300" y="27256"/>
            <a:ext cx="11036300" cy="609600"/>
          </a:xfrm>
        </p:spPr>
        <p:txBody>
          <a:bodyPr>
            <a:noAutofit/>
          </a:bodyPr>
          <a:lstStyle/>
          <a:p>
            <a:pPr algn="ctr"/>
            <a:r>
              <a:rPr lang="en-IN" sz="4000" dirty="0">
                <a:solidFill>
                  <a:srgbClr val="0070C0"/>
                </a:solidFill>
              </a:rPr>
              <a:t>Retrieve data from webpage(html code) using scrapy</a:t>
            </a:r>
            <a:endParaRPr lang="en-US" sz="4000" dirty="0">
              <a:solidFill>
                <a:srgbClr val="0070C0"/>
              </a:solidFill>
            </a:endParaRPr>
          </a:p>
        </p:txBody>
      </p:sp>
      <p:sp>
        <p:nvSpPr>
          <p:cNvPr id="5" name="TextBox 4">
            <a:extLst>
              <a:ext uri="{FF2B5EF4-FFF2-40B4-BE49-F238E27FC236}">
                <a16:creationId xmlns:a16="http://schemas.microsoft.com/office/drawing/2014/main" id="{ABBE87CE-B6F6-BE01-6742-342E50AD2FFD}"/>
              </a:ext>
            </a:extLst>
          </p:cNvPr>
          <p:cNvSpPr txBox="1"/>
          <p:nvPr/>
        </p:nvSpPr>
        <p:spPr>
          <a:xfrm>
            <a:off x="114300" y="636856"/>
            <a:ext cx="11557000" cy="6494085"/>
          </a:xfrm>
          <a:prstGeom prst="rect">
            <a:avLst/>
          </a:prstGeom>
          <a:noFill/>
        </p:spPr>
        <p:txBody>
          <a:bodyPr wrap="square">
            <a:spAutoFit/>
          </a:bodyPr>
          <a:lstStyle/>
          <a:p>
            <a:r>
              <a:rPr lang="en-IN" sz="1600" dirty="0">
                <a:latin typeface="Cascadia Code" panose="020B0609020000020004" pitchFamily="49" charset="0"/>
                <a:ea typeface="Cascadia Code" panose="020B0609020000020004" pitchFamily="49" charset="0"/>
                <a:cs typeface="Cascadia Code" panose="020B0609020000020004" pitchFamily="49" charset="0"/>
              </a:rPr>
              <a:t>from </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scrapy.selector</a:t>
            </a:r>
            <a:r>
              <a:rPr lang="en-IN" sz="1600" dirty="0">
                <a:latin typeface="Cascadia Code" panose="020B0609020000020004" pitchFamily="49" charset="0"/>
                <a:ea typeface="Cascadia Code" panose="020B0609020000020004" pitchFamily="49" charset="0"/>
                <a:cs typeface="Cascadia Code" panose="020B0609020000020004" pitchFamily="49" charset="0"/>
              </a:rPr>
              <a:t> import Selector</a:t>
            </a:r>
          </a:p>
          <a:p>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a:p>
            <a:r>
              <a:rPr lang="en-IN" sz="1600" dirty="0">
                <a:latin typeface="Cascadia Code" panose="020B0609020000020004" pitchFamily="49" charset="0"/>
                <a:ea typeface="Cascadia Code" panose="020B0609020000020004" pitchFamily="49" charset="0"/>
                <a:cs typeface="Cascadia Code" panose="020B0609020000020004" pitchFamily="49" charset="0"/>
              </a:rPr>
              <a:t>html = """</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&lt;html&gt;</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  &lt;body&gt;</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    &lt;h1&gt;Welcome to My Site&lt;/h1&gt;</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    &lt;p&gt;This is a sample paragraph.&lt;/p&gt;</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    &lt;a </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href</a:t>
            </a:r>
            <a:r>
              <a:rPr lang="en-IN" sz="1600" dirty="0">
                <a:latin typeface="Cascadia Code" panose="020B0609020000020004" pitchFamily="49" charset="0"/>
                <a:ea typeface="Cascadia Code" panose="020B0609020000020004" pitchFamily="49" charset="0"/>
                <a:cs typeface="Cascadia Code" panose="020B0609020000020004" pitchFamily="49" charset="0"/>
              </a:rPr>
              <a:t>="https://example.com"&gt;Visit Example&lt;/a&gt;</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    &lt;</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img</a:t>
            </a:r>
            <a:r>
              <a:rPr lang="en-IN" sz="1600" dirty="0">
                <a:latin typeface="Cascadia Code" panose="020B0609020000020004" pitchFamily="49" charset="0"/>
                <a:ea typeface="Cascadia Code" panose="020B0609020000020004" pitchFamily="49" charset="0"/>
                <a:cs typeface="Cascadia Code" panose="020B0609020000020004" pitchFamily="49" charset="0"/>
              </a:rPr>
              <a:t> </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src</a:t>
            </a:r>
            <a:r>
              <a:rPr lang="en-IN" sz="1600" dirty="0">
                <a:latin typeface="Cascadia Code" panose="020B0609020000020004" pitchFamily="49" charset="0"/>
                <a:ea typeface="Cascadia Code" panose="020B0609020000020004" pitchFamily="49" charset="0"/>
                <a:cs typeface="Cascadia Code" panose="020B0609020000020004" pitchFamily="49" charset="0"/>
              </a:rPr>
              <a:t>="https://www.w3schools.com/html/pic_trulli.jpg" alt="Example Image"&gt;</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  &lt;/body&gt;</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&lt;/html&gt;</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selector = Selector(text=html)</a:t>
            </a:r>
          </a:p>
          <a:p>
            <a:r>
              <a:rPr lang="en-IN" sz="16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a:t>
            </a:r>
            <a:r>
              <a:rPr lang="en-IN" sz="1600" dirty="0">
                <a:latin typeface="Cascadia Code" panose="020B0609020000020004" pitchFamily="49" charset="0"/>
                <a:ea typeface="Cascadia Code" panose="020B0609020000020004" pitchFamily="49" charset="0"/>
                <a:cs typeface="Cascadia Code" panose="020B0609020000020004" pitchFamily="49" charset="0"/>
              </a:rPr>
              <a:t> </a:t>
            </a:r>
            <a:r>
              <a:rPr lang="en-IN" sz="16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Extract elements</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heading = </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selector.xpath</a:t>
            </a:r>
            <a:r>
              <a:rPr lang="en-IN" sz="1600" dirty="0">
                <a:latin typeface="Cascadia Code" panose="020B0609020000020004" pitchFamily="49" charset="0"/>
                <a:ea typeface="Cascadia Code" panose="020B0609020000020004" pitchFamily="49" charset="0"/>
                <a:cs typeface="Cascadia Code" panose="020B0609020000020004" pitchFamily="49" charset="0"/>
              </a:rPr>
              <a:t>('//h1/text()').get()</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paragraph = selector.css('p::text').get()</a:t>
            </a:r>
          </a:p>
          <a:p>
            <a:r>
              <a:rPr lang="en-IN" sz="1600" dirty="0" err="1">
                <a:latin typeface="Cascadia Code" panose="020B0609020000020004" pitchFamily="49" charset="0"/>
                <a:ea typeface="Cascadia Code" panose="020B0609020000020004" pitchFamily="49" charset="0"/>
                <a:cs typeface="Cascadia Code" panose="020B0609020000020004" pitchFamily="49" charset="0"/>
              </a:rPr>
              <a:t>link_text</a:t>
            </a:r>
            <a:r>
              <a:rPr lang="en-IN" sz="1600" dirty="0">
                <a:latin typeface="Cascadia Code" panose="020B0609020000020004" pitchFamily="49" charset="0"/>
                <a:ea typeface="Cascadia Code" panose="020B0609020000020004" pitchFamily="49" charset="0"/>
                <a:cs typeface="Cascadia Code" panose="020B0609020000020004" pitchFamily="49" charset="0"/>
              </a:rPr>
              <a:t> = selector.css('a::text').get()</a:t>
            </a:r>
          </a:p>
          <a:p>
            <a:r>
              <a:rPr lang="en-IN" sz="1600" dirty="0" err="1">
                <a:latin typeface="Cascadia Code" panose="020B0609020000020004" pitchFamily="49" charset="0"/>
                <a:ea typeface="Cascadia Code" panose="020B0609020000020004" pitchFamily="49" charset="0"/>
                <a:cs typeface="Cascadia Code" panose="020B0609020000020004" pitchFamily="49" charset="0"/>
              </a:rPr>
              <a:t>link_href</a:t>
            </a:r>
            <a:r>
              <a:rPr lang="en-IN" sz="1600" dirty="0">
                <a:latin typeface="Cascadia Code" panose="020B0609020000020004" pitchFamily="49" charset="0"/>
                <a:ea typeface="Cascadia Code" panose="020B0609020000020004" pitchFamily="49" charset="0"/>
                <a:cs typeface="Cascadia Code" panose="020B0609020000020004" pitchFamily="49" charset="0"/>
              </a:rPr>
              <a:t> = selector.css('a::</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attr</a:t>
            </a:r>
            <a:r>
              <a:rPr lang="en-IN" sz="1600" dirty="0">
                <a:latin typeface="Cascadia Code" panose="020B0609020000020004" pitchFamily="49" charset="0"/>
                <a:ea typeface="Cascadia Code" panose="020B0609020000020004" pitchFamily="49" charset="0"/>
                <a:cs typeface="Cascadia Code" panose="020B0609020000020004" pitchFamily="49" charset="0"/>
              </a:rPr>
              <a:t>(</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href</a:t>
            </a:r>
            <a:r>
              <a:rPr lang="en-IN" sz="1600" dirty="0">
                <a:latin typeface="Cascadia Code" panose="020B0609020000020004" pitchFamily="49" charset="0"/>
                <a:ea typeface="Cascadia Code" panose="020B0609020000020004" pitchFamily="49" charset="0"/>
                <a:cs typeface="Cascadia Code" panose="020B0609020000020004" pitchFamily="49" charset="0"/>
              </a:rPr>
              <a:t>)').get()</a:t>
            </a:r>
          </a:p>
          <a:p>
            <a:r>
              <a:rPr lang="en-US" sz="1600" dirty="0" err="1">
                <a:latin typeface="Cascadia Code" panose="020B0609020000020004" pitchFamily="49" charset="0"/>
                <a:ea typeface="Cascadia Code" panose="020B0609020000020004" pitchFamily="49" charset="0"/>
                <a:cs typeface="Cascadia Code" panose="020B0609020000020004" pitchFamily="49" charset="0"/>
              </a:rPr>
              <a:t>image_src</a:t>
            </a:r>
            <a:r>
              <a:rPr lang="en-US" sz="1600" dirty="0">
                <a:latin typeface="Cascadia Code" panose="020B0609020000020004" pitchFamily="49" charset="0"/>
                <a:ea typeface="Cascadia Code" panose="020B0609020000020004" pitchFamily="49" charset="0"/>
                <a:cs typeface="Cascadia Code" panose="020B0609020000020004" pitchFamily="49" charset="0"/>
              </a:rPr>
              <a:t> = selector.css('</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img</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attr</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src</a:t>
            </a:r>
            <a:r>
              <a:rPr lang="en-US" sz="1600" dirty="0">
                <a:latin typeface="Cascadia Code" panose="020B0609020000020004" pitchFamily="49" charset="0"/>
                <a:ea typeface="Cascadia Code" panose="020B0609020000020004" pitchFamily="49" charset="0"/>
                <a:cs typeface="Cascadia Code" panose="020B0609020000020004" pitchFamily="49" charset="0"/>
              </a:rPr>
              <a:t>)').get()</a:t>
            </a:r>
          </a:p>
          <a:p>
            <a:endParaRPr lang="en-IN" sz="1600" dirty="0">
              <a:latin typeface="Cascadia Code" panose="020B0609020000020004" pitchFamily="49" charset="0"/>
              <a:ea typeface="Cascadia Code" panose="020B0609020000020004" pitchFamily="49" charset="0"/>
              <a:cs typeface="Cascadia Code" panose="020B0609020000020004" pitchFamily="49" charset="0"/>
            </a:endParaRPr>
          </a:p>
          <a:p>
            <a:r>
              <a:rPr lang="en-IN" sz="1600" dirty="0">
                <a:latin typeface="Cascadia Code" panose="020B0609020000020004" pitchFamily="49" charset="0"/>
                <a:ea typeface="Cascadia Code" panose="020B0609020000020004" pitchFamily="49" charset="0"/>
                <a:cs typeface="Cascadia Code" panose="020B0609020000020004" pitchFamily="49" charset="0"/>
              </a:rPr>
              <a:t>print("Heading:", heading)</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print("Paragraph:", paragraph)</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print("Link Text:", </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link_text</a:t>
            </a:r>
            <a:r>
              <a:rPr lang="en-IN" sz="1600" dirty="0">
                <a:latin typeface="Cascadia Code" panose="020B0609020000020004" pitchFamily="49" charset="0"/>
                <a:ea typeface="Cascadia Code" panose="020B0609020000020004" pitchFamily="49" charset="0"/>
                <a:cs typeface="Cascadia Code" panose="020B0609020000020004" pitchFamily="49" charset="0"/>
              </a:rPr>
              <a:t>)</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print("Link </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Href</a:t>
            </a:r>
            <a:r>
              <a:rPr lang="en-IN" sz="1600" dirty="0">
                <a:latin typeface="Cascadia Code" panose="020B0609020000020004" pitchFamily="49" charset="0"/>
                <a:ea typeface="Cascadia Code" panose="020B0609020000020004" pitchFamily="49" charset="0"/>
                <a:cs typeface="Cascadia Code" panose="020B0609020000020004" pitchFamily="49" charset="0"/>
              </a:rPr>
              <a:t>:", </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link_href</a:t>
            </a:r>
            <a:r>
              <a:rPr lang="en-IN" sz="1600" dirty="0">
                <a:latin typeface="Cascadia Code" panose="020B0609020000020004" pitchFamily="49" charset="0"/>
                <a:ea typeface="Cascadia Code" panose="020B0609020000020004" pitchFamily="49" charset="0"/>
                <a:cs typeface="Cascadia Code" panose="020B0609020000020004" pitchFamily="49" charset="0"/>
              </a:rPr>
              <a:t>)</a:t>
            </a:r>
          </a:p>
          <a:p>
            <a:r>
              <a:rPr lang="en-IN" sz="1600" dirty="0">
                <a:latin typeface="Cascadia Code" panose="020B0609020000020004" pitchFamily="49" charset="0"/>
                <a:ea typeface="Cascadia Code" panose="020B0609020000020004" pitchFamily="49" charset="0"/>
                <a:cs typeface="Cascadia Code" panose="020B0609020000020004" pitchFamily="49" charset="0"/>
              </a:rPr>
              <a:t>print("Image </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Src</a:t>
            </a:r>
            <a:r>
              <a:rPr lang="en-IN" sz="1600" dirty="0">
                <a:latin typeface="Cascadia Code" panose="020B0609020000020004" pitchFamily="49" charset="0"/>
                <a:ea typeface="Cascadia Code" panose="020B0609020000020004" pitchFamily="49" charset="0"/>
                <a:cs typeface="Cascadia Code" panose="020B0609020000020004" pitchFamily="49" charset="0"/>
              </a:rPr>
              <a:t>:", </a:t>
            </a:r>
            <a:r>
              <a:rPr lang="en-IN" sz="1600" dirty="0" err="1">
                <a:latin typeface="Cascadia Code" panose="020B0609020000020004" pitchFamily="49" charset="0"/>
                <a:ea typeface="Cascadia Code" panose="020B0609020000020004" pitchFamily="49" charset="0"/>
                <a:cs typeface="Cascadia Code" panose="020B0609020000020004" pitchFamily="49" charset="0"/>
              </a:rPr>
              <a:t>image_src</a:t>
            </a:r>
            <a:r>
              <a:rPr lang="en-IN" sz="1600" dirty="0">
                <a:latin typeface="Cascadia Code" panose="020B0609020000020004" pitchFamily="49" charset="0"/>
                <a:ea typeface="Cascadia Code" panose="020B0609020000020004" pitchFamily="49" charset="0"/>
                <a:cs typeface="Cascadia Code" panose="020B0609020000020004" pitchFamily="49" charset="0"/>
              </a:rPr>
              <a:t>)</a:t>
            </a:r>
          </a:p>
        </p:txBody>
      </p:sp>
      <p:pic>
        <p:nvPicPr>
          <p:cNvPr id="10" name="Picture 9">
            <a:extLst>
              <a:ext uri="{FF2B5EF4-FFF2-40B4-BE49-F238E27FC236}">
                <a16:creationId xmlns:a16="http://schemas.microsoft.com/office/drawing/2014/main" id="{19431436-52DB-9AD2-20C7-5A8BD2FF29E5}"/>
              </a:ext>
            </a:extLst>
          </p:cNvPr>
          <p:cNvPicPr>
            <a:picLocks noChangeAspect="1"/>
          </p:cNvPicPr>
          <p:nvPr/>
        </p:nvPicPr>
        <p:blipFill>
          <a:blip r:embed="rId2"/>
          <a:stretch>
            <a:fillRect/>
          </a:stretch>
        </p:blipFill>
        <p:spPr>
          <a:xfrm>
            <a:off x="6685281" y="4480560"/>
            <a:ext cx="5392420" cy="2377440"/>
          </a:xfrm>
          <a:prstGeom prst="rect">
            <a:avLst/>
          </a:prstGeom>
        </p:spPr>
      </p:pic>
    </p:spTree>
    <p:extLst>
      <p:ext uri="{BB962C8B-B14F-4D97-AF65-F5344CB8AC3E}">
        <p14:creationId xmlns:p14="http://schemas.microsoft.com/office/powerpoint/2010/main" val="151419998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D9F5B-ED66-7040-FA50-660093A04CA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A33A954-6ACF-7F67-D86D-E7D1F5EF21D8}"/>
              </a:ext>
            </a:extLst>
          </p:cNvPr>
          <p:cNvSpPr txBox="1"/>
          <p:nvPr/>
        </p:nvSpPr>
        <p:spPr>
          <a:xfrm>
            <a:off x="0" y="770522"/>
            <a:ext cx="11557000" cy="5909310"/>
          </a:xfrm>
          <a:prstGeom prst="rect">
            <a:avLst/>
          </a:prstGeom>
          <a:noFill/>
        </p:spPr>
        <p:txBody>
          <a:bodyPr wrap="square">
            <a:spAutoFit/>
          </a:bodyPr>
          <a:lstStyle/>
          <a:p>
            <a:r>
              <a:rPr lang="en-IN" dirty="0">
                <a:latin typeface="Cascadia Code" panose="020B0609020000020004" pitchFamily="49" charset="0"/>
                <a:ea typeface="Cascadia Code" panose="020B0609020000020004" pitchFamily="49" charset="0"/>
                <a:cs typeface="Cascadia Code" panose="020B0609020000020004" pitchFamily="49" charset="0"/>
              </a:rPr>
              <a:t>html = """</a:t>
            </a:r>
          </a:p>
          <a:p>
            <a:r>
              <a:rPr lang="en-IN" dirty="0">
                <a:latin typeface="Cascadia Code" panose="020B0609020000020004" pitchFamily="49" charset="0"/>
                <a:ea typeface="Cascadia Code" panose="020B0609020000020004" pitchFamily="49" charset="0"/>
                <a:cs typeface="Cascadia Code" panose="020B0609020000020004" pitchFamily="49" charset="0"/>
              </a:rPr>
              <a:t>&lt;html&gt;</a:t>
            </a:r>
          </a:p>
          <a:p>
            <a:r>
              <a:rPr lang="en-IN" dirty="0">
                <a:latin typeface="Cascadia Code" panose="020B0609020000020004" pitchFamily="49" charset="0"/>
                <a:ea typeface="Cascadia Code" panose="020B0609020000020004" pitchFamily="49" charset="0"/>
                <a:cs typeface="Cascadia Code" panose="020B0609020000020004" pitchFamily="49" charset="0"/>
              </a:rPr>
              <a:t>  &lt;body&gt;</a:t>
            </a:r>
          </a:p>
          <a:p>
            <a:r>
              <a:rPr lang="en-IN" dirty="0">
                <a:latin typeface="Cascadia Code" panose="020B0609020000020004" pitchFamily="49" charset="0"/>
                <a:ea typeface="Cascadia Code" panose="020B0609020000020004" pitchFamily="49" charset="0"/>
                <a:cs typeface="Cascadia Code" panose="020B0609020000020004" pitchFamily="49" charset="0"/>
              </a:rPr>
              <a:t>    &lt;div class="product"&gt;</a:t>
            </a:r>
          </a:p>
          <a:p>
            <a:r>
              <a:rPr lang="en-IN" dirty="0">
                <a:latin typeface="Cascadia Code" panose="020B0609020000020004" pitchFamily="49" charset="0"/>
                <a:ea typeface="Cascadia Code" panose="020B0609020000020004" pitchFamily="49" charset="0"/>
                <a:cs typeface="Cascadia Code" panose="020B0609020000020004" pitchFamily="49" charset="0"/>
              </a:rPr>
              <a:t>      &lt;h2 class="title"&gt;Bat&lt;/h2&gt;</a:t>
            </a:r>
          </a:p>
          <a:p>
            <a:r>
              <a:rPr lang="en-IN" dirty="0">
                <a:latin typeface="Cascadia Code" panose="020B0609020000020004" pitchFamily="49" charset="0"/>
                <a:ea typeface="Cascadia Code" panose="020B0609020000020004" pitchFamily="49" charset="0"/>
                <a:cs typeface="Cascadia Code" panose="020B0609020000020004" pitchFamily="49" charset="0"/>
              </a:rPr>
              <a:t>      &lt;span class="price"&gt;$10&lt;/span&gt;</a:t>
            </a:r>
          </a:p>
          <a:p>
            <a:r>
              <a:rPr lang="en-IN" dirty="0">
                <a:latin typeface="Cascadia Code" panose="020B0609020000020004" pitchFamily="49" charset="0"/>
                <a:ea typeface="Cascadia Code" panose="020B0609020000020004" pitchFamily="49" charset="0"/>
                <a:cs typeface="Cascadia Code" panose="020B0609020000020004" pitchFamily="49" charset="0"/>
              </a:rPr>
              <a:t>    &lt;/div&gt;</a:t>
            </a:r>
          </a:p>
          <a:p>
            <a:r>
              <a:rPr lang="en-IN" dirty="0">
                <a:latin typeface="Cascadia Code" panose="020B0609020000020004" pitchFamily="49" charset="0"/>
                <a:ea typeface="Cascadia Code" panose="020B0609020000020004" pitchFamily="49" charset="0"/>
                <a:cs typeface="Cascadia Code" panose="020B0609020000020004" pitchFamily="49" charset="0"/>
              </a:rPr>
              <a:t>    &lt;div class="product"&gt;</a:t>
            </a:r>
          </a:p>
          <a:p>
            <a:r>
              <a:rPr lang="en-IN" dirty="0">
                <a:latin typeface="Cascadia Code" panose="020B0609020000020004" pitchFamily="49" charset="0"/>
                <a:ea typeface="Cascadia Code" panose="020B0609020000020004" pitchFamily="49" charset="0"/>
                <a:cs typeface="Cascadia Code" panose="020B0609020000020004" pitchFamily="49" charset="0"/>
              </a:rPr>
              <a:t>      &lt;h2 class="title"&gt;Ball&lt;/h2&gt;</a:t>
            </a:r>
          </a:p>
          <a:p>
            <a:r>
              <a:rPr lang="en-IN" dirty="0">
                <a:latin typeface="Cascadia Code" panose="020B0609020000020004" pitchFamily="49" charset="0"/>
                <a:ea typeface="Cascadia Code" panose="020B0609020000020004" pitchFamily="49" charset="0"/>
                <a:cs typeface="Cascadia Code" panose="020B0609020000020004" pitchFamily="49" charset="0"/>
              </a:rPr>
              <a:t>      &lt;span class="price"&gt;$20&lt;/span&gt;</a:t>
            </a:r>
          </a:p>
          <a:p>
            <a:r>
              <a:rPr lang="en-IN" dirty="0">
                <a:latin typeface="Cascadia Code" panose="020B0609020000020004" pitchFamily="49" charset="0"/>
                <a:ea typeface="Cascadia Code" panose="020B0609020000020004" pitchFamily="49" charset="0"/>
                <a:cs typeface="Cascadia Code" panose="020B0609020000020004" pitchFamily="49" charset="0"/>
              </a:rPr>
              <a:t>    &lt;/div&gt;</a:t>
            </a:r>
          </a:p>
          <a:p>
            <a:r>
              <a:rPr lang="en-IN" dirty="0">
                <a:latin typeface="Cascadia Code" panose="020B0609020000020004" pitchFamily="49" charset="0"/>
                <a:ea typeface="Cascadia Code" panose="020B0609020000020004" pitchFamily="49" charset="0"/>
                <a:cs typeface="Cascadia Code" panose="020B0609020000020004" pitchFamily="49" charset="0"/>
              </a:rPr>
              <a:t>  &lt;/body&gt;</a:t>
            </a:r>
          </a:p>
          <a:p>
            <a:r>
              <a:rPr lang="en-IN" dirty="0">
                <a:latin typeface="Cascadia Code" panose="020B0609020000020004" pitchFamily="49" charset="0"/>
                <a:ea typeface="Cascadia Code" panose="020B0609020000020004" pitchFamily="49" charset="0"/>
                <a:cs typeface="Cascadia Code" panose="020B0609020000020004" pitchFamily="49" charset="0"/>
              </a:rPr>
              <a:t>&lt;/html&gt;</a:t>
            </a:r>
          </a:p>
          <a:p>
            <a:r>
              <a:rPr lang="en-IN" dirty="0">
                <a:latin typeface="Cascadia Code" panose="020B0609020000020004" pitchFamily="49" charset="0"/>
                <a:ea typeface="Cascadia Code" panose="020B0609020000020004" pitchFamily="49" charset="0"/>
                <a:cs typeface="Cascadia Code" panose="020B0609020000020004" pitchFamily="49" charset="0"/>
              </a:rPr>
              <a:t>"""</a:t>
            </a:r>
          </a:p>
          <a:p>
            <a:endParaRPr lang="en-IN" dirty="0">
              <a:latin typeface="Cascadia Code" panose="020B0609020000020004" pitchFamily="49" charset="0"/>
              <a:ea typeface="Cascadia Code" panose="020B0609020000020004" pitchFamily="49" charset="0"/>
              <a:cs typeface="Cascadia Code" panose="020B0609020000020004" pitchFamily="49" charset="0"/>
            </a:endParaRPr>
          </a:p>
          <a:p>
            <a:endParaRPr lang="en-IN" dirty="0">
              <a:latin typeface="Cascadia Code" panose="020B0609020000020004" pitchFamily="49" charset="0"/>
              <a:ea typeface="Cascadia Code" panose="020B0609020000020004" pitchFamily="49" charset="0"/>
              <a:cs typeface="Cascadia Code" panose="020B0609020000020004" pitchFamily="49" charset="0"/>
            </a:endParaRPr>
          </a:p>
          <a:p>
            <a:r>
              <a:rPr lang="en-IN" dirty="0">
                <a:latin typeface="Cascadia Code" panose="020B0609020000020004" pitchFamily="49" charset="0"/>
                <a:ea typeface="Cascadia Code" panose="020B0609020000020004" pitchFamily="49" charset="0"/>
                <a:cs typeface="Cascadia Code" panose="020B0609020000020004" pitchFamily="49" charset="0"/>
              </a:rPr>
              <a:t>selector = Selector(text=html)</a:t>
            </a:r>
          </a:p>
          <a:p>
            <a:endParaRPr lang="en-IN" dirty="0">
              <a:latin typeface="Cascadia Code" panose="020B0609020000020004" pitchFamily="49" charset="0"/>
              <a:ea typeface="Cascadia Code" panose="020B0609020000020004" pitchFamily="49" charset="0"/>
              <a:cs typeface="Cascadia Code" panose="020B0609020000020004" pitchFamily="49" charset="0"/>
            </a:endParaRPr>
          </a:p>
          <a:p>
            <a:r>
              <a:rPr lang="en-IN" dirty="0">
                <a:latin typeface="Cascadia Code" panose="020B0609020000020004" pitchFamily="49" charset="0"/>
                <a:ea typeface="Cascadia Code" panose="020B0609020000020004" pitchFamily="49" charset="0"/>
                <a:cs typeface="Cascadia Code" panose="020B0609020000020004" pitchFamily="49" charset="0"/>
              </a:rPr>
              <a:t>for product in selector.css('</a:t>
            </a:r>
            <a:r>
              <a:rPr lang="en-IN" dirty="0" err="1">
                <a:latin typeface="Cascadia Code" panose="020B0609020000020004" pitchFamily="49" charset="0"/>
                <a:ea typeface="Cascadia Code" panose="020B0609020000020004" pitchFamily="49" charset="0"/>
                <a:cs typeface="Cascadia Code" panose="020B0609020000020004" pitchFamily="49" charset="0"/>
              </a:rPr>
              <a:t>div.product</a:t>
            </a:r>
            <a:r>
              <a:rPr lang="en-IN" dirty="0">
                <a:latin typeface="Cascadia Code" panose="020B0609020000020004" pitchFamily="49" charset="0"/>
                <a:ea typeface="Cascadia Code" panose="020B0609020000020004" pitchFamily="49" charset="0"/>
                <a:cs typeface="Cascadia Code" panose="020B0609020000020004" pitchFamily="49" charset="0"/>
              </a:rPr>
              <a:t>'):</a:t>
            </a:r>
          </a:p>
          <a:p>
            <a:r>
              <a:rPr lang="en-IN" dirty="0">
                <a:latin typeface="Cascadia Code" panose="020B0609020000020004" pitchFamily="49" charset="0"/>
                <a:ea typeface="Cascadia Code" panose="020B0609020000020004" pitchFamily="49" charset="0"/>
                <a:cs typeface="Cascadia Code" panose="020B0609020000020004" pitchFamily="49" charset="0"/>
              </a:rPr>
              <a:t>    print(product.css('h2.title::text').get())</a:t>
            </a:r>
          </a:p>
          <a:p>
            <a:r>
              <a:rPr lang="en-IN" dirty="0">
                <a:latin typeface="Cascadia Code" panose="020B0609020000020004" pitchFamily="49" charset="0"/>
                <a:ea typeface="Cascadia Code" panose="020B0609020000020004" pitchFamily="49" charset="0"/>
                <a:cs typeface="Cascadia Code" panose="020B0609020000020004" pitchFamily="49" charset="0"/>
              </a:rPr>
              <a:t>    print(product.css('</a:t>
            </a:r>
            <a:r>
              <a:rPr lang="en-IN" dirty="0" err="1">
                <a:latin typeface="Cascadia Code" panose="020B0609020000020004" pitchFamily="49" charset="0"/>
                <a:ea typeface="Cascadia Code" panose="020B0609020000020004" pitchFamily="49" charset="0"/>
                <a:cs typeface="Cascadia Code" panose="020B0609020000020004" pitchFamily="49" charset="0"/>
              </a:rPr>
              <a:t>span.price</a:t>
            </a:r>
            <a:r>
              <a:rPr lang="en-IN" dirty="0">
                <a:latin typeface="Cascadia Code" panose="020B0609020000020004" pitchFamily="49" charset="0"/>
                <a:ea typeface="Cascadia Code" panose="020B0609020000020004" pitchFamily="49" charset="0"/>
                <a:cs typeface="Cascadia Code" panose="020B0609020000020004" pitchFamily="49" charset="0"/>
              </a:rPr>
              <a:t>::text').get())</a:t>
            </a:r>
          </a:p>
        </p:txBody>
      </p:sp>
      <p:pic>
        <p:nvPicPr>
          <p:cNvPr id="4" name="Picture 3">
            <a:extLst>
              <a:ext uri="{FF2B5EF4-FFF2-40B4-BE49-F238E27FC236}">
                <a16:creationId xmlns:a16="http://schemas.microsoft.com/office/drawing/2014/main" id="{18AB02AC-4EC7-ADDB-DDF3-EB81DE9DDEA3}"/>
              </a:ext>
            </a:extLst>
          </p:cNvPr>
          <p:cNvPicPr>
            <a:picLocks noChangeAspect="1"/>
          </p:cNvPicPr>
          <p:nvPr/>
        </p:nvPicPr>
        <p:blipFill>
          <a:blip r:embed="rId2"/>
          <a:stretch>
            <a:fillRect/>
          </a:stretch>
        </p:blipFill>
        <p:spPr>
          <a:xfrm>
            <a:off x="10338112" y="4011884"/>
            <a:ext cx="1624976" cy="2764883"/>
          </a:xfrm>
          <a:prstGeom prst="rect">
            <a:avLst/>
          </a:prstGeom>
        </p:spPr>
      </p:pic>
      <p:sp>
        <p:nvSpPr>
          <p:cNvPr id="9" name="Title 1">
            <a:extLst>
              <a:ext uri="{FF2B5EF4-FFF2-40B4-BE49-F238E27FC236}">
                <a16:creationId xmlns:a16="http://schemas.microsoft.com/office/drawing/2014/main" id="{BA03F27F-C27B-D77B-64B5-6EF7F6205014}"/>
              </a:ext>
            </a:extLst>
          </p:cNvPr>
          <p:cNvSpPr txBox="1">
            <a:spLocks/>
          </p:cNvSpPr>
          <p:nvPr/>
        </p:nvSpPr>
        <p:spPr>
          <a:xfrm>
            <a:off x="114300" y="27256"/>
            <a:ext cx="11036300" cy="60960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4000">
                <a:solidFill>
                  <a:srgbClr val="0070C0"/>
                </a:solidFill>
              </a:rPr>
              <a:t>Retrieve data from webpage(html code) using scrapy</a:t>
            </a:r>
            <a:endParaRPr lang="en-US" sz="4000" dirty="0">
              <a:solidFill>
                <a:srgbClr val="0070C0"/>
              </a:solidFill>
            </a:endParaRPr>
          </a:p>
        </p:txBody>
      </p:sp>
    </p:spTree>
    <p:extLst>
      <p:ext uri="{BB962C8B-B14F-4D97-AF65-F5344CB8AC3E}">
        <p14:creationId xmlns:p14="http://schemas.microsoft.com/office/powerpoint/2010/main" val="61031109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F22B3-8553-BA93-51A7-1820E2A6DC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2962AE-DD1B-0855-9783-2A2C5FE9FFBD}"/>
              </a:ext>
            </a:extLst>
          </p:cNvPr>
          <p:cNvSpPr>
            <a:spLocks noGrp="1"/>
          </p:cNvSpPr>
          <p:nvPr>
            <p:ph type="title"/>
          </p:nvPr>
        </p:nvSpPr>
        <p:spPr>
          <a:xfrm>
            <a:off x="635000" y="27256"/>
            <a:ext cx="10515600" cy="609600"/>
          </a:xfrm>
        </p:spPr>
        <p:txBody>
          <a:bodyPr>
            <a:noAutofit/>
          </a:bodyPr>
          <a:lstStyle/>
          <a:p>
            <a:pPr algn="ctr"/>
            <a:r>
              <a:rPr lang="en-IN" sz="4000" dirty="0">
                <a:solidFill>
                  <a:srgbClr val="0070C0"/>
                </a:solidFill>
              </a:rPr>
              <a:t>Retrieve data from webpage using scrapy</a:t>
            </a:r>
            <a:endParaRPr lang="en-US" sz="4000" dirty="0">
              <a:solidFill>
                <a:srgbClr val="0070C0"/>
              </a:solidFill>
            </a:endParaRPr>
          </a:p>
        </p:txBody>
      </p:sp>
      <p:sp>
        <p:nvSpPr>
          <p:cNvPr id="5" name="TextBox 4">
            <a:extLst>
              <a:ext uri="{FF2B5EF4-FFF2-40B4-BE49-F238E27FC236}">
                <a16:creationId xmlns:a16="http://schemas.microsoft.com/office/drawing/2014/main" id="{6FD400F7-4F23-B0BF-7CA7-41F8A897DB90}"/>
              </a:ext>
            </a:extLst>
          </p:cNvPr>
          <p:cNvSpPr txBox="1"/>
          <p:nvPr/>
        </p:nvSpPr>
        <p:spPr>
          <a:xfrm>
            <a:off x="0" y="770522"/>
            <a:ext cx="11557000" cy="6109365"/>
          </a:xfrm>
          <a:prstGeom prst="rect">
            <a:avLst/>
          </a:prstGeom>
          <a:noFill/>
        </p:spPr>
        <p:txBody>
          <a:bodyPr wrap="square">
            <a:spAutoFit/>
          </a:bodyPr>
          <a:lstStyle/>
          <a:p>
            <a:r>
              <a:rPr lang="en-IN" sz="1700" dirty="0">
                <a:latin typeface="Cascadia Code" panose="020B0609020000020004" pitchFamily="49" charset="0"/>
                <a:ea typeface="Cascadia Code" panose="020B0609020000020004" pitchFamily="49" charset="0"/>
                <a:cs typeface="Cascadia Code" panose="020B0609020000020004" pitchFamily="49" charset="0"/>
              </a:rPr>
              <a:t>import scrapy</a:t>
            </a:r>
          </a:p>
          <a:p>
            <a:r>
              <a:rPr lang="en-IN" sz="1700" dirty="0">
                <a:latin typeface="Cascadia Code" panose="020B0609020000020004" pitchFamily="49" charset="0"/>
                <a:ea typeface="Cascadia Code" panose="020B0609020000020004" pitchFamily="49" charset="0"/>
                <a:cs typeface="Cascadia Code" panose="020B0609020000020004" pitchFamily="49" charset="0"/>
              </a:rPr>
              <a:t>from </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scrapy.crawler</a:t>
            </a:r>
            <a:r>
              <a:rPr lang="en-IN" sz="1700" dirty="0">
                <a:latin typeface="Cascadia Code" panose="020B0609020000020004" pitchFamily="49" charset="0"/>
                <a:ea typeface="Cascadia Code" panose="020B0609020000020004" pitchFamily="49" charset="0"/>
                <a:cs typeface="Cascadia Code" panose="020B0609020000020004" pitchFamily="49" charset="0"/>
              </a:rPr>
              <a:t> import </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CrawlerProcess</a:t>
            </a:r>
            <a:endParaRPr lang="en-IN" sz="1700" dirty="0">
              <a:latin typeface="Cascadia Code" panose="020B0609020000020004" pitchFamily="49" charset="0"/>
              <a:ea typeface="Cascadia Code" panose="020B0609020000020004" pitchFamily="49" charset="0"/>
              <a:cs typeface="Cascadia Code" panose="020B0609020000020004" pitchFamily="49" charset="0"/>
            </a:endParaRPr>
          </a:p>
          <a:p>
            <a:endParaRPr lang="en-IN" sz="1700" dirty="0">
              <a:latin typeface="Cascadia Code" panose="020B0609020000020004" pitchFamily="49" charset="0"/>
              <a:ea typeface="Cascadia Code" panose="020B0609020000020004" pitchFamily="49" charset="0"/>
              <a:cs typeface="Cascadia Code" panose="020B0609020000020004" pitchFamily="49" charset="0"/>
            </a:endParaRPr>
          </a:p>
          <a:p>
            <a:r>
              <a:rPr lang="en-IN" sz="1700" dirty="0">
                <a:latin typeface="Cascadia Code" panose="020B0609020000020004" pitchFamily="49" charset="0"/>
                <a:ea typeface="Cascadia Code" panose="020B0609020000020004" pitchFamily="49" charset="0"/>
                <a:cs typeface="Cascadia Code" panose="020B0609020000020004" pitchFamily="49" charset="0"/>
              </a:rPr>
              <a:t>class </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QuotesSpider</a:t>
            </a:r>
            <a:r>
              <a:rPr lang="en-IN" sz="1700" dirty="0">
                <a:latin typeface="Cascadia Code" panose="020B0609020000020004" pitchFamily="49" charset="0"/>
                <a:ea typeface="Cascadia Code" panose="020B0609020000020004" pitchFamily="49" charset="0"/>
                <a:cs typeface="Cascadia Code" panose="020B0609020000020004" pitchFamily="49" charset="0"/>
              </a:rPr>
              <a:t>(</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scrapy.Spider</a:t>
            </a:r>
            <a:r>
              <a:rPr lang="en-IN" sz="1700" dirty="0">
                <a:latin typeface="Cascadia Code" panose="020B0609020000020004" pitchFamily="49" charset="0"/>
                <a:ea typeface="Cascadia Code" panose="020B0609020000020004" pitchFamily="49" charset="0"/>
                <a:cs typeface="Cascadia Code" panose="020B0609020000020004" pitchFamily="49" charset="0"/>
              </a:rPr>
              <a:t>):</a:t>
            </a:r>
          </a:p>
          <a:p>
            <a:r>
              <a:rPr lang="en-IN" sz="1700" dirty="0">
                <a:latin typeface="Cascadia Code" panose="020B0609020000020004" pitchFamily="49" charset="0"/>
                <a:ea typeface="Cascadia Code" panose="020B0609020000020004" pitchFamily="49" charset="0"/>
                <a:cs typeface="Cascadia Code" panose="020B0609020000020004" pitchFamily="49" charset="0"/>
              </a:rPr>
              <a:t>    name = "quotes"</a:t>
            </a:r>
          </a:p>
          <a:p>
            <a:endParaRPr lang="en-IN" sz="1700" dirty="0">
              <a:latin typeface="Cascadia Code" panose="020B0609020000020004" pitchFamily="49" charset="0"/>
              <a:ea typeface="Cascadia Code" panose="020B0609020000020004" pitchFamily="49" charset="0"/>
              <a:cs typeface="Cascadia Code" panose="020B0609020000020004" pitchFamily="49" charset="0"/>
            </a:endParaRPr>
          </a:p>
          <a:p>
            <a:r>
              <a:rPr lang="en-IN" sz="1700" dirty="0">
                <a:latin typeface="Cascadia Code" panose="020B0609020000020004" pitchFamily="49" charset="0"/>
                <a:ea typeface="Cascadia Code" panose="020B0609020000020004" pitchFamily="49" charset="0"/>
                <a:cs typeface="Cascadia Code" panose="020B0609020000020004" pitchFamily="49" charset="0"/>
              </a:rPr>
              <a:t>    def </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start_requests</a:t>
            </a:r>
            <a:r>
              <a:rPr lang="en-IN" sz="1700" dirty="0">
                <a:latin typeface="Cascadia Code" panose="020B0609020000020004" pitchFamily="49" charset="0"/>
                <a:ea typeface="Cascadia Code" panose="020B0609020000020004" pitchFamily="49" charset="0"/>
                <a:cs typeface="Cascadia Code" panose="020B0609020000020004" pitchFamily="49" charset="0"/>
              </a:rPr>
              <a:t>(self):</a:t>
            </a:r>
          </a:p>
          <a:p>
            <a:r>
              <a:rPr lang="en-IN" sz="1700" dirty="0">
                <a:latin typeface="Cascadia Code" panose="020B0609020000020004" pitchFamily="49" charset="0"/>
                <a:ea typeface="Cascadia Code" panose="020B0609020000020004" pitchFamily="49" charset="0"/>
                <a:cs typeface="Cascadia Code" panose="020B0609020000020004" pitchFamily="49" charset="0"/>
              </a:rPr>
              <a:t>        yield </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scrapy.Request</a:t>
            </a:r>
            <a:r>
              <a:rPr lang="en-IN" sz="1700" dirty="0">
                <a:latin typeface="Cascadia Code" panose="020B0609020000020004" pitchFamily="49" charset="0"/>
                <a:ea typeface="Cascadia Code" panose="020B0609020000020004" pitchFamily="49" charset="0"/>
                <a:cs typeface="Cascadia Code" panose="020B0609020000020004" pitchFamily="49" charset="0"/>
              </a:rPr>
              <a:t>(</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url</a:t>
            </a:r>
            <a:r>
              <a:rPr lang="en-IN" sz="1700" dirty="0">
                <a:latin typeface="Cascadia Code" panose="020B0609020000020004" pitchFamily="49" charset="0"/>
                <a:ea typeface="Cascadia Code" panose="020B0609020000020004" pitchFamily="49" charset="0"/>
                <a:cs typeface="Cascadia Code" panose="020B0609020000020004" pitchFamily="49" charset="0"/>
              </a:rPr>
              <a:t>='http://quotes.toscrape.com', callback=</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self.parse</a:t>
            </a:r>
            <a:r>
              <a:rPr lang="en-IN" sz="1700" dirty="0">
                <a:latin typeface="Cascadia Code" panose="020B0609020000020004" pitchFamily="49" charset="0"/>
                <a:ea typeface="Cascadia Code" panose="020B0609020000020004" pitchFamily="49" charset="0"/>
                <a:cs typeface="Cascadia Code" panose="020B0609020000020004" pitchFamily="49" charset="0"/>
              </a:rPr>
              <a:t>)</a:t>
            </a:r>
          </a:p>
          <a:p>
            <a:endParaRPr lang="en-IN" sz="1700" dirty="0">
              <a:latin typeface="Cascadia Code" panose="020B0609020000020004" pitchFamily="49" charset="0"/>
              <a:ea typeface="Cascadia Code" panose="020B0609020000020004" pitchFamily="49" charset="0"/>
              <a:cs typeface="Cascadia Code" panose="020B0609020000020004" pitchFamily="49" charset="0"/>
            </a:endParaRPr>
          </a:p>
          <a:p>
            <a:r>
              <a:rPr lang="en-IN" sz="1700" dirty="0">
                <a:latin typeface="Cascadia Code" panose="020B0609020000020004" pitchFamily="49" charset="0"/>
                <a:ea typeface="Cascadia Code" panose="020B0609020000020004" pitchFamily="49" charset="0"/>
                <a:cs typeface="Cascadia Code" panose="020B0609020000020004" pitchFamily="49" charset="0"/>
              </a:rPr>
              <a:t>    def parse(self, response):</a:t>
            </a:r>
          </a:p>
          <a:p>
            <a:r>
              <a:rPr lang="en-IN" sz="1700" dirty="0">
                <a:latin typeface="Cascadia Code" panose="020B0609020000020004" pitchFamily="49" charset="0"/>
                <a:ea typeface="Cascadia Code" panose="020B0609020000020004" pitchFamily="49" charset="0"/>
                <a:cs typeface="Cascadia Code" panose="020B0609020000020004" pitchFamily="49" charset="0"/>
              </a:rPr>
              <a:t>        for quote in response.css('</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div.quote</a:t>
            </a:r>
            <a:r>
              <a:rPr lang="en-IN" sz="1700" dirty="0">
                <a:latin typeface="Cascadia Code" panose="020B0609020000020004" pitchFamily="49" charset="0"/>
                <a:ea typeface="Cascadia Code" panose="020B0609020000020004" pitchFamily="49" charset="0"/>
                <a:cs typeface="Cascadia Code" panose="020B0609020000020004" pitchFamily="49" charset="0"/>
              </a:rPr>
              <a:t>'):</a:t>
            </a:r>
          </a:p>
          <a:p>
            <a:r>
              <a:rPr lang="en-IN" sz="1700" dirty="0">
                <a:latin typeface="Cascadia Code" panose="020B0609020000020004" pitchFamily="49" charset="0"/>
                <a:ea typeface="Cascadia Code" panose="020B0609020000020004" pitchFamily="49" charset="0"/>
                <a:cs typeface="Cascadia Code" panose="020B0609020000020004" pitchFamily="49" charset="0"/>
              </a:rPr>
              <a:t>            text = quote.css('</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span.text</a:t>
            </a:r>
            <a:r>
              <a:rPr lang="en-IN" sz="1700" dirty="0">
                <a:latin typeface="Cascadia Code" panose="020B0609020000020004" pitchFamily="49" charset="0"/>
                <a:ea typeface="Cascadia Code" panose="020B0609020000020004" pitchFamily="49" charset="0"/>
                <a:cs typeface="Cascadia Code" panose="020B0609020000020004" pitchFamily="49" charset="0"/>
              </a:rPr>
              <a:t>::text').get()</a:t>
            </a:r>
          </a:p>
          <a:p>
            <a:r>
              <a:rPr lang="en-IN" sz="1700" dirty="0">
                <a:latin typeface="Cascadia Code" panose="020B0609020000020004" pitchFamily="49" charset="0"/>
                <a:ea typeface="Cascadia Code" panose="020B0609020000020004" pitchFamily="49" charset="0"/>
                <a:cs typeface="Cascadia Code" panose="020B0609020000020004" pitchFamily="49" charset="0"/>
              </a:rPr>
              <a:t>            author = quote.css('</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small.author</a:t>
            </a:r>
            <a:r>
              <a:rPr lang="en-IN" sz="1700" dirty="0">
                <a:latin typeface="Cascadia Code" panose="020B0609020000020004" pitchFamily="49" charset="0"/>
                <a:ea typeface="Cascadia Code" panose="020B0609020000020004" pitchFamily="49" charset="0"/>
                <a:cs typeface="Cascadia Code" panose="020B0609020000020004" pitchFamily="49" charset="0"/>
              </a:rPr>
              <a:t>::text').get()</a:t>
            </a:r>
          </a:p>
          <a:p>
            <a:r>
              <a:rPr lang="en-IN" sz="1700" dirty="0">
                <a:latin typeface="Cascadia Code" panose="020B0609020000020004" pitchFamily="49" charset="0"/>
                <a:ea typeface="Cascadia Code" panose="020B0609020000020004" pitchFamily="49" charset="0"/>
                <a:cs typeface="Cascadia Code" panose="020B0609020000020004" pitchFamily="49" charset="0"/>
              </a:rPr>
              <a:t>            tags = quote.css('</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div.tags</a:t>
            </a:r>
            <a:r>
              <a:rPr lang="en-IN" sz="1700" dirty="0">
                <a:latin typeface="Cascadia Code" panose="020B0609020000020004" pitchFamily="49" charset="0"/>
                <a:ea typeface="Cascadia Code" panose="020B0609020000020004" pitchFamily="49" charset="0"/>
                <a:cs typeface="Cascadia Code" panose="020B0609020000020004" pitchFamily="49" charset="0"/>
              </a:rPr>
              <a:t> </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a.tag</a:t>
            </a:r>
            <a:r>
              <a:rPr lang="en-IN" sz="1700" dirty="0">
                <a:latin typeface="Cascadia Code" panose="020B0609020000020004" pitchFamily="49" charset="0"/>
                <a:ea typeface="Cascadia Code" panose="020B0609020000020004" pitchFamily="49" charset="0"/>
                <a:cs typeface="Cascadia Code" panose="020B0609020000020004" pitchFamily="49" charset="0"/>
              </a:rPr>
              <a:t>::text').</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getall</a:t>
            </a:r>
            <a:r>
              <a:rPr lang="en-IN" sz="1700" dirty="0">
                <a:latin typeface="Cascadia Code" panose="020B0609020000020004" pitchFamily="49" charset="0"/>
                <a:ea typeface="Cascadia Code" panose="020B0609020000020004" pitchFamily="49" charset="0"/>
                <a:cs typeface="Cascadia Code" panose="020B0609020000020004" pitchFamily="49" charset="0"/>
              </a:rPr>
              <a:t>()</a:t>
            </a:r>
          </a:p>
          <a:p>
            <a:endParaRPr lang="en-IN" sz="1700" dirty="0">
              <a:latin typeface="Cascadia Code" panose="020B0609020000020004" pitchFamily="49" charset="0"/>
              <a:ea typeface="Cascadia Code" panose="020B0609020000020004" pitchFamily="49" charset="0"/>
              <a:cs typeface="Cascadia Code" panose="020B0609020000020004" pitchFamily="49" charset="0"/>
            </a:endParaRPr>
          </a:p>
          <a:p>
            <a:r>
              <a:rPr lang="en-IN" sz="1700" dirty="0">
                <a:latin typeface="Cascadia Code" panose="020B0609020000020004" pitchFamily="49" charset="0"/>
                <a:ea typeface="Cascadia Code" panose="020B0609020000020004" pitchFamily="49" charset="0"/>
                <a:cs typeface="Cascadia Code" panose="020B0609020000020004" pitchFamily="49" charset="0"/>
              </a:rPr>
              <a:t>            print(</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f"Quote</a:t>
            </a:r>
            <a:r>
              <a:rPr lang="en-IN" sz="1700" dirty="0">
                <a:latin typeface="Cascadia Code" panose="020B0609020000020004" pitchFamily="49" charset="0"/>
                <a:ea typeface="Cascadia Code" panose="020B0609020000020004" pitchFamily="49" charset="0"/>
                <a:cs typeface="Cascadia Code" panose="020B0609020000020004" pitchFamily="49" charset="0"/>
              </a:rPr>
              <a:t>: {text}")</a:t>
            </a:r>
          </a:p>
          <a:p>
            <a:r>
              <a:rPr lang="en-IN" sz="1700" dirty="0">
                <a:latin typeface="Cascadia Code" panose="020B0609020000020004" pitchFamily="49" charset="0"/>
                <a:ea typeface="Cascadia Code" panose="020B0609020000020004" pitchFamily="49" charset="0"/>
                <a:cs typeface="Cascadia Code" panose="020B0609020000020004" pitchFamily="49" charset="0"/>
              </a:rPr>
              <a:t>            print(</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f"Author</a:t>
            </a:r>
            <a:r>
              <a:rPr lang="en-IN" sz="1700" dirty="0">
                <a:latin typeface="Cascadia Code" panose="020B0609020000020004" pitchFamily="49" charset="0"/>
                <a:ea typeface="Cascadia Code" panose="020B0609020000020004" pitchFamily="49" charset="0"/>
                <a:cs typeface="Cascadia Code" panose="020B0609020000020004" pitchFamily="49" charset="0"/>
              </a:rPr>
              <a:t>: {author}")</a:t>
            </a:r>
          </a:p>
          <a:p>
            <a:r>
              <a:rPr lang="en-IN" sz="1700" dirty="0">
                <a:latin typeface="Cascadia Code" panose="020B0609020000020004" pitchFamily="49" charset="0"/>
                <a:ea typeface="Cascadia Code" panose="020B0609020000020004" pitchFamily="49" charset="0"/>
                <a:cs typeface="Cascadia Code" panose="020B0609020000020004" pitchFamily="49" charset="0"/>
              </a:rPr>
              <a:t>            print(</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f"Tags</a:t>
            </a:r>
            <a:r>
              <a:rPr lang="en-IN" sz="1700" dirty="0">
                <a:latin typeface="Cascadia Code" panose="020B0609020000020004" pitchFamily="49" charset="0"/>
                <a:ea typeface="Cascadia Code" panose="020B0609020000020004" pitchFamily="49" charset="0"/>
                <a:cs typeface="Cascadia Code" panose="020B0609020000020004" pitchFamily="49" charset="0"/>
              </a:rPr>
              <a:t>: {', '.join(tags)}")</a:t>
            </a:r>
          </a:p>
          <a:p>
            <a:r>
              <a:rPr lang="en-IN" sz="1700" dirty="0">
                <a:latin typeface="Cascadia Code" panose="020B0609020000020004" pitchFamily="49" charset="0"/>
                <a:ea typeface="Cascadia Code" panose="020B0609020000020004" pitchFamily="49" charset="0"/>
                <a:cs typeface="Cascadia Code" panose="020B0609020000020004" pitchFamily="49" charset="0"/>
              </a:rPr>
              <a:t>            </a:t>
            </a:r>
          </a:p>
          <a:p>
            <a:r>
              <a:rPr lang="en-IN" sz="1700" dirty="0">
                <a:solidFill>
                  <a:schemeClr val="accent6"/>
                </a:solidFill>
                <a:latin typeface="Cascadia Code" panose="020B0609020000020004" pitchFamily="49" charset="0"/>
                <a:ea typeface="Cascadia Code" panose="020B0609020000020004" pitchFamily="49" charset="0"/>
                <a:cs typeface="Cascadia Code" panose="020B0609020000020004" pitchFamily="49" charset="0"/>
              </a:rPr>
              <a:t># Run the spider in-process</a:t>
            </a:r>
          </a:p>
          <a:p>
            <a:r>
              <a:rPr lang="en-IN" sz="1700" dirty="0">
                <a:latin typeface="Cascadia Code" panose="020B0609020000020004" pitchFamily="49" charset="0"/>
                <a:ea typeface="Cascadia Code" panose="020B0609020000020004" pitchFamily="49" charset="0"/>
                <a:cs typeface="Cascadia Code" panose="020B0609020000020004" pitchFamily="49" charset="0"/>
              </a:rPr>
              <a:t>process = </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CrawlerProcess</a:t>
            </a:r>
            <a:r>
              <a:rPr lang="en-IN" sz="1700" dirty="0">
                <a:latin typeface="Cascadia Code" panose="020B0609020000020004" pitchFamily="49" charset="0"/>
                <a:ea typeface="Cascadia Code" panose="020B0609020000020004" pitchFamily="49" charset="0"/>
                <a:cs typeface="Cascadia Code" panose="020B0609020000020004" pitchFamily="49" charset="0"/>
              </a:rPr>
              <a:t>()</a:t>
            </a:r>
          </a:p>
          <a:p>
            <a:r>
              <a:rPr lang="en-IN" sz="1700" dirty="0" err="1">
                <a:latin typeface="Cascadia Code" panose="020B0609020000020004" pitchFamily="49" charset="0"/>
                <a:ea typeface="Cascadia Code" panose="020B0609020000020004" pitchFamily="49" charset="0"/>
                <a:cs typeface="Cascadia Code" panose="020B0609020000020004" pitchFamily="49" charset="0"/>
              </a:rPr>
              <a:t>process.crawl</a:t>
            </a:r>
            <a:r>
              <a:rPr lang="en-IN" sz="1700" dirty="0">
                <a:latin typeface="Cascadia Code" panose="020B0609020000020004" pitchFamily="49" charset="0"/>
                <a:ea typeface="Cascadia Code" panose="020B0609020000020004" pitchFamily="49" charset="0"/>
                <a:cs typeface="Cascadia Code" panose="020B0609020000020004" pitchFamily="49" charset="0"/>
              </a:rPr>
              <a:t>(</a:t>
            </a:r>
            <a:r>
              <a:rPr lang="en-IN" sz="1700" dirty="0" err="1">
                <a:latin typeface="Cascadia Code" panose="020B0609020000020004" pitchFamily="49" charset="0"/>
                <a:ea typeface="Cascadia Code" panose="020B0609020000020004" pitchFamily="49" charset="0"/>
                <a:cs typeface="Cascadia Code" panose="020B0609020000020004" pitchFamily="49" charset="0"/>
              </a:rPr>
              <a:t>QuotesSpider</a:t>
            </a:r>
            <a:r>
              <a:rPr lang="en-IN" sz="1700" dirty="0">
                <a:latin typeface="Cascadia Code" panose="020B0609020000020004" pitchFamily="49" charset="0"/>
                <a:ea typeface="Cascadia Code" panose="020B0609020000020004" pitchFamily="49" charset="0"/>
                <a:cs typeface="Cascadia Code" panose="020B0609020000020004" pitchFamily="49" charset="0"/>
              </a:rPr>
              <a:t>)</a:t>
            </a:r>
          </a:p>
          <a:p>
            <a:r>
              <a:rPr lang="en-IN" sz="1700" dirty="0" err="1">
                <a:latin typeface="Cascadia Code" panose="020B0609020000020004" pitchFamily="49" charset="0"/>
                <a:ea typeface="Cascadia Code" panose="020B0609020000020004" pitchFamily="49" charset="0"/>
                <a:cs typeface="Cascadia Code" panose="020B0609020000020004" pitchFamily="49" charset="0"/>
              </a:rPr>
              <a:t>process.start</a:t>
            </a:r>
            <a:r>
              <a:rPr lang="en-IN" sz="1700" dirty="0">
                <a:latin typeface="Cascadia Code" panose="020B0609020000020004" pitchFamily="49" charset="0"/>
                <a:ea typeface="Cascadia Code" panose="020B0609020000020004" pitchFamily="49" charset="0"/>
                <a:cs typeface="Cascadia Code" panose="020B0609020000020004" pitchFamily="49" charset="0"/>
              </a:rPr>
              <a:t>()</a:t>
            </a:r>
          </a:p>
        </p:txBody>
      </p:sp>
      <p:pic>
        <p:nvPicPr>
          <p:cNvPr id="6" name="Picture 5">
            <a:extLst>
              <a:ext uri="{FF2B5EF4-FFF2-40B4-BE49-F238E27FC236}">
                <a16:creationId xmlns:a16="http://schemas.microsoft.com/office/drawing/2014/main" id="{366043C0-6571-A2AE-6039-2721D5DCAC05}"/>
              </a:ext>
            </a:extLst>
          </p:cNvPr>
          <p:cNvPicPr>
            <a:picLocks noChangeAspect="1"/>
          </p:cNvPicPr>
          <p:nvPr/>
        </p:nvPicPr>
        <p:blipFill>
          <a:blip r:embed="rId2"/>
          <a:stretch>
            <a:fillRect/>
          </a:stretch>
        </p:blipFill>
        <p:spPr>
          <a:xfrm>
            <a:off x="5979038" y="5984239"/>
            <a:ext cx="6212962" cy="895647"/>
          </a:xfrm>
          <a:prstGeom prst="rect">
            <a:avLst/>
          </a:prstGeom>
        </p:spPr>
      </p:pic>
    </p:spTree>
    <p:extLst>
      <p:ext uri="{BB962C8B-B14F-4D97-AF65-F5344CB8AC3E}">
        <p14:creationId xmlns:p14="http://schemas.microsoft.com/office/powerpoint/2010/main" val="26364685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D7DB7-E6AD-0708-3D79-526F46CF19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D6B7E4-D22C-5316-2831-254D07686EFC}"/>
              </a:ext>
            </a:extLst>
          </p:cNvPr>
          <p:cNvSpPr>
            <a:spLocks noGrp="1"/>
          </p:cNvSpPr>
          <p:nvPr>
            <p:ph type="title"/>
          </p:nvPr>
        </p:nvSpPr>
        <p:spPr>
          <a:xfrm>
            <a:off x="635000" y="27256"/>
            <a:ext cx="10515600" cy="609600"/>
          </a:xfrm>
        </p:spPr>
        <p:txBody>
          <a:bodyPr>
            <a:noAutofit/>
          </a:bodyPr>
          <a:lstStyle/>
          <a:p>
            <a:pPr algn="ctr"/>
            <a:r>
              <a:rPr lang="en-IN" sz="3600" dirty="0">
                <a:solidFill>
                  <a:srgbClr val="0070C0"/>
                </a:solidFill>
              </a:rPr>
              <a:t>Scrapy Shell</a:t>
            </a:r>
            <a:endParaRPr lang="en-US" sz="3600" dirty="0">
              <a:solidFill>
                <a:srgbClr val="0070C0"/>
              </a:solidFill>
            </a:endParaRPr>
          </a:p>
        </p:txBody>
      </p:sp>
      <p:sp>
        <p:nvSpPr>
          <p:cNvPr id="5" name="TextBox 4">
            <a:extLst>
              <a:ext uri="{FF2B5EF4-FFF2-40B4-BE49-F238E27FC236}">
                <a16:creationId xmlns:a16="http://schemas.microsoft.com/office/drawing/2014/main" id="{CE614591-D814-C76E-722D-9C274F7AF6BC}"/>
              </a:ext>
            </a:extLst>
          </p:cNvPr>
          <p:cNvSpPr txBox="1"/>
          <p:nvPr/>
        </p:nvSpPr>
        <p:spPr>
          <a:xfrm>
            <a:off x="0" y="770522"/>
            <a:ext cx="11557000" cy="1569660"/>
          </a:xfrm>
          <a:prstGeom prst="rect">
            <a:avLst/>
          </a:prstGeom>
          <a:noFill/>
        </p:spPr>
        <p:txBody>
          <a:bodyPr wrap="square">
            <a:spAutoFit/>
          </a:bodyPr>
          <a:lstStyle/>
          <a:p>
            <a:pPr marL="342900" indent="-342900">
              <a:buFont typeface="Arial" panose="020B0604020202020204" pitchFamily="34" charset="0"/>
              <a:buChar char="•"/>
            </a:pPr>
            <a:r>
              <a:rPr lang="en-US" sz="2400" b="1" dirty="0"/>
              <a:t>Scrapy Shell</a:t>
            </a:r>
            <a:r>
              <a:rPr lang="en-US" sz="2400" dirty="0"/>
              <a:t> is an interactive command-line environment where you can:</a:t>
            </a:r>
          </a:p>
          <a:p>
            <a:pPr lvl="2">
              <a:buFont typeface="Arial" panose="020B0604020202020204" pitchFamily="34" charset="0"/>
              <a:buChar char="•"/>
            </a:pPr>
            <a:r>
              <a:rPr lang="en-US" sz="2400" dirty="0"/>
              <a:t>Explore web pages.</a:t>
            </a:r>
          </a:p>
          <a:p>
            <a:pPr lvl="2">
              <a:buFont typeface="Arial" panose="020B0604020202020204" pitchFamily="34" charset="0"/>
              <a:buChar char="•"/>
            </a:pPr>
            <a:r>
              <a:rPr lang="en-US" sz="2400" dirty="0"/>
              <a:t>Try out CSS/XPath selectors.</a:t>
            </a:r>
          </a:p>
          <a:p>
            <a:pPr lvl="2">
              <a:buFont typeface="Arial" panose="020B0604020202020204" pitchFamily="34" charset="0"/>
              <a:buChar char="•"/>
            </a:pPr>
            <a:r>
              <a:rPr lang="en-US" sz="2400" dirty="0"/>
              <a:t>Fetch and inspect HTML content</a:t>
            </a:r>
          </a:p>
        </p:txBody>
      </p:sp>
      <p:sp>
        <p:nvSpPr>
          <p:cNvPr id="4" name="TextBox 3">
            <a:extLst>
              <a:ext uri="{FF2B5EF4-FFF2-40B4-BE49-F238E27FC236}">
                <a16:creationId xmlns:a16="http://schemas.microsoft.com/office/drawing/2014/main" id="{0188FFB6-FF68-8B69-01FC-BD37015C3796}"/>
              </a:ext>
            </a:extLst>
          </p:cNvPr>
          <p:cNvSpPr txBox="1"/>
          <p:nvPr/>
        </p:nvSpPr>
        <p:spPr>
          <a:xfrm>
            <a:off x="96520" y="2778881"/>
            <a:ext cx="12207240" cy="3354765"/>
          </a:xfrm>
          <a:prstGeom prst="rect">
            <a:avLst/>
          </a:prstGeom>
          <a:noFill/>
        </p:spPr>
        <p:txBody>
          <a:bodyPr wrap="square">
            <a:spAutoFit/>
          </a:bodyPr>
          <a:lstStyle/>
          <a:p>
            <a:r>
              <a:rPr lang="en-US" sz="2400" dirty="0">
                <a:solidFill>
                  <a:srgbClr val="FF0000"/>
                </a:solidFill>
              </a:rPr>
              <a:t>How to Start Scrapy Shell</a:t>
            </a:r>
          </a:p>
          <a:p>
            <a:r>
              <a:rPr lang="en-US" sz="2400" dirty="0"/>
              <a:t>&gt;</a:t>
            </a:r>
            <a:r>
              <a:rPr lang="en-US" sz="2400" dirty="0">
                <a:solidFill>
                  <a:srgbClr val="7030A0"/>
                </a:solidFill>
              </a:rPr>
              <a:t>scrapy shell http://quotes.toscrape.com</a:t>
            </a:r>
          </a:p>
          <a:p>
            <a:endParaRPr lang="en-US" sz="2400" dirty="0"/>
          </a:p>
          <a:p>
            <a:pPr marL="342900" indent="-342900">
              <a:buFont typeface="Arial" panose="020B0604020202020204" pitchFamily="34" charset="0"/>
              <a:buChar char="•"/>
            </a:pPr>
            <a:r>
              <a:rPr kumimoji="0" lang="en-US" altLang="en-US" sz="2400" b="0" i="0" u="none" strike="noStrike" cap="none" normalizeH="0" baseline="0" dirty="0">
                <a:ln>
                  <a:noFill/>
                </a:ln>
                <a:solidFill>
                  <a:schemeClr val="tx1"/>
                </a:solidFill>
                <a:effectLst/>
              </a:rPr>
              <a:t>This fetches the page and drops you into an interactive shell with a response object ready to use.</a:t>
            </a:r>
          </a:p>
          <a:p>
            <a:endParaRPr lang="en-US" altLang="en-US" sz="2400" dirty="0"/>
          </a:p>
          <a:p>
            <a:r>
              <a:rPr lang="en-IN" sz="2400" dirty="0">
                <a:solidFill>
                  <a:srgbClr val="FF0000"/>
                </a:solidFill>
              </a:rPr>
              <a:t>View HTML</a:t>
            </a:r>
            <a:r>
              <a:rPr kumimoji="0" lang="en-US" altLang="en-US" sz="2400" b="0" i="0" u="none" strike="noStrike" cap="none" normalizeH="0" baseline="0" dirty="0">
                <a:ln>
                  <a:noFill/>
                </a:ln>
                <a:solidFill>
                  <a:srgbClr val="FF0000"/>
                </a:solidFill>
                <a:effectLst/>
              </a:rPr>
              <a:t> </a:t>
            </a:r>
          </a:p>
          <a:p>
            <a:r>
              <a:rPr lang="en-IN" sz="2400" dirty="0">
                <a:solidFill>
                  <a:srgbClr val="7030A0"/>
                </a:solidFill>
              </a:rPr>
              <a:t>In [6]: </a:t>
            </a:r>
            <a:r>
              <a:rPr lang="en-IN" sz="2400" dirty="0"/>
              <a:t>print(</a:t>
            </a:r>
            <a:r>
              <a:rPr lang="en-IN" sz="2400" dirty="0" err="1"/>
              <a:t>response.text</a:t>
            </a:r>
            <a:r>
              <a:rPr lang="en-IN" sz="2400" dirty="0"/>
              <a:t>)</a:t>
            </a:r>
          </a:p>
          <a:p>
            <a:endParaRPr lang="en-IN" sz="2000" dirty="0"/>
          </a:p>
        </p:txBody>
      </p:sp>
    </p:spTree>
    <p:extLst>
      <p:ext uri="{BB962C8B-B14F-4D97-AF65-F5344CB8AC3E}">
        <p14:creationId xmlns:p14="http://schemas.microsoft.com/office/powerpoint/2010/main" val="400379033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C50BC-0766-3B16-29F7-0AE60BCD4A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CC574D-8E89-3B93-0F25-B0185AD6B1A9}"/>
              </a:ext>
            </a:extLst>
          </p:cNvPr>
          <p:cNvSpPr>
            <a:spLocks noGrp="1"/>
          </p:cNvSpPr>
          <p:nvPr>
            <p:ph type="title"/>
          </p:nvPr>
        </p:nvSpPr>
        <p:spPr>
          <a:xfrm>
            <a:off x="635000" y="27256"/>
            <a:ext cx="10515600" cy="609600"/>
          </a:xfrm>
        </p:spPr>
        <p:txBody>
          <a:bodyPr>
            <a:noAutofit/>
          </a:bodyPr>
          <a:lstStyle/>
          <a:p>
            <a:pPr algn="ctr"/>
            <a:r>
              <a:rPr lang="en-IN" sz="4000" dirty="0">
                <a:solidFill>
                  <a:srgbClr val="0070C0"/>
                </a:solidFill>
              </a:rPr>
              <a:t>Scrapy Shell</a:t>
            </a:r>
            <a:endParaRPr lang="en-US" sz="4000" dirty="0">
              <a:solidFill>
                <a:srgbClr val="0070C0"/>
              </a:solidFill>
            </a:endParaRPr>
          </a:p>
        </p:txBody>
      </p:sp>
      <p:sp>
        <p:nvSpPr>
          <p:cNvPr id="6" name="TextBox 5">
            <a:extLst>
              <a:ext uri="{FF2B5EF4-FFF2-40B4-BE49-F238E27FC236}">
                <a16:creationId xmlns:a16="http://schemas.microsoft.com/office/drawing/2014/main" id="{14405905-A1F6-BA09-8E6A-5EAEB560B0FE}"/>
              </a:ext>
            </a:extLst>
          </p:cNvPr>
          <p:cNvSpPr txBox="1"/>
          <p:nvPr/>
        </p:nvSpPr>
        <p:spPr>
          <a:xfrm>
            <a:off x="203200" y="1138317"/>
            <a:ext cx="11785600" cy="4247317"/>
          </a:xfrm>
          <a:prstGeom prst="rect">
            <a:avLst/>
          </a:prstGeom>
          <a:noFill/>
        </p:spPr>
        <p:txBody>
          <a:bodyPr wrap="square">
            <a:spAutoFit/>
          </a:bodyPr>
          <a:lstStyle/>
          <a:p>
            <a:r>
              <a:rPr lang="en-US" sz="3000" dirty="0">
                <a:solidFill>
                  <a:srgbClr val="FF0000"/>
                </a:solidFill>
              </a:rPr>
              <a:t>Extract data</a:t>
            </a:r>
            <a:endParaRPr lang="en-IN" sz="3000" dirty="0">
              <a:solidFill>
                <a:srgbClr val="FF0000"/>
              </a:solidFill>
            </a:endParaRPr>
          </a:p>
          <a:p>
            <a:endParaRPr lang="en-IN" sz="2400" dirty="0">
              <a:solidFill>
                <a:srgbClr val="C00000"/>
              </a:solidFill>
            </a:endParaRPr>
          </a:p>
          <a:p>
            <a:r>
              <a:rPr lang="en-IN" sz="2400" dirty="0">
                <a:solidFill>
                  <a:srgbClr val="7030A0"/>
                </a:solidFill>
              </a:rPr>
              <a:t>In [7]: print(response.css('</a:t>
            </a:r>
            <a:r>
              <a:rPr lang="en-IN" sz="2400" dirty="0" err="1">
                <a:solidFill>
                  <a:srgbClr val="7030A0"/>
                </a:solidFill>
              </a:rPr>
              <a:t>span.text</a:t>
            </a:r>
            <a:r>
              <a:rPr lang="en-IN" sz="2400" dirty="0">
                <a:solidFill>
                  <a:srgbClr val="7030A0"/>
                </a:solidFill>
              </a:rPr>
              <a:t>::text').get())</a:t>
            </a:r>
          </a:p>
          <a:p>
            <a:r>
              <a:rPr lang="en-IN" sz="2400" dirty="0"/>
              <a:t>“The world as we have created it is a process of our thinking. It cannot be changed without changing our thinking.”</a:t>
            </a:r>
          </a:p>
          <a:p>
            <a:endParaRPr lang="en-IN" sz="2400" dirty="0"/>
          </a:p>
          <a:p>
            <a:r>
              <a:rPr lang="en-IN" sz="2400" dirty="0">
                <a:solidFill>
                  <a:srgbClr val="7030A0"/>
                </a:solidFill>
              </a:rPr>
              <a:t>In [8]: print(response.css('</a:t>
            </a:r>
            <a:r>
              <a:rPr lang="en-IN" sz="2400" dirty="0" err="1">
                <a:solidFill>
                  <a:srgbClr val="7030A0"/>
                </a:solidFill>
              </a:rPr>
              <a:t>small.author</a:t>
            </a:r>
            <a:r>
              <a:rPr lang="en-IN" sz="2400" dirty="0">
                <a:solidFill>
                  <a:srgbClr val="7030A0"/>
                </a:solidFill>
              </a:rPr>
              <a:t>::text').get())</a:t>
            </a:r>
          </a:p>
          <a:p>
            <a:r>
              <a:rPr lang="en-IN" sz="2400" dirty="0"/>
              <a:t>Albert Einstein</a:t>
            </a:r>
          </a:p>
          <a:p>
            <a:endParaRPr lang="en-IN" sz="2400" dirty="0"/>
          </a:p>
          <a:p>
            <a:r>
              <a:rPr lang="en-IN" sz="2400" dirty="0">
                <a:solidFill>
                  <a:srgbClr val="7030A0"/>
                </a:solidFill>
              </a:rPr>
              <a:t>In [9]: print(response.css('</a:t>
            </a:r>
            <a:r>
              <a:rPr lang="en-IN" sz="2400" dirty="0" err="1">
                <a:solidFill>
                  <a:srgbClr val="7030A0"/>
                </a:solidFill>
              </a:rPr>
              <a:t>div.tags</a:t>
            </a:r>
            <a:r>
              <a:rPr lang="en-IN" sz="2400" dirty="0">
                <a:solidFill>
                  <a:srgbClr val="7030A0"/>
                </a:solidFill>
              </a:rPr>
              <a:t> </a:t>
            </a:r>
            <a:r>
              <a:rPr lang="en-IN" sz="2400" dirty="0" err="1">
                <a:solidFill>
                  <a:srgbClr val="7030A0"/>
                </a:solidFill>
              </a:rPr>
              <a:t>a.tag</a:t>
            </a:r>
            <a:r>
              <a:rPr lang="en-IN" sz="2400" dirty="0">
                <a:solidFill>
                  <a:srgbClr val="7030A0"/>
                </a:solidFill>
              </a:rPr>
              <a:t>::text').</a:t>
            </a:r>
            <a:r>
              <a:rPr lang="en-IN" sz="2400" dirty="0" err="1">
                <a:solidFill>
                  <a:srgbClr val="7030A0"/>
                </a:solidFill>
              </a:rPr>
              <a:t>getall</a:t>
            </a:r>
            <a:r>
              <a:rPr lang="en-IN" sz="2400" dirty="0">
                <a:solidFill>
                  <a:srgbClr val="7030A0"/>
                </a:solidFill>
              </a:rPr>
              <a:t>())</a:t>
            </a:r>
          </a:p>
          <a:p>
            <a:r>
              <a:rPr lang="en-IN" sz="2400" dirty="0"/>
              <a:t>['change', 'deep-thoughts', 'thinking', 'world']</a:t>
            </a:r>
          </a:p>
        </p:txBody>
      </p:sp>
    </p:spTree>
    <p:extLst>
      <p:ext uri="{BB962C8B-B14F-4D97-AF65-F5344CB8AC3E}">
        <p14:creationId xmlns:p14="http://schemas.microsoft.com/office/powerpoint/2010/main" val="41745893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67038-18BE-77A6-CB15-C8EB11AF23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176FE8-E7E6-72E1-9A24-7266EE2853EC}"/>
              </a:ext>
            </a:extLst>
          </p:cNvPr>
          <p:cNvSpPr>
            <a:spLocks noGrp="1"/>
          </p:cNvSpPr>
          <p:nvPr>
            <p:ph type="title"/>
          </p:nvPr>
        </p:nvSpPr>
        <p:spPr>
          <a:xfrm>
            <a:off x="635000" y="27256"/>
            <a:ext cx="10515600" cy="609600"/>
          </a:xfrm>
        </p:spPr>
        <p:txBody>
          <a:bodyPr>
            <a:noAutofit/>
          </a:bodyPr>
          <a:lstStyle/>
          <a:p>
            <a:pPr algn="ctr"/>
            <a:r>
              <a:rPr lang="en-US" sz="4000" dirty="0">
                <a:solidFill>
                  <a:schemeClr val="accent1"/>
                </a:solidFill>
                <a:latin typeface="+mn-lt"/>
              </a:rPr>
              <a:t>Social Media Mining</a:t>
            </a:r>
          </a:p>
        </p:txBody>
      </p:sp>
      <p:sp>
        <p:nvSpPr>
          <p:cNvPr id="6" name="TextBox 5">
            <a:extLst>
              <a:ext uri="{FF2B5EF4-FFF2-40B4-BE49-F238E27FC236}">
                <a16:creationId xmlns:a16="http://schemas.microsoft.com/office/drawing/2014/main" id="{B99580B0-4192-DC00-1EF6-9935D4A1EDDC}"/>
              </a:ext>
            </a:extLst>
          </p:cNvPr>
          <p:cNvSpPr txBox="1"/>
          <p:nvPr/>
        </p:nvSpPr>
        <p:spPr>
          <a:xfrm>
            <a:off x="203200" y="1138317"/>
            <a:ext cx="11785600" cy="5632311"/>
          </a:xfrm>
          <a:prstGeom prst="rect">
            <a:avLst/>
          </a:prstGeom>
          <a:noFill/>
        </p:spPr>
        <p:txBody>
          <a:bodyPr wrap="square">
            <a:spAutoFit/>
          </a:bodyPr>
          <a:lstStyle/>
          <a:p>
            <a:pPr marL="457200" indent="-457200" algn="just">
              <a:buFont typeface="Arial" panose="020B0604020202020204" pitchFamily="34" charset="0"/>
              <a:buChar char="•"/>
            </a:pPr>
            <a:r>
              <a:rPr lang="en-US" sz="2400" dirty="0"/>
              <a:t>Social Media Mining is the process of </a:t>
            </a:r>
            <a:r>
              <a:rPr lang="en-US" sz="2400" dirty="0">
                <a:solidFill>
                  <a:srgbClr val="7030A0"/>
                </a:solidFill>
              </a:rPr>
              <a:t>representing, analyzing, and extracting patterns</a:t>
            </a:r>
            <a:r>
              <a:rPr lang="en-US" sz="2400" dirty="0"/>
              <a:t> from </a:t>
            </a:r>
            <a:r>
              <a:rPr lang="en-US" sz="2400" dirty="0">
                <a:solidFill>
                  <a:srgbClr val="7030A0"/>
                </a:solidFill>
              </a:rPr>
              <a:t>social media data</a:t>
            </a:r>
            <a:r>
              <a:rPr lang="en-US" sz="2400" dirty="0"/>
              <a:t>.</a:t>
            </a:r>
          </a:p>
          <a:p>
            <a:pPr marL="342900" indent="-342900" algn="just">
              <a:buFont typeface="Arial" panose="020B0604020202020204" pitchFamily="34" charset="0"/>
              <a:buChar char="•"/>
            </a:pPr>
            <a:r>
              <a:rPr lang="en-IN" sz="2400" dirty="0"/>
              <a:t>Social media mining is the process of </a:t>
            </a:r>
            <a:r>
              <a:rPr lang="en-IN" sz="2400" dirty="0">
                <a:solidFill>
                  <a:srgbClr val="7030A0"/>
                </a:solidFill>
              </a:rPr>
              <a:t>extracting useful information, patterns, and insights </a:t>
            </a:r>
            <a:r>
              <a:rPr lang="en-IN" sz="2400" dirty="0"/>
              <a:t>from social media platforms like Twitter, Facebook, Instagram, Reddit, etc. </a:t>
            </a:r>
          </a:p>
          <a:p>
            <a:pPr marL="342900" indent="-342900" algn="just">
              <a:buFont typeface="Arial" panose="020B0604020202020204" pitchFamily="34" charset="0"/>
              <a:buChar char="•"/>
            </a:pPr>
            <a:r>
              <a:rPr lang="en-IN" sz="2400" dirty="0"/>
              <a:t>It combines techniques from: </a:t>
            </a:r>
            <a:r>
              <a:rPr lang="en-IN" sz="2400" b="1" dirty="0"/>
              <a:t>Data mining, Machine learning, Natural language processing (NLP) and Network analysis</a:t>
            </a:r>
          </a:p>
          <a:p>
            <a:pPr marL="342900" indent="-342900" algn="just">
              <a:buFont typeface="Arial" panose="020B0604020202020204" pitchFamily="34" charset="0"/>
              <a:buChar char="•"/>
            </a:pPr>
            <a:endParaRPr lang="en-IN" sz="2400" dirty="0"/>
          </a:p>
          <a:p>
            <a:pPr algn="just">
              <a:buNone/>
            </a:pPr>
            <a:r>
              <a:rPr lang="en-IN" sz="2400" dirty="0"/>
              <a:t>Applications include:</a:t>
            </a:r>
          </a:p>
          <a:p>
            <a:pPr lvl="1" algn="just">
              <a:buFont typeface="Arial" panose="020B0604020202020204" pitchFamily="34" charset="0"/>
              <a:buChar char="•"/>
            </a:pPr>
            <a:r>
              <a:rPr lang="en-IN" sz="2400" dirty="0"/>
              <a:t>Sentiment analysis</a:t>
            </a:r>
          </a:p>
          <a:p>
            <a:pPr lvl="1" algn="just">
              <a:buFont typeface="Arial" panose="020B0604020202020204" pitchFamily="34" charset="0"/>
              <a:buChar char="•"/>
            </a:pPr>
            <a:r>
              <a:rPr lang="en-IN" sz="2400" dirty="0"/>
              <a:t>Trend detection</a:t>
            </a:r>
          </a:p>
          <a:p>
            <a:pPr lvl="1" algn="just">
              <a:buFont typeface="Arial" panose="020B0604020202020204" pitchFamily="34" charset="0"/>
              <a:buChar char="•"/>
            </a:pPr>
            <a:r>
              <a:rPr lang="en-IN" sz="2400" dirty="0"/>
              <a:t>Influencer identification</a:t>
            </a:r>
          </a:p>
          <a:p>
            <a:pPr lvl="1" algn="just">
              <a:buFont typeface="Arial" panose="020B0604020202020204" pitchFamily="34" charset="0"/>
              <a:buChar char="•"/>
            </a:pPr>
            <a:r>
              <a:rPr lang="en-IN" sz="2400" dirty="0"/>
              <a:t>Crisis monitoring</a:t>
            </a:r>
          </a:p>
          <a:p>
            <a:pPr lvl="1" algn="just">
              <a:buFont typeface="Arial" panose="020B0604020202020204" pitchFamily="34" charset="0"/>
              <a:buChar char="•"/>
            </a:pPr>
            <a:r>
              <a:rPr lang="en-IN" sz="2400" dirty="0"/>
              <a:t>Market analysis</a:t>
            </a:r>
          </a:p>
          <a:p>
            <a:pPr marL="457200" indent="-457200">
              <a:buFont typeface="Arial" panose="020B0604020202020204" pitchFamily="34" charset="0"/>
              <a:buChar char="•"/>
            </a:pPr>
            <a:endParaRPr lang="en-US" sz="2400" dirty="0"/>
          </a:p>
          <a:p>
            <a:pPr marL="457200" indent="-457200">
              <a:buFont typeface="Arial" panose="020B0604020202020204" pitchFamily="34" charset="0"/>
              <a:buChar char="•"/>
            </a:pPr>
            <a:endParaRPr lang="en-IN" sz="2400" dirty="0"/>
          </a:p>
        </p:txBody>
      </p:sp>
    </p:spTree>
    <p:extLst>
      <p:ext uri="{BB962C8B-B14F-4D97-AF65-F5344CB8AC3E}">
        <p14:creationId xmlns:p14="http://schemas.microsoft.com/office/powerpoint/2010/main" val="87346346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F8F45-FBAA-2FD5-C1E1-BD250C7EC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C9E3D1-7018-74A7-F5A2-812B872EA987}"/>
              </a:ext>
            </a:extLst>
          </p:cNvPr>
          <p:cNvSpPr>
            <a:spLocks noGrp="1"/>
          </p:cNvSpPr>
          <p:nvPr>
            <p:ph type="title"/>
          </p:nvPr>
        </p:nvSpPr>
        <p:spPr>
          <a:xfrm>
            <a:off x="635000" y="27256"/>
            <a:ext cx="10515600" cy="609600"/>
          </a:xfrm>
        </p:spPr>
        <p:txBody>
          <a:bodyPr>
            <a:noAutofit/>
          </a:bodyPr>
          <a:lstStyle/>
          <a:p>
            <a:pPr algn="ctr"/>
            <a:r>
              <a:rPr lang="en-US" sz="4000" dirty="0">
                <a:solidFill>
                  <a:schemeClr val="accent1"/>
                </a:solidFill>
                <a:latin typeface="+mn-lt"/>
              </a:rPr>
              <a:t>Social Media Mining</a:t>
            </a:r>
          </a:p>
        </p:txBody>
      </p:sp>
      <p:sp>
        <p:nvSpPr>
          <p:cNvPr id="6" name="TextBox 5">
            <a:extLst>
              <a:ext uri="{FF2B5EF4-FFF2-40B4-BE49-F238E27FC236}">
                <a16:creationId xmlns:a16="http://schemas.microsoft.com/office/drawing/2014/main" id="{8C02FEA4-5E32-9105-D35D-7D16326CF9C2}"/>
              </a:ext>
            </a:extLst>
          </p:cNvPr>
          <p:cNvSpPr txBox="1"/>
          <p:nvPr/>
        </p:nvSpPr>
        <p:spPr>
          <a:xfrm>
            <a:off x="203200" y="1138317"/>
            <a:ext cx="11785600" cy="5516895"/>
          </a:xfrm>
          <a:prstGeom prst="rect">
            <a:avLst/>
          </a:prstGeom>
          <a:noFill/>
        </p:spPr>
        <p:txBody>
          <a:bodyPr wrap="square">
            <a:spAutoFit/>
          </a:bodyPr>
          <a:lstStyle/>
          <a:p>
            <a:pPr algn="just">
              <a:spcAft>
                <a:spcPts val="1500"/>
              </a:spcAft>
              <a:buNone/>
            </a:pPr>
            <a:r>
              <a:rPr lang="en-US" sz="2800" b="1" i="0" dirty="0">
                <a:solidFill>
                  <a:srgbClr val="FF0000"/>
                </a:solidFill>
                <a:effectLst/>
              </a:rPr>
              <a:t>Data Collection</a:t>
            </a:r>
          </a:p>
          <a:p>
            <a:pPr marL="342900" indent="-342900" algn="just">
              <a:buFont typeface="Arial" panose="020B0604020202020204" pitchFamily="34" charset="0"/>
              <a:buChar char="•"/>
            </a:pPr>
            <a:r>
              <a:rPr lang="en-US" sz="2400" dirty="0"/>
              <a:t>In social media mining, </a:t>
            </a:r>
            <a:r>
              <a:rPr lang="en-US" sz="2400" b="1" dirty="0"/>
              <a:t>data collection</a:t>
            </a:r>
            <a:r>
              <a:rPr lang="en-US" sz="2400" dirty="0"/>
              <a:t> refers to gathering raw social media data.</a:t>
            </a:r>
          </a:p>
          <a:p>
            <a:pPr algn="just"/>
            <a:r>
              <a:rPr lang="en-US" sz="2400" dirty="0"/>
              <a:t>using: </a:t>
            </a:r>
          </a:p>
          <a:p>
            <a:pPr algn="just">
              <a:buNone/>
            </a:pPr>
            <a:r>
              <a:rPr lang="en-US" sz="2400" b="1" i="0" dirty="0">
                <a:effectLst/>
              </a:rPr>
              <a:t>Web Scraping</a:t>
            </a:r>
            <a:r>
              <a:rPr lang="en-US" sz="2400" b="0" i="0" dirty="0">
                <a:effectLst/>
              </a:rPr>
              <a:t>: Using automated scripts to gather data from social media websites.</a:t>
            </a:r>
          </a:p>
          <a:p>
            <a:pPr algn="just"/>
            <a:r>
              <a:rPr lang="en-US" sz="2400" b="1" i="0" dirty="0">
                <a:effectLst/>
              </a:rPr>
              <a:t>APIs</a:t>
            </a:r>
            <a:r>
              <a:rPr lang="en-US" sz="2400" b="0" i="0" dirty="0">
                <a:effectLst/>
              </a:rPr>
              <a:t>: Many social media platforms offer application programming interfaces (APIs) that allow developers to access user data and perform queries.</a:t>
            </a:r>
          </a:p>
          <a:p>
            <a:pPr lvl="1" algn="just">
              <a:buFont typeface="Arial" panose="020B0604020202020204" pitchFamily="34" charset="0"/>
              <a:buChar char="•"/>
            </a:pPr>
            <a:r>
              <a:rPr lang="en-IN" sz="2400" b="1" dirty="0"/>
              <a:t>APIs</a:t>
            </a:r>
            <a:r>
              <a:rPr lang="en-IN" sz="2400" dirty="0"/>
              <a:t> (e.g., Twitter API, Facebook Graph API)</a:t>
            </a:r>
            <a:endParaRPr lang="en-US" sz="2400" b="0" i="0" dirty="0">
              <a:effectLst/>
            </a:endParaRPr>
          </a:p>
          <a:p>
            <a:r>
              <a:rPr lang="en-US" sz="2400" b="1" dirty="0"/>
              <a:t>Streaming services</a:t>
            </a:r>
            <a:r>
              <a:rPr lang="en-US" sz="2400" dirty="0"/>
              <a:t> (e.g., Twitter streaming API for real-time data)</a:t>
            </a:r>
          </a:p>
          <a:p>
            <a:pPr>
              <a:buNone/>
            </a:pPr>
            <a:r>
              <a:rPr lang="en-US" sz="2400" dirty="0"/>
              <a:t>Common data collected:</a:t>
            </a:r>
          </a:p>
          <a:p>
            <a:pPr lvl="1">
              <a:buFont typeface="Arial" panose="020B0604020202020204" pitchFamily="34" charset="0"/>
              <a:buChar char="•"/>
            </a:pPr>
            <a:r>
              <a:rPr lang="en-US" sz="2400" dirty="0"/>
              <a:t>Posts/tweets</a:t>
            </a:r>
          </a:p>
          <a:p>
            <a:pPr lvl="1">
              <a:buFont typeface="Arial" panose="020B0604020202020204" pitchFamily="34" charset="0"/>
              <a:buChar char="•"/>
            </a:pPr>
            <a:r>
              <a:rPr lang="en-US" sz="2400" dirty="0"/>
              <a:t>User profiles</a:t>
            </a:r>
          </a:p>
          <a:p>
            <a:pPr lvl="1">
              <a:buFont typeface="Arial" panose="020B0604020202020204" pitchFamily="34" charset="0"/>
              <a:buChar char="•"/>
            </a:pPr>
            <a:r>
              <a:rPr lang="en-US" sz="2400" dirty="0"/>
              <a:t>Likes, shares, and comments</a:t>
            </a:r>
          </a:p>
          <a:p>
            <a:pPr lvl="1">
              <a:buFont typeface="Arial" panose="020B0604020202020204" pitchFamily="34" charset="0"/>
              <a:buChar char="•"/>
            </a:pPr>
            <a:r>
              <a:rPr lang="en-US" sz="2400" dirty="0"/>
              <a:t>Hashtags and mentions</a:t>
            </a:r>
          </a:p>
          <a:p>
            <a:pPr lvl="1">
              <a:buFont typeface="Arial" panose="020B0604020202020204" pitchFamily="34" charset="0"/>
              <a:buChar char="•"/>
            </a:pPr>
            <a:r>
              <a:rPr lang="en-US" sz="2400" dirty="0"/>
              <a:t>Timestamps and locations (if available)</a:t>
            </a:r>
          </a:p>
        </p:txBody>
      </p:sp>
    </p:spTree>
    <p:extLst>
      <p:ext uri="{BB962C8B-B14F-4D97-AF65-F5344CB8AC3E}">
        <p14:creationId xmlns:p14="http://schemas.microsoft.com/office/powerpoint/2010/main" val="17113474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0EC1C-5186-DB45-BAAB-55905E4F61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4D1CC0-E7BE-1116-6077-39C978996BDC}"/>
              </a:ext>
            </a:extLst>
          </p:cNvPr>
          <p:cNvSpPr>
            <a:spLocks noGrp="1"/>
          </p:cNvSpPr>
          <p:nvPr>
            <p:ph type="title"/>
          </p:nvPr>
        </p:nvSpPr>
        <p:spPr>
          <a:xfrm>
            <a:off x="635000" y="27256"/>
            <a:ext cx="10515600" cy="609600"/>
          </a:xfrm>
        </p:spPr>
        <p:txBody>
          <a:bodyPr>
            <a:noAutofit/>
          </a:bodyPr>
          <a:lstStyle/>
          <a:p>
            <a:pPr algn="ctr"/>
            <a:r>
              <a:rPr lang="en-US" sz="4000" dirty="0">
                <a:solidFill>
                  <a:schemeClr val="accent1"/>
                </a:solidFill>
                <a:latin typeface="+mn-lt"/>
              </a:rPr>
              <a:t>Social Media Mining</a:t>
            </a:r>
            <a:endParaRPr lang="en-US" sz="4000" dirty="0">
              <a:solidFill>
                <a:srgbClr val="0070C0"/>
              </a:solidFill>
            </a:endParaRPr>
          </a:p>
        </p:txBody>
      </p:sp>
      <p:sp>
        <p:nvSpPr>
          <p:cNvPr id="6" name="TextBox 5">
            <a:extLst>
              <a:ext uri="{FF2B5EF4-FFF2-40B4-BE49-F238E27FC236}">
                <a16:creationId xmlns:a16="http://schemas.microsoft.com/office/drawing/2014/main" id="{FE870A2D-D991-EF1C-AB2B-10031C9F0107}"/>
              </a:ext>
            </a:extLst>
          </p:cNvPr>
          <p:cNvSpPr txBox="1"/>
          <p:nvPr/>
        </p:nvSpPr>
        <p:spPr>
          <a:xfrm>
            <a:off x="101600" y="663997"/>
            <a:ext cx="11785600" cy="4585871"/>
          </a:xfrm>
          <a:prstGeom prst="rect">
            <a:avLst/>
          </a:prstGeom>
          <a:noFill/>
        </p:spPr>
        <p:txBody>
          <a:bodyPr wrap="square">
            <a:spAutoFit/>
          </a:bodyPr>
          <a:lstStyle/>
          <a:p>
            <a:r>
              <a:rPr lang="en-IN" sz="2800" b="1" dirty="0">
                <a:solidFill>
                  <a:srgbClr val="FF0000"/>
                </a:solidFill>
              </a:rPr>
              <a:t>Data Preprocessing &amp; Data Extraction</a:t>
            </a:r>
            <a:endParaRPr lang="en-IN" sz="2800" dirty="0"/>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Remove URLs, mentions, hashtags, emojis,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Tokenization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Stop-word removal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Stemming or lemmatization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Handling missing values or duplicates</a:t>
            </a:r>
          </a:p>
          <a:p>
            <a:pPr marL="342900" indent="-342900">
              <a:buFont typeface="Arial" panose="020B0604020202020204" pitchFamily="34" charset="0"/>
              <a:buChar char="•"/>
            </a:pPr>
            <a:r>
              <a:rPr lang="en-IN" sz="2400" dirty="0"/>
              <a:t>Data extraction is the process of extracting specific elements from collected data to make it usable. </a:t>
            </a:r>
          </a:p>
          <a:p>
            <a:r>
              <a:rPr lang="en-IN" sz="2400" dirty="0"/>
              <a:t>It involves:</a:t>
            </a:r>
          </a:p>
          <a:p>
            <a:pPr>
              <a:buFont typeface="Arial" panose="020B0604020202020204" pitchFamily="34" charset="0"/>
              <a:buChar char="•"/>
            </a:pPr>
            <a:r>
              <a:rPr lang="en-IN" sz="2400" b="1" dirty="0"/>
              <a:t>Parsing content</a:t>
            </a:r>
            <a:r>
              <a:rPr lang="en-IN" sz="2400" dirty="0"/>
              <a:t> (extracting text, metadata, hashtags)</a:t>
            </a:r>
          </a:p>
          <a:p>
            <a:pPr>
              <a:buFont typeface="Arial" panose="020B0604020202020204" pitchFamily="34" charset="0"/>
              <a:buChar char="•"/>
            </a:pPr>
            <a:r>
              <a:rPr lang="en-IN" sz="2400" b="1" dirty="0"/>
              <a:t>Entity recognition</a:t>
            </a:r>
            <a:r>
              <a:rPr lang="en-IN" sz="2400" dirty="0"/>
              <a:t> (users, organizations, places)</a:t>
            </a:r>
          </a:p>
          <a:p>
            <a:pPr>
              <a:buFont typeface="Arial" panose="020B0604020202020204" pitchFamily="34" charset="0"/>
              <a:buChar char="•"/>
            </a:pPr>
            <a:r>
              <a:rPr lang="en-IN" sz="2400" b="1" dirty="0"/>
              <a:t>Language processing</a:t>
            </a:r>
            <a:r>
              <a:rPr lang="en-IN" sz="2400" dirty="0"/>
              <a:t> (POS tagging, etc.)</a:t>
            </a:r>
          </a:p>
        </p:txBody>
      </p:sp>
    </p:spTree>
    <p:extLst>
      <p:ext uri="{BB962C8B-B14F-4D97-AF65-F5344CB8AC3E}">
        <p14:creationId xmlns:p14="http://schemas.microsoft.com/office/powerpoint/2010/main" val="331769379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6D2C7-4F12-B623-693B-D9219E8B68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10A93D-D93C-E164-318C-2780A1D852DA}"/>
              </a:ext>
            </a:extLst>
          </p:cNvPr>
          <p:cNvSpPr>
            <a:spLocks noGrp="1"/>
          </p:cNvSpPr>
          <p:nvPr>
            <p:ph type="title"/>
          </p:nvPr>
        </p:nvSpPr>
        <p:spPr>
          <a:xfrm>
            <a:off x="635000" y="27256"/>
            <a:ext cx="10515600" cy="609600"/>
          </a:xfrm>
        </p:spPr>
        <p:txBody>
          <a:bodyPr>
            <a:noAutofit/>
          </a:bodyPr>
          <a:lstStyle/>
          <a:p>
            <a:pPr algn="ctr"/>
            <a:r>
              <a:rPr lang="en-US" sz="4000" dirty="0">
                <a:solidFill>
                  <a:schemeClr val="accent1"/>
                </a:solidFill>
                <a:latin typeface="+mn-lt"/>
              </a:rPr>
              <a:t>Social Media Mining</a:t>
            </a:r>
            <a:endParaRPr lang="en-US" sz="4000" dirty="0">
              <a:solidFill>
                <a:srgbClr val="0070C0"/>
              </a:solidFill>
            </a:endParaRPr>
          </a:p>
        </p:txBody>
      </p:sp>
      <p:sp>
        <p:nvSpPr>
          <p:cNvPr id="6" name="TextBox 5">
            <a:extLst>
              <a:ext uri="{FF2B5EF4-FFF2-40B4-BE49-F238E27FC236}">
                <a16:creationId xmlns:a16="http://schemas.microsoft.com/office/drawing/2014/main" id="{21B9B17D-7E92-35D8-F2C0-D217B3D3E28F}"/>
              </a:ext>
            </a:extLst>
          </p:cNvPr>
          <p:cNvSpPr txBox="1"/>
          <p:nvPr/>
        </p:nvSpPr>
        <p:spPr>
          <a:xfrm>
            <a:off x="162560" y="755437"/>
            <a:ext cx="11866880" cy="5509200"/>
          </a:xfrm>
          <a:prstGeom prst="rect">
            <a:avLst/>
          </a:prstGeom>
          <a:noFill/>
        </p:spPr>
        <p:txBody>
          <a:bodyPr wrap="square">
            <a:spAutoFit/>
          </a:bodyPr>
          <a:lstStyle/>
          <a:p>
            <a:pPr>
              <a:buNone/>
            </a:pPr>
            <a:r>
              <a:rPr lang="en-US" sz="2800" b="1" dirty="0">
                <a:solidFill>
                  <a:srgbClr val="FF0000"/>
                </a:solidFill>
              </a:rPr>
              <a:t>Exploratory Data Analysis (EDA)</a:t>
            </a:r>
          </a:p>
          <a:p>
            <a:pPr>
              <a:buNone/>
            </a:pPr>
            <a:r>
              <a:rPr lang="en-US" sz="2400" dirty="0"/>
              <a:t>Understand the dataset:</a:t>
            </a:r>
          </a:p>
          <a:p>
            <a:pPr lvl="1">
              <a:buFont typeface="Arial" panose="020B0604020202020204" pitchFamily="34" charset="0"/>
              <a:buChar char="•"/>
            </a:pPr>
            <a:r>
              <a:rPr lang="en-US" sz="2400" dirty="0"/>
              <a:t>Word frequency analysis</a:t>
            </a:r>
          </a:p>
          <a:p>
            <a:pPr lvl="1">
              <a:buFont typeface="Arial" panose="020B0604020202020204" pitchFamily="34" charset="0"/>
              <a:buChar char="•"/>
            </a:pPr>
            <a:r>
              <a:rPr lang="en-US" sz="2400" dirty="0"/>
              <a:t>Sentiment distribution</a:t>
            </a:r>
          </a:p>
          <a:p>
            <a:pPr lvl="1">
              <a:buFont typeface="Arial" panose="020B0604020202020204" pitchFamily="34" charset="0"/>
              <a:buChar char="•"/>
            </a:pPr>
            <a:r>
              <a:rPr lang="en-US" sz="2400" dirty="0"/>
              <a:t>Hashtag trends</a:t>
            </a:r>
          </a:p>
          <a:p>
            <a:pPr lvl="1">
              <a:buFont typeface="Arial" panose="020B0604020202020204" pitchFamily="34" charset="0"/>
              <a:buChar char="•"/>
            </a:pPr>
            <a:r>
              <a:rPr lang="en-US" sz="2400" dirty="0"/>
              <a:t>Most active users or locations</a:t>
            </a:r>
          </a:p>
          <a:p>
            <a:pPr>
              <a:buNone/>
            </a:pPr>
            <a:endParaRPr lang="en-US" sz="2800" b="1" dirty="0">
              <a:solidFill>
                <a:srgbClr val="FF0000"/>
              </a:solidFill>
            </a:endParaRPr>
          </a:p>
          <a:p>
            <a:pPr>
              <a:buNone/>
            </a:pPr>
            <a:r>
              <a:rPr lang="en-US" sz="2800" b="1" dirty="0">
                <a:solidFill>
                  <a:srgbClr val="FF0000"/>
                </a:solidFill>
              </a:rPr>
              <a:t>Sentiment Analysis:</a:t>
            </a:r>
            <a:endParaRPr lang="en-US" sz="2800" dirty="0">
              <a:solidFill>
                <a:srgbClr val="FF0000"/>
              </a:solidFill>
            </a:endParaRPr>
          </a:p>
          <a:p>
            <a:pPr>
              <a:buFont typeface="Arial" panose="020B0604020202020204" pitchFamily="34" charset="0"/>
              <a:buChar char="•"/>
            </a:pPr>
            <a:r>
              <a:rPr lang="en-US" sz="2400" dirty="0"/>
              <a:t>After preprocessing, the next step is to classify the sentiment of each social media post. You can use sentiment analysis models to determine whether the posts are positive, negative, or neutral</a:t>
            </a:r>
          </a:p>
          <a:p>
            <a:pPr>
              <a:buFont typeface="Arial" panose="020B0604020202020204" pitchFamily="34" charset="0"/>
              <a:buChar char="•"/>
            </a:pPr>
            <a:r>
              <a:rPr lang="en-US" sz="2400" dirty="0"/>
              <a:t>For example, if someone posts “I love the new iPhone!” the sentiment analysis might classify this as </a:t>
            </a:r>
            <a:r>
              <a:rPr lang="en-US" sz="2400" b="1" dirty="0"/>
              <a:t>positive</a:t>
            </a:r>
            <a:r>
              <a:rPr lang="en-US" sz="2400" dirty="0"/>
              <a:t>, while “The new iPhone is a waste of money!” would be classified as </a:t>
            </a:r>
            <a:r>
              <a:rPr lang="en-US" sz="2400" b="1" dirty="0"/>
              <a:t>negative</a:t>
            </a:r>
            <a:r>
              <a:rPr lang="en-US" sz="2400" dirty="0"/>
              <a:t>.</a:t>
            </a:r>
          </a:p>
          <a:p>
            <a:pPr>
              <a:buNone/>
            </a:pPr>
            <a:endParaRPr lang="en-IN" sz="2800" b="1" dirty="0">
              <a:solidFill>
                <a:srgbClr val="FF0000"/>
              </a:solidFill>
            </a:endParaRPr>
          </a:p>
        </p:txBody>
      </p:sp>
    </p:spTree>
    <p:extLst>
      <p:ext uri="{BB962C8B-B14F-4D97-AF65-F5344CB8AC3E}">
        <p14:creationId xmlns:p14="http://schemas.microsoft.com/office/powerpoint/2010/main" val="112332215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536A7-D8FD-DDC4-8650-B5EF727068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56F61-DCE1-DAE2-6084-5216F76B1CBB}"/>
              </a:ext>
            </a:extLst>
          </p:cNvPr>
          <p:cNvSpPr>
            <a:spLocks noGrp="1"/>
          </p:cNvSpPr>
          <p:nvPr>
            <p:ph type="title"/>
          </p:nvPr>
        </p:nvSpPr>
        <p:spPr>
          <a:xfrm>
            <a:off x="635000" y="27256"/>
            <a:ext cx="10515600" cy="609600"/>
          </a:xfrm>
        </p:spPr>
        <p:txBody>
          <a:bodyPr>
            <a:noAutofit/>
          </a:bodyPr>
          <a:lstStyle/>
          <a:p>
            <a:pPr algn="ctr"/>
            <a:r>
              <a:rPr lang="en-US" sz="4000" dirty="0">
                <a:solidFill>
                  <a:schemeClr val="accent1"/>
                </a:solidFill>
                <a:latin typeface="+mn-lt"/>
              </a:rPr>
              <a:t>Social Media Mining</a:t>
            </a:r>
            <a:endParaRPr lang="en-US" sz="4000" dirty="0">
              <a:solidFill>
                <a:srgbClr val="0070C0"/>
              </a:solidFill>
            </a:endParaRPr>
          </a:p>
        </p:txBody>
      </p:sp>
      <p:sp>
        <p:nvSpPr>
          <p:cNvPr id="6" name="TextBox 5">
            <a:extLst>
              <a:ext uri="{FF2B5EF4-FFF2-40B4-BE49-F238E27FC236}">
                <a16:creationId xmlns:a16="http://schemas.microsoft.com/office/drawing/2014/main" id="{F310ABA0-9966-2FBC-61D0-A2ED24438B49}"/>
              </a:ext>
            </a:extLst>
          </p:cNvPr>
          <p:cNvSpPr txBox="1"/>
          <p:nvPr/>
        </p:nvSpPr>
        <p:spPr>
          <a:xfrm>
            <a:off x="162560" y="755437"/>
            <a:ext cx="11866880" cy="8402300"/>
          </a:xfrm>
          <a:prstGeom prst="rect">
            <a:avLst/>
          </a:prstGeom>
          <a:noFill/>
        </p:spPr>
        <p:txBody>
          <a:bodyPr wrap="square">
            <a:spAutoFit/>
          </a:bodyPr>
          <a:lstStyle/>
          <a:p>
            <a:pPr>
              <a:buNone/>
            </a:pPr>
            <a:r>
              <a:rPr lang="en-US" sz="2800" b="1" dirty="0">
                <a:solidFill>
                  <a:srgbClr val="FF0000"/>
                </a:solidFill>
              </a:rPr>
              <a:t>Exploratory Data Analysis (EDA)</a:t>
            </a:r>
          </a:p>
          <a:p>
            <a:pPr>
              <a:buNone/>
            </a:pPr>
            <a:r>
              <a:rPr lang="en-US" sz="2400" dirty="0"/>
              <a:t>Understand the dataset:</a:t>
            </a:r>
          </a:p>
          <a:p>
            <a:pPr lvl="1">
              <a:buFont typeface="Arial" panose="020B0604020202020204" pitchFamily="34" charset="0"/>
              <a:buChar char="•"/>
            </a:pPr>
            <a:r>
              <a:rPr lang="en-US" sz="2400" dirty="0"/>
              <a:t>Word frequency analysis</a:t>
            </a:r>
          </a:p>
          <a:p>
            <a:pPr lvl="1">
              <a:buFont typeface="Arial" panose="020B0604020202020204" pitchFamily="34" charset="0"/>
              <a:buChar char="•"/>
            </a:pPr>
            <a:r>
              <a:rPr lang="en-US" sz="2400" dirty="0"/>
              <a:t>Sentiment distribution</a:t>
            </a:r>
          </a:p>
          <a:p>
            <a:pPr lvl="1">
              <a:buFont typeface="Arial" panose="020B0604020202020204" pitchFamily="34" charset="0"/>
              <a:buChar char="•"/>
            </a:pPr>
            <a:r>
              <a:rPr lang="en-US" sz="2400" dirty="0"/>
              <a:t>Hashtag trends</a:t>
            </a:r>
          </a:p>
          <a:p>
            <a:pPr lvl="1">
              <a:buFont typeface="Arial" panose="020B0604020202020204" pitchFamily="34" charset="0"/>
              <a:buChar char="•"/>
            </a:pPr>
            <a:r>
              <a:rPr lang="en-US" sz="2400" dirty="0"/>
              <a:t>Most active users or locations</a:t>
            </a:r>
          </a:p>
          <a:p>
            <a:pPr>
              <a:buNone/>
            </a:pPr>
            <a:r>
              <a:rPr lang="en-US" sz="2800" b="1" dirty="0"/>
              <a:t>Sentiment Analysis:</a:t>
            </a:r>
            <a:endParaRPr lang="en-US" sz="2800" dirty="0"/>
          </a:p>
          <a:p>
            <a:pPr>
              <a:buFont typeface="Arial" panose="020B0604020202020204" pitchFamily="34" charset="0"/>
              <a:buChar char="•"/>
            </a:pPr>
            <a:r>
              <a:rPr lang="en-US" sz="2800" dirty="0"/>
              <a:t>The company uses </a:t>
            </a:r>
            <a:r>
              <a:rPr lang="en-US" sz="2800" b="1" dirty="0"/>
              <a:t>sentiment analysis</a:t>
            </a:r>
            <a:r>
              <a:rPr lang="en-US" sz="2800" dirty="0"/>
              <a:t> to classify social media posts as positive, negative, or neutral based on the tone of the text.</a:t>
            </a:r>
          </a:p>
          <a:p>
            <a:pPr>
              <a:buFont typeface="Arial" panose="020B0604020202020204" pitchFamily="34" charset="0"/>
              <a:buChar char="•"/>
            </a:pPr>
            <a:r>
              <a:rPr lang="en-US" sz="2800" dirty="0"/>
              <a:t>For example, if someone posts “I love the new iPhone!” the sentiment analysis might classify this as </a:t>
            </a:r>
            <a:r>
              <a:rPr lang="en-US" sz="2800" b="1" dirty="0"/>
              <a:t>positive</a:t>
            </a:r>
            <a:r>
              <a:rPr lang="en-US" sz="2800" dirty="0"/>
              <a:t>, while “The new iPhone is a waste of money!” would be classified as </a:t>
            </a:r>
            <a:r>
              <a:rPr lang="en-US" sz="2800" b="1" dirty="0"/>
              <a:t>negative</a:t>
            </a:r>
            <a:r>
              <a:rPr lang="en-US" sz="2800" dirty="0"/>
              <a:t>.</a:t>
            </a:r>
          </a:p>
          <a:p>
            <a:pPr>
              <a:buNone/>
            </a:pPr>
            <a:endParaRPr lang="en-IN" sz="2800" b="1" dirty="0">
              <a:solidFill>
                <a:srgbClr val="FF0000"/>
              </a:solidFill>
            </a:endParaRPr>
          </a:p>
          <a:p>
            <a:pPr>
              <a:buNone/>
            </a:pPr>
            <a:r>
              <a:rPr lang="en-IN" sz="2800" b="1" dirty="0">
                <a:solidFill>
                  <a:srgbClr val="FF0000"/>
                </a:solidFill>
              </a:rPr>
              <a:t>Geo Visualization</a:t>
            </a:r>
          </a:p>
          <a:p>
            <a:pPr marL="342900" indent="-342900">
              <a:buFont typeface="Arial" panose="020B0604020202020204" pitchFamily="34" charset="0"/>
              <a:buChar char="•"/>
            </a:pPr>
            <a:r>
              <a:rPr lang="en-US" sz="2400" b="1" dirty="0"/>
              <a:t>Geo Visualization</a:t>
            </a:r>
            <a:r>
              <a:rPr lang="en-US" sz="2400" dirty="0"/>
              <a:t> refers to the visual representation of data with a </a:t>
            </a:r>
            <a:r>
              <a:rPr lang="en-US" sz="2400" b="1" dirty="0"/>
              <a:t>spatial or geographic component</a:t>
            </a:r>
            <a:r>
              <a:rPr lang="en-US" sz="2400" dirty="0"/>
              <a:t>. </a:t>
            </a:r>
          </a:p>
          <a:p>
            <a:pPr>
              <a:buNone/>
            </a:pPr>
            <a:r>
              <a:rPr lang="en-IN" sz="2400" dirty="0"/>
              <a:t>Geo-tagged tweets or posts are mapped to visualize:</a:t>
            </a:r>
          </a:p>
          <a:p>
            <a:pPr marL="742950" lvl="1" indent="-285750">
              <a:buFont typeface="Arial" panose="020B0604020202020204" pitchFamily="34" charset="0"/>
              <a:buChar char="•"/>
            </a:pPr>
            <a:r>
              <a:rPr lang="en-IN" sz="2400" dirty="0"/>
              <a:t>Event hotspots</a:t>
            </a:r>
          </a:p>
          <a:p>
            <a:pPr marL="742950" lvl="1" indent="-285750">
              <a:buFont typeface="Arial" panose="020B0604020202020204" pitchFamily="34" charset="0"/>
              <a:buChar char="•"/>
            </a:pPr>
            <a:r>
              <a:rPr lang="en-IN" sz="2400" dirty="0"/>
              <a:t>Regional sentiment</a:t>
            </a:r>
          </a:p>
          <a:p>
            <a:pPr marL="742950" lvl="1" indent="-285750">
              <a:buFont typeface="Arial" panose="020B0604020202020204" pitchFamily="34" charset="0"/>
              <a:buChar char="•"/>
            </a:pPr>
            <a:r>
              <a:rPr lang="en-IN" sz="2400" dirty="0"/>
              <a:t>Crisis areas</a:t>
            </a:r>
          </a:p>
          <a:p>
            <a:pPr>
              <a:buNone/>
            </a:pPr>
            <a:r>
              <a:rPr lang="en-IN" sz="2400" dirty="0"/>
              <a:t>Tools: </a:t>
            </a:r>
            <a:r>
              <a:rPr lang="en-IN" sz="2400" b="1" dirty="0"/>
              <a:t>GIS software</a:t>
            </a:r>
            <a:r>
              <a:rPr lang="en-IN" sz="2400" dirty="0"/>
              <a:t> (ArcGIS, QGIS),</a:t>
            </a:r>
            <a:r>
              <a:rPr lang="en-IN" sz="2400" b="1" dirty="0"/>
              <a:t>Python libraries</a:t>
            </a:r>
            <a:r>
              <a:rPr lang="en-IN" sz="2400" dirty="0"/>
              <a:t> (folium, </a:t>
            </a:r>
            <a:r>
              <a:rPr lang="en-IN" sz="2400" dirty="0" err="1"/>
              <a:t>geopandas</a:t>
            </a:r>
            <a:r>
              <a:rPr lang="en-IN" sz="2400" dirty="0"/>
              <a:t>, </a:t>
            </a:r>
            <a:r>
              <a:rPr lang="en-IN" sz="2400" dirty="0" err="1"/>
              <a:t>plotly</a:t>
            </a:r>
            <a:r>
              <a:rPr lang="en-IN" sz="2400" dirty="0"/>
              <a:t>, basemap)</a:t>
            </a:r>
          </a:p>
        </p:txBody>
      </p:sp>
    </p:spTree>
    <p:extLst>
      <p:ext uri="{BB962C8B-B14F-4D97-AF65-F5344CB8AC3E}">
        <p14:creationId xmlns:p14="http://schemas.microsoft.com/office/powerpoint/2010/main" val="397345968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A9500-8994-E0A8-8D90-5A33C3392E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B3B9F-E106-5176-8FC9-C890733BFFF1}"/>
              </a:ext>
            </a:extLst>
          </p:cNvPr>
          <p:cNvSpPr>
            <a:spLocks noGrp="1"/>
          </p:cNvSpPr>
          <p:nvPr>
            <p:ph type="title"/>
          </p:nvPr>
        </p:nvSpPr>
        <p:spPr>
          <a:xfrm>
            <a:off x="635000" y="27256"/>
            <a:ext cx="10515600" cy="609600"/>
          </a:xfrm>
        </p:spPr>
        <p:txBody>
          <a:bodyPr>
            <a:noAutofit/>
          </a:bodyPr>
          <a:lstStyle/>
          <a:p>
            <a:pPr algn="ctr"/>
            <a:r>
              <a:rPr lang="en-US" sz="4000" dirty="0">
                <a:solidFill>
                  <a:schemeClr val="accent1"/>
                </a:solidFill>
                <a:latin typeface="+mn-lt"/>
              </a:rPr>
              <a:t>Social Media Mining-Use Cases</a:t>
            </a:r>
            <a:endParaRPr lang="en-US" sz="4000" dirty="0">
              <a:solidFill>
                <a:srgbClr val="0070C0"/>
              </a:solidFill>
            </a:endParaRPr>
          </a:p>
        </p:txBody>
      </p:sp>
      <p:sp>
        <p:nvSpPr>
          <p:cNvPr id="6" name="TextBox 5">
            <a:extLst>
              <a:ext uri="{FF2B5EF4-FFF2-40B4-BE49-F238E27FC236}">
                <a16:creationId xmlns:a16="http://schemas.microsoft.com/office/drawing/2014/main" id="{F3470C71-717C-7DEF-2E71-0DD93ED76B78}"/>
              </a:ext>
            </a:extLst>
          </p:cNvPr>
          <p:cNvSpPr txBox="1"/>
          <p:nvPr/>
        </p:nvSpPr>
        <p:spPr>
          <a:xfrm>
            <a:off x="91440" y="572672"/>
            <a:ext cx="12029440" cy="6494085"/>
          </a:xfrm>
          <a:prstGeom prst="rect">
            <a:avLst/>
          </a:prstGeom>
          <a:noFill/>
        </p:spPr>
        <p:txBody>
          <a:bodyPr wrap="square">
            <a:spAutoFit/>
          </a:bodyPr>
          <a:lstStyle/>
          <a:p>
            <a:pPr algn="just">
              <a:buNone/>
            </a:pPr>
            <a:r>
              <a:rPr lang="en-US" sz="2800" i="0" dirty="0">
                <a:solidFill>
                  <a:srgbClr val="FF0000"/>
                </a:solidFill>
                <a:effectLst/>
              </a:rPr>
              <a:t>Brand Sentiment Analysis</a:t>
            </a:r>
          </a:p>
          <a:p>
            <a:pPr algn="just">
              <a:buNone/>
            </a:pPr>
            <a:r>
              <a:rPr lang="en-US" sz="2400" b="1" i="0" dirty="0">
                <a:solidFill>
                  <a:srgbClr val="222222"/>
                </a:solidFill>
                <a:effectLst/>
              </a:rPr>
              <a:t>Example: Coca-Cola</a:t>
            </a:r>
          </a:p>
          <a:p>
            <a:pPr marL="342900" indent="-342900" algn="just">
              <a:buFont typeface="Arial" panose="020B0604020202020204" pitchFamily="34" charset="0"/>
              <a:buChar char="•"/>
            </a:pPr>
            <a:r>
              <a:rPr lang="en-US" sz="2400" i="0" dirty="0">
                <a:solidFill>
                  <a:srgbClr val="222222"/>
                </a:solidFill>
                <a:effectLst/>
              </a:rPr>
              <a:t>Coca-Cola has employed social media mining to monitor brand sentiment across various platforms. </a:t>
            </a:r>
          </a:p>
          <a:p>
            <a:pPr marL="342900" indent="-342900" algn="just">
              <a:buFont typeface="Arial" panose="020B0604020202020204" pitchFamily="34" charset="0"/>
              <a:buChar char="•"/>
            </a:pPr>
            <a:r>
              <a:rPr lang="en-US" sz="2400" i="0" dirty="0">
                <a:solidFill>
                  <a:srgbClr val="222222"/>
                </a:solidFill>
                <a:effectLst/>
              </a:rPr>
              <a:t>By analyzing </a:t>
            </a:r>
            <a:r>
              <a:rPr lang="en-US" sz="2400" i="0" dirty="0">
                <a:solidFill>
                  <a:srgbClr val="7030A0"/>
                </a:solidFill>
                <a:effectLst/>
              </a:rPr>
              <a:t>tweets and posts</a:t>
            </a:r>
            <a:r>
              <a:rPr lang="en-US" sz="2400" i="0" dirty="0">
                <a:solidFill>
                  <a:srgbClr val="222222"/>
                </a:solidFill>
                <a:effectLst/>
              </a:rPr>
              <a:t>, Coca-Cola can gauge consumer opinions about </a:t>
            </a:r>
            <a:r>
              <a:rPr lang="en-US" sz="2400" i="0" dirty="0">
                <a:solidFill>
                  <a:srgbClr val="7030A0"/>
                </a:solidFill>
                <a:effectLst/>
              </a:rPr>
              <a:t>promotional campaigns, new product launches, and overall brand perception</a:t>
            </a:r>
            <a:r>
              <a:rPr lang="en-US" sz="2400" i="0" dirty="0">
                <a:solidFill>
                  <a:srgbClr val="222222"/>
                </a:solidFill>
                <a:effectLst/>
              </a:rPr>
              <a:t>. </a:t>
            </a:r>
          </a:p>
          <a:p>
            <a:pPr marL="342900" indent="-342900" algn="just">
              <a:buFont typeface="Arial" panose="020B0604020202020204" pitchFamily="34" charset="0"/>
              <a:buChar char="•"/>
            </a:pPr>
            <a:r>
              <a:rPr lang="en-US" sz="2400" i="0" dirty="0">
                <a:solidFill>
                  <a:srgbClr val="222222"/>
                </a:solidFill>
                <a:effectLst/>
              </a:rPr>
              <a:t>Sentiment analysis has revealed how different demographics react to specific marketing messages, allowing them to optimize their advertising strategies accordingly.</a:t>
            </a:r>
          </a:p>
          <a:p>
            <a:pPr algn="just">
              <a:buNone/>
            </a:pPr>
            <a:endParaRPr lang="en-US" sz="2400" i="0" dirty="0">
              <a:solidFill>
                <a:srgbClr val="FF0000"/>
              </a:solidFill>
              <a:effectLst/>
            </a:endParaRPr>
          </a:p>
          <a:p>
            <a:pPr algn="just">
              <a:buNone/>
            </a:pPr>
            <a:r>
              <a:rPr lang="en-US" sz="2800" i="0" dirty="0">
                <a:solidFill>
                  <a:srgbClr val="FF0000"/>
                </a:solidFill>
                <a:effectLst/>
              </a:rPr>
              <a:t>Crisis Management</a:t>
            </a:r>
          </a:p>
          <a:p>
            <a:pPr algn="just">
              <a:buNone/>
            </a:pPr>
            <a:r>
              <a:rPr lang="en-US" sz="2400" b="1" i="0" dirty="0">
                <a:solidFill>
                  <a:srgbClr val="222222"/>
                </a:solidFill>
                <a:effectLst/>
              </a:rPr>
              <a:t>Example: United Airlines</a:t>
            </a:r>
          </a:p>
          <a:p>
            <a:pPr marL="342900" indent="-342900" algn="just">
              <a:buFont typeface="Arial" panose="020B0604020202020204" pitchFamily="34" charset="0"/>
              <a:buChar char="•"/>
            </a:pPr>
            <a:r>
              <a:rPr lang="en-US" sz="2400" i="0" dirty="0">
                <a:solidFill>
                  <a:srgbClr val="222222"/>
                </a:solidFill>
                <a:effectLst/>
              </a:rPr>
              <a:t>In 2017, United Airlines faced a significant public relations crisis when a passenger was forcibly removed from an overbooked flight. </a:t>
            </a:r>
          </a:p>
          <a:p>
            <a:pPr marL="342900" indent="-342900" algn="just">
              <a:buFont typeface="Arial" panose="020B0604020202020204" pitchFamily="34" charset="0"/>
              <a:buChar char="•"/>
            </a:pPr>
            <a:r>
              <a:rPr lang="en-US" sz="2400" i="0" dirty="0">
                <a:solidFill>
                  <a:srgbClr val="222222"/>
                </a:solidFill>
                <a:effectLst/>
              </a:rPr>
              <a:t>Social media mining played a critical role in their response strategy.</a:t>
            </a:r>
          </a:p>
          <a:p>
            <a:pPr marL="342900" indent="-342900" algn="just">
              <a:buFont typeface="Arial" panose="020B0604020202020204" pitchFamily="34" charset="0"/>
              <a:buChar char="•"/>
            </a:pPr>
            <a:r>
              <a:rPr lang="en-US" sz="2400" i="0" dirty="0">
                <a:solidFill>
                  <a:srgbClr val="222222"/>
                </a:solidFill>
                <a:effectLst/>
              </a:rPr>
              <a:t> By monitoring Twitter and Facebook, tracked the rapid spread of negative sentiment and adjusted their communication to address customer concerns, ultimately working to mitigate damage to their reputation.</a:t>
            </a:r>
          </a:p>
        </p:txBody>
      </p:sp>
    </p:spTree>
    <p:extLst>
      <p:ext uri="{BB962C8B-B14F-4D97-AF65-F5344CB8AC3E}">
        <p14:creationId xmlns:p14="http://schemas.microsoft.com/office/powerpoint/2010/main" val="142999909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3CBC7-573F-EB83-5C69-10B3B97939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0454EC-49B8-53A8-2606-03ECD813C44A}"/>
              </a:ext>
            </a:extLst>
          </p:cNvPr>
          <p:cNvSpPr>
            <a:spLocks noGrp="1"/>
          </p:cNvSpPr>
          <p:nvPr>
            <p:ph type="title"/>
          </p:nvPr>
        </p:nvSpPr>
        <p:spPr>
          <a:xfrm>
            <a:off x="635000" y="27256"/>
            <a:ext cx="10515600" cy="609600"/>
          </a:xfrm>
        </p:spPr>
        <p:txBody>
          <a:bodyPr>
            <a:noAutofit/>
          </a:bodyPr>
          <a:lstStyle/>
          <a:p>
            <a:pPr algn="ctr"/>
            <a:r>
              <a:rPr lang="en-US" sz="4000" dirty="0">
                <a:solidFill>
                  <a:schemeClr val="accent1"/>
                </a:solidFill>
                <a:latin typeface="+mn-lt"/>
              </a:rPr>
              <a:t>Social Media Mining-Use Cases</a:t>
            </a:r>
            <a:endParaRPr lang="en-US" sz="4000" dirty="0">
              <a:solidFill>
                <a:srgbClr val="0070C0"/>
              </a:solidFill>
            </a:endParaRPr>
          </a:p>
        </p:txBody>
      </p:sp>
      <p:sp>
        <p:nvSpPr>
          <p:cNvPr id="6" name="TextBox 5">
            <a:extLst>
              <a:ext uri="{FF2B5EF4-FFF2-40B4-BE49-F238E27FC236}">
                <a16:creationId xmlns:a16="http://schemas.microsoft.com/office/drawing/2014/main" id="{B02AA1E2-BF0C-046B-2620-F46723E2DAD7}"/>
              </a:ext>
            </a:extLst>
          </p:cNvPr>
          <p:cNvSpPr txBox="1"/>
          <p:nvPr/>
        </p:nvSpPr>
        <p:spPr>
          <a:xfrm>
            <a:off x="101600" y="663997"/>
            <a:ext cx="11948160" cy="6124754"/>
          </a:xfrm>
          <a:prstGeom prst="rect">
            <a:avLst/>
          </a:prstGeom>
          <a:noFill/>
        </p:spPr>
        <p:txBody>
          <a:bodyPr wrap="square">
            <a:spAutoFit/>
          </a:bodyPr>
          <a:lstStyle/>
          <a:p>
            <a:pPr algn="just">
              <a:buNone/>
            </a:pPr>
            <a:r>
              <a:rPr lang="en-US" sz="2800" i="0" dirty="0">
                <a:solidFill>
                  <a:srgbClr val="FF0000"/>
                </a:solidFill>
                <a:effectLst/>
              </a:rPr>
              <a:t>Health Monitoring</a:t>
            </a:r>
          </a:p>
          <a:p>
            <a:pPr algn="just">
              <a:buNone/>
            </a:pPr>
            <a:r>
              <a:rPr lang="en-US" sz="2400" b="1" i="0" dirty="0">
                <a:solidFill>
                  <a:srgbClr val="222222"/>
                </a:solidFill>
                <a:effectLst/>
              </a:rPr>
              <a:t>Example: CDC’s Flu Tracking</a:t>
            </a:r>
          </a:p>
          <a:p>
            <a:pPr marL="342900" indent="-342900" algn="just">
              <a:buFont typeface="Arial" panose="020B0604020202020204" pitchFamily="34" charset="0"/>
              <a:buChar char="•"/>
            </a:pPr>
            <a:r>
              <a:rPr lang="en-US" sz="2400" i="0" dirty="0">
                <a:solidFill>
                  <a:srgbClr val="222222"/>
                </a:solidFill>
                <a:effectLst/>
              </a:rPr>
              <a:t>The Centers for Disease Control and Prevention (CDC) has integrated social media mining into </a:t>
            </a:r>
            <a:r>
              <a:rPr lang="en-US" sz="2400" i="0" dirty="0">
                <a:solidFill>
                  <a:srgbClr val="7030A0"/>
                </a:solidFill>
                <a:effectLst/>
              </a:rPr>
              <a:t>tracking flu outbreaks</a:t>
            </a:r>
            <a:r>
              <a:rPr lang="en-US" sz="2400" i="0" dirty="0">
                <a:solidFill>
                  <a:srgbClr val="222222"/>
                </a:solidFill>
                <a:effectLst/>
              </a:rPr>
              <a:t>. </a:t>
            </a:r>
          </a:p>
          <a:p>
            <a:pPr marL="342900" indent="-342900" algn="just">
              <a:buFont typeface="Arial" panose="020B0604020202020204" pitchFamily="34" charset="0"/>
              <a:buChar char="•"/>
            </a:pPr>
            <a:r>
              <a:rPr lang="en-US" sz="2400" i="0" dirty="0">
                <a:solidFill>
                  <a:srgbClr val="222222"/>
                </a:solidFill>
                <a:effectLst/>
              </a:rPr>
              <a:t>By analyzing tweets containing keywords related to </a:t>
            </a:r>
            <a:r>
              <a:rPr lang="en-US" sz="2400" i="0" dirty="0">
                <a:solidFill>
                  <a:srgbClr val="7030A0"/>
                </a:solidFill>
                <a:effectLst/>
              </a:rPr>
              <a:t>flu symptoms</a:t>
            </a:r>
            <a:r>
              <a:rPr lang="en-US" sz="2400" i="0" dirty="0">
                <a:solidFill>
                  <a:srgbClr val="222222"/>
                </a:solidFill>
                <a:effectLst/>
              </a:rPr>
              <a:t>, they can gauge </a:t>
            </a:r>
            <a:r>
              <a:rPr lang="en-US" sz="2400" i="0" dirty="0">
                <a:solidFill>
                  <a:srgbClr val="7030A0"/>
                </a:solidFill>
                <a:effectLst/>
              </a:rPr>
              <a:t>locations</a:t>
            </a:r>
            <a:r>
              <a:rPr lang="en-US" sz="2400" i="0" dirty="0">
                <a:solidFill>
                  <a:srgbClr val="222222"/>
                </a:solidFill>
                <a:effectLst/>
              </a:rPr>
              <a:t> </a:t>
            </a:r>
            <a:r>
              <a:rPr lang="en-US" sz="2400" i="0" dirty="0">
                <a:solidFill>
                  <a:srgbClr val="7030A0"/>
                </a:solidFill>
                <a:effectLst/>
              </a:rPr>
              <a:t>experiencing spikes </a:t>
            </a:r>
            <a:r>
              <a:rPr lang="en-US" sz="2400" i="0" dirty="0">
                <a:solidFill>
                  <a:srgbClr val="222222"/>
                </a:solidFill>
                <a:effectLst/>
              </a:rPr>
              <a:t>in flu activity. </a:t>
            </a:r>
          </a:p>
          <a:p>
            <a:pPr marL="342900" indent="-342900" algn="just">
              <a:buFont typeface="Arial" panose="020B0604020202020204" pitchFamily="34" charset="0"/>
              <a:buChar char="•"/>
            </a:pPr>
            <a:r>
              <a:rPr lang="en-US" sz="2400" i="0" dirty="0">
                <a:solidFill>
                  <a:srgbClr val="222222"/>
                </a:solidFill>
                <a:effectLst/>
              </a:rPr>
              <a:t>This predictive modeling enables public health authorities to allocate resources more efficiently during peak flu seasons.</a:t>
            </a:r>
          </a:p>
          <a:p>
            <a:pPr algn="just">
              <a:buNone/>
            </a:pPr>
            <a:endParaRPr lang="en-US" sz="2400" i="0" dirty="0">
              <a:solidFill>
                <a:srgbClr val="222222"/>
              </a:solidFill>
              <a:effectLst/>
            </a:endParaRPr>
          </a:p>
          <a:p>
            <a:pPr algn="just">
              <a:buNone/>
            </a:pPr>
            <a:r>
              <a:rPr lang="en-US" sz="2800" i="0" dirty="0">
                <a:solidFill>
                  <a:srgbClr val="FF0000"/>
                </a:solidFill>
                <a:effectLst/>
              </a:rPr>
              <a:t>Product Development Feedback</a:t>
            </a:r>
          </a:p>
          <a:p>
            <a:pPr algn="just">
              <a:buNone/>
            </a:pPr>
            <a:r>
              <a:rPr lang="en-US" sz="2400" b="1" i="0" dirty="0">
                <a:solidFill>
                  <a:srgbClr val="222222"/>
                </a:solidFill>
                <a:effectLst/>
              </a:rPr>
              <a:t>Example: LEGO Ideas</a:t>
            </a:r>
          </a:p>
          <a:p>
            <a:pPr marL="342900" indent="-342900" algn="just">
              <a:buFont typeface="Arial" panose="020B0604020202020204" pitchFamily="34" charset="0"/>
              <a:buChar char="•"/>
            </a:pPr>
            <a:r>
              <a:rPr lang="en-US" sz="2400" i="0" dirty="0">
                <a:solidFill>
                  <a:srgbClr val="222222"/>
                </a:solidFill>
                <a:effectLst/>
              </a:rPr>
              <a:t>LEGO uses social media mining to gather consumer </a:t>
            </a:r>
            <a:r>
              <a:rPr lang="en-US" sz="2400" i="0" dirty="0">
                <a:solidFill>
                  <a:srgbClr val="7030A0"/>
                </a:solidFill>
                <a:effectLst/>
              </a:rPr>
              <a:t>feedback on new product ideas</a:t>
            </a:r>
            <a:r>
              <a:rPr lang="en-US" sz="2400" i="0" dirty="0">
                <a:solidFill>
                  <a:srgbClr val="222222"/>
                </a:solidFill>
                <a:effectLst/>
              </a:rPr>
              <a:t>. </a:t>
            </a:r>
          </a:p>
          <a:p>
            <a:pPr marL="342900" indent="-342900" algn="just">
              <a:buFont typeface="Arial" panose="020B0604020202020204" pitchFamily="34" charset="0"/>
              <a:buChar char="•"/>
            </a:pPr>
            <a:r>
              <a:rPr lang="en-US" sz="2400" i="0" dirty="0">
                <a:solidFill>
                  <a:srgbClr val="222222"/>
                </a:solidFill>
                <a:effectLst/>
              </a:rPr>
              <a:t>By analyzing posts and interactions on platforms like </a:t>
            </a:r>
            <a:r>
              <a:rPr lang="en-US" sz="2400" i="0" dirty="0">
                <a:solidFill>
                  <a:srgbClr val="7030A0"/>
                </a:solidFill>
                <a:effectLst/>
              </a:rPr>
              <a:t>Reddit and Facebook</a:t>
            </a:r>
            <a:r>
              <a:rPr lang="en-US" sz="2400" i="0" dirty="0">
                <a:solidFill>
                  <a:srgbClr val="222222"/>
                </a:solidFill>
                <a:effectLst/>
              </a:rPr>
              <a:t>, they determine which </a:t>
            </a:r>
            <a:r>
              <a:rPr lang="en-US" sz="2400" i="0" dirty="0">
                <a:solidFill>
                  <a:srgbClr val="7030A0"/>
                </a:solidFill>
                <a:effectLst/>
              </a:rPr>
              <a:t>themes, sets, or minifigures </a:t>
            </a:r>
            <a:r>
              <a:rPr lang="en-US" sz="2400" i="0" dirty="0">
                <a:solidFill>
                  <a:srgbClr val="222222"/>
                </a:solidFill>
                <a:effectLst/>
              </a:rPr>
              <a:t>would resonate well with their audience. </a:t>
            </a:r>
          </a:p>
          <a:p>
            <a:pPr marL="342900" indent="-342900" algn="just">
              <a:buFont typeface="Arial" panose="020B0604020202020204" pitchFamily="34" charset="0"/>
              <a:buChar char="•"/>
            </a:pPr>
            <a:r>
              <a:rPr lang="en-US" sz="2400" i="0" dirty="0">
                <a:solidFill>
                  <a:srgbClr val="222222"/>
                </a:solidFill>
                <a:effectLst/>
              </a:rPr>
              <a:t>This insight isn’t merely about existing products; it informs the developmental process for future releases.</a:t>
            </a:r>
          </a:p>
        </p:txBody>
      </p:sp>
    </p:spTree>
    <p:extLst>
      <p:ext uri="{BB962C8B-B14F-4D97-AF65-F5344CB8AC3E}">
        <p14:creationId xmlns:p14="http://schemas.microsoft.com/office/powerpoint/2010/main" val="125763020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11014</TotalTime>
  <Words>2587</Words>
  <Application>Microsoft Office PowerPoint</Application>
  <PresentationFormat>Widescreen</PresentationFormat>
  <Paragraphs>332</Paragraphs>
  <Slides>28</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28</vt:i4>
      </vt:variant>
    </vt:vector>
  </HeadingPairs>
  <TitlesOfParts>
    <vt:vector size="39" baseType="lpstr">
      <vt:lpstr>Arial</vt:lpstr>
      <vt:lpstr>Calibri</vt:lpstr>
      <vt:lpstr>Calibri Light</vt:lpstr>
      <vt:lpstr>Cascadia Code</vt:lpstr>
      <vt:lpstr>DM Sans</vt:lpstr>
      <vt:lpstr>ES Rebond Grotesque</vt:lpstr>
      <vt:lpstr>Lato</vt:lpstr>
      <vt:lpstr>Poppins</vt:lpstr>
      <vt:lpstr>Times New Roman</vt:lpstr>
      <vt:lpstr>unset</vt:lpstr>
      <vt:lpstr>Office Theme</vt:lpstr>
      <vt:lpstr>Natural Language Processing Course code: CSE3015  Module 5 Web Crawling and Social Media Mining</vt:lpstr>
      <vt:lpstr>Syllabus</vt:lpstr>
      <vt:lpstr>search engine</vt:lpstr>
      <vt:lpstr>web crawler</vt:lpstr>
      <vt:lpstr>PowerPoint Presentation</vt:lpstr>
      <vt:lpstr>PowerPoint Presentation</vt:lpstr>
      <vt:lpstr>PowerPoint Presentation</vt:lpstr>
      <vt:lpstr>Web crawling vs. web scraping</vt:lpstr>
      <vt:lpstr>Web crawling applications</vt:lpstr>
      <vt:lpstr>Examples of web crawlers</vt:lpstr>
      <vt:lpstr>Challenges of web crawling</vt:lpstr>
      <vt:lpstr>Writing first crawler</vt:lpstr>
      <vt:lpstr>Scrapy</vt:lpstr>
      <vt:lpstr>Architecture of Scrapy</vt:lpstr>
      <vt:lpstr>Architecture of Scrapy</vt:lpstr>
      <vt:lpstr>Data flow in Scrapy</vt:lpstr>
      <vt:lpstr>Retrieve data from webpage(html code) using scrapy</vt:lpstr>
      <vt:lpstr>PowerPoint Presentation</vt:lpstr>
      <vt:lpstr>Retrieve data from webpage using scrapy</vt:lpstr>
      <vt:lpstr>Scrapy Shell</vt:lpstr>
      <vt:lpstr>Scrapy Shell</vt:lpstr>
      <vt:lpstr>Social Media Mining</vt:lpstr>
      <vt:lpstr>Social Media Mining</vt:lpstr>
      <vt:lpstr>Social Media Mining</vt:lpstr>
      <vt:lpstr>Social Media Mining</vt:lpstr>
      <vt:lpstr>Social Media Mining</vt:lpstr>
      <vt:lpstr>Social Media Mining-Use Cases</vt:lpstr>
      <vt:lpstr>Social Media Mining-Use Cases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Mohamed</dc:creator>
  <cp:lastModifiedBy>Nrayana V Akula</cp:lastModifiedBy>
  <cp:revision>642</cp:revision>
  <dcterms:created xsi:type="dcterms:W3CDTF">2023-01-04T11:19:22Z</dcterms:created>
  <dcterms:modified xsi:type="dcterms:W3CDTF">2025-04-15T14:18:36Z</dcterms:modified>
</cp:coreProperties>
</file>